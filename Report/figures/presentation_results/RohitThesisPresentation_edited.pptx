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2480" autoAdjust="0"/>
  </p:normalViewPr>
  <p:slideViewPr>
    <p:cSldViewPr snapToGrid="0">
      <p:cViewPr varScale="1">
        <p:scale>
          <a:sx n="58" d="100"/>
          <a:sy n="58" d="100"/>
        </p:scale>
        <p:origin x="25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morning.</a:t>
            </a:r>
          </a:p>
          <a:p>
            <a:endParaRPr/>
          </a:p>
          <a:p>
            <a:r>
              <a:t>My name is Rohit Joseph Mamutil, and today I will present my Master’s</a:t>
            </a:r>
          </a:p>
          <a:p>
            <a:r>
              <a:t>thesis, titled “Heterogeneous Multi-Robot Collaboration Using Language</a:t>
            </a:r>
          </a:p>
          <a:p>
            <a:r>
              <a:t>Models”</a:t>
            </a:r>
          </a:p>
          <a:p>
            <a:endParaRPr/>
          </a:p>
          <a:p>
            <a:r>
              <a:t>This work was carried out within the Cyber-Physical Systems Lab at</a:t>
            </a:r>
          </a:p>
          <a:p>
            <a:r>
              <a:t>Uppsala University, under the supervision of Xuezhi Niu and with</a:t>
            </a:r>
          </a:p>
          <a:p>
            <a:r>
              <a:t>Professor Didem Gürdür Broo.</a:t>
            </a:r>
          </a:p>
          <a:p>
            <a:endParaRPr/>
          </a:p>
          <a:p>
            <a:r>
              <a:t>The overall question behind this thesis is quite simple to state:</a:t>
            </a:r>
          </a:p>
          <a:p>
            <a:endParaRPr/>
          </a:p>
          <a:p>
            <a:r>
              <a:t>Can a language model make useful decisions when several different robots</a:t>
            </a:r>
          </a:p>
          <a:p>
            <a:r>
              <a:t>have to work together towards a common objective?</a:t>
            </a:r>
          </a:p>
          <a:p>
            <a:endParaRPr/>
          </a:p>
          <a:p>
            <a:r>
              <a:t>To answer that question, I designed a controlled experimental framework</a:t>
            </a:r>
          </a:p>
          <a:p>
            <a:r>
              <a:t>around a warehouse environment, integrated several locally deployable</a:t>
            </a:r>
          </a:p>
          <a:p>
            <a:r>
              <a:t>language models into the decision-making loop, and evaluated how</a:t>
            </a:r>
          </a:p>
          <a:p>
            <a:r>
              <a:t>different design choices affected collaborative task performance.</a:t>
            </a:r>
          </a:p>
          <a:p>
            <a:endParaRPr/>
          </a:p>
          <a:p>
            <a:r>
              <a:t>I will first explain where this question came from, then how I converted</a:t>
            </a:r>
          </a:p>
          <a:p>
            <a:r>
              <a:t>it into specific research questions, how I built the experimental</a:t>
            </a:r>
          </a:p>
          <a:p>
            <a:r>
              <a:t>system, and finally what the experiments showed.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 would like to start with the problem that motivated this thesis.</a:t>
            </a:r>
          </a:p>
          <a:p>
            <a:endParaRPr dirty="0"/>
          </a:p>
          <a:p>
            <a:r>
              <a:rPr dirty="0"/>
              <a:t>This work was conducted in the context of research on collaboration</a:t>
            </a:r>
          </a:p>
          <a:p>
            <a:r>
              <a:rPr dirty="0"/>
              <a:t>between multiple robots.</a:t>
            </a:r>
          </a:p>
          <a:p>
            <a:endParaRPr dirty="0"/>
          </a:p>
          <a:p>
            <a:r>
              <a:rPr dirty="0"/>
              <a:t>When we have only one robot, the decision problem is relatively</a:t>
            </a:r>
          </a:p>
          <a:p>
            <a:r>
              <a:rPr dirty="0"/>
              <a:t>straightforward. The robot observes its environment, determines what it</a:t>
            </a:r>
          </a:p>
          <a:p>
            <a:r>
              <a:rPr dirty="0"/>
              <a:t>needs to accomplish, and selects its next action.</a:t>
            </a:r>
          </a:p>
          <a:p>
            <a:endParaRPr dirty="0"/>
          </a:p>
          <a:p>
            <a:r>
              <a:rPr dirty="0"/>
              <a:t>But when we introduce multiple robots with different capabilities, the</a:t>
            </a:r>
          </a:p>
          <a:p>
            <a:r>
              <a:rPr dirty="0"/>
              <a:t>problem changes.</a:t>
            </a:r>
          </a:p>
          <a:p>
            <a:endParaRPr dirty="0"/>
          </a:p>
          <a:p>
            <a:r>
              <a:rPr dirty="0"/>
              <a:t>Even more so when these robots may depend on one another, while also</a:t>
            </a:r>
          </a:p>
          <a:p>
            <a:r>
              <a:rPr dirty="0"/>
              <a:t>sharing resources and working towards a common objective.</a:t>
            </a:r>
          </a:p>
          <a:p>
            <a:endParaRPr dirty="0"/>
          </a:p>
          <a:p>
            <a:r>
              <a:rPr dirty="0"/>
              <a:t>This is why an environment where these interactions could be</a:t>
            </a:r>
          </a:p>
          <a:p>
            <a:r>
              <a:rPr dirty="0"/>
              <a:t>studied in a controlled and repeatable way</a:t>
            </a:r>
            <a:r>
              <a:rPr lang="en-GB" dirty="0"/>
              <a:t> was needed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warehouse provides such a setting. It naturally involves multiple</a:t>
            </a:r>
          </a:p>
          <a:p>
            <a:r>
              <a:rPr dirty="0"/>
              <a:t>tasks, resource constraints, spatial interactions and different robot</a:t>
            </a:r>
          </a:p>
          <a:p>
            <a:r>
              <a:rPr dirty="0"/>
              <a:t>roles, while still allowing us to define the environment and the</a:t>
            </a:r>
          </a:p>
          <a:p>
            <a:r>
              <a:rPr dirty="0"/>
              <a:t>available actions precisely.</a:t>
            </a:r>
          </a:p>
          <a:p>
            <a:endParaRPr dirty="0"/>
          </a:p>
          <a:p>
            <a:r>
              <a:rPr dirty="0"/>
              <a:t>For this work, the warehouse consists of shelves, AGVs that transport</a:t>
            </a:r>
          </a:p>
          <a:p>
            <a:r>
              <a:rPr dirty="0"/>
              <a:t>the shelves, and Picker robots that provide the support required for</a:t>
            </a:r>
          </a:p>
          <a:p>
            <a:r>
              <a:rPr dirty="0"/>
              <a:t>shelf loading and unloading.</a:t>
            </a:r>
          </a:p>
          <a:p>
            <a:endParaRPr dirty="0"/>
          </a:p>
          <a:p>
            <a:r>
              <a:rPr dirty="0"/>
              <a:t>The important point here is that these two robot types have</a:t>
            </a:r>
          </a:p>
          <a:p>
            <a:r>
              <a:rPr dirty="0"/>
              <a:t>complementary capabilities. The AGV cannot independently complete the</a:t>
            </a:r>
          </a:p>
          <a:p>
            <a:r>
              <a:rPr dirty="0"/>
              <a:t>shelf-handling process; at certain stages it requires the Picker.</a:t>
            </a:r>
          </a:p>
          <a:p>
            <a:endParaRPr dirty="0"/>
          </a:p>
          <a:p>
            <a:r>
              <a:rPr dirty="0"/>
              <a:t>So a decision made by one robot can create a requirement for another</a:t>
            </a:r>
          </a:p>
          <a:p>
            <a:r>
              <a:rPr dirty="0"/>
              <a:t>robot.</a:t>
            </a:r>
          </a:p>
          <a:p>
            <a:endParaRPr dirty="0"/>
          </a:p>
          <a:p>
            <a:r>
              <a:rPr dirty="0"/>
              <a:t>The problem is therefore not simply:</a:t>
            </a:r>
          </a:p>
          <a:p>
            <a:endParaRPr dirty="0"/>
          </a:p>
          <a:p>
            <a:r>
              <a:rPr dirty="0"/>
              <a:t>What should this robot do?</a:t>
            </a:r>
          </a:p>
          <a:p>
            <a:endParaRPr dirty="0"/>
          </a:p>
          <a:p>
            <a:r>
              <a:rPr dirty="0"/>
              <a:t>It becomes:</a:t>
            </a:r>
          </a:p>
          <a:p>
            <a:endParaRPr dirty="0"/>
          </a:p>
          <a:p>
            <a:r>
              <a:rPr dirty="0"/>
              <a:t>What should the robots do so that they can make progress together?</a:t>
            </a:r>
          </a:p>
          <a:p>
            <a:endParaRPr dirty="0"/>
          </a:p>
          <a:p>
            <a:r>
              <a:rPr dirty="0"/>
              <a:t>To make this dependency concrete, let us look at what actually happens</a:t>
            </a:r>
          </a:p>
          <a:p>
            <a:r>
              <a:rPr dirty="0"/>
              <a:t>when a shelf is requested.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User-provided thesis transcript and figure descriptions.</a:t>
            </a:r>
          </a:p>
          <a:p>
            <a:r>
              <a:rPr dirty="0"/>
              <a:t>- Image source retained from the supplied deck: NVIDIA Isaac Sim robotics simulation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sequence is important because it defines what collaboration means</a:t>
            </a:r>
          </a:p>
          <a:p>
            <a:r>
              <a:rPr dirty="0"/>
              <a:t>in this experiment.</a:t>
            </a:r>
          </a:p>
          <a:p>
            <a:endParaRPr dirty="0"/>
          </a:p>
          <a:p>
            <a:r>
              <a:rPr dirty="0"/>
              <a:t>Let us follow one shelf through the system.</a:t>
            </a:r>
          </a:p>
          <a:p>
            <a:endParaRPr dirty="0"/>
          </a:p>
          <a:p>
            <a:r>
              <a:rPr dirty="0"/>
              <a:t>First, a shelf is requested and an AGV travels to that shelf.</a:t>
            </a:r>
          </a:p>
          <a:p>
            <a:endParaRPr dirty="0"/>
          </a:p>
          <a:p>
            <a:r>
              <a:rPr dirty="0"/>
              <a:t>Once the AGV is waiting there, a Picker travels to the same shelf</a:t>
            </a:r>
          </a:p>
          <a:p>
            <a:r>
              <a:rPr dirty="0"/>
              <a:t>location.</a:t>
            </a:r>
          </a:p>
          <a:p>
            <a:endParaRPr dirty="0"/>
          </a:p>
          <a:p>
            <a:r>
              <a:rPr dirty="0"/>
              <a:t>When both agents are there, the shelf can be loaded onto the AGV.</a:t>
            </a:r>
          </a:p>
          <a:p>
            <a:endParaRPr dirty="0"/>
          </a:p>
          <a:p>
            <a:r>
              <a:rPr dirty="0"/>
              <a:t>The AGV can then transport the shelf to the delivery goal. Picker</a:t>
            </a:r>
          </a:p>
          <a:p>
            <a:r>
              <a:rPr dirty="0"/>
              <a:t>support is not required at the delivery location.</a:t>
            </a:r>
          </a:p>
          <a:p>
            <a:endParaRPr dirty="0"/>
          </a:p>
          <a:p>
            <a:r>
              <a:rPr dirty="0"/>
              <a:t>Once the AGV reaches the delivery goal, the delivery is recorded.</a:t>
            </a:r>
          </a:p>
          <a:p>
            <a:r>
              <a:rPr dirty="0"/>
              <a:t>However, the AGV continues carrying the shelf.</a:t>
            </a:r>
          </a:p>
          <a:p>
            <a:endParaRPr dirty="0"/>
          </a:p>
          <a:p>
            <a:r>
              <a:rPr dirty="0"/>
              <a:t>It then moves to a vacant storage location, where another Picker</a:t>
            </a:r>
          </a:p>
          <a:p>
            <a:r>
              <a:rPr dirty="0"/>
              <a:t>interaction is required.</a:t>
            </a:r>
          </a:p>
          <a:p>
            <a:endParaRPr dirty="0"/>
          </a:p>
          <a:p>
            <a:r>
              <a:rPr dirty="0"/>
              <a:t>The Picker meets the AGV at that storage location, the shelf is</a:t>
            </a:r>
          </a:p>
          <a:p>
            <a:r>
              <a:rPr dirty="0"/>
              <a:t>unloaded, and the AGV becomes available for another task.</a:t>
            </a:r>
          </a:p>
          <a:p>
            <a:endParaRPr dirty="0"/>
          </a:p>
          <a:p>
            <a:r>
              <a:rPr dirty="0"/>
              <a:t>So the Picker is not another transport robot, and it is not performing a</a:t>
            </a:r>
          </a:p>
          <a:p>
            <a:r>
              <a:rPr dirty="0"/>
              <a:t>separate product-picking operation in this simulation.</a:t>
            </a:r>
          </a:p>
          <a:p>
            <a:endParaRPr dirty="0"/>
          </a:p>
          <a:p>
            <a:r>
              <a:rPr dirty="0"/>
              <a:t>Its role is to provide the manipulation support required by the AGV for</a:t>
            </a:r>
          </a:p>
          <a:p>
            <a:r>
              <a:rPr dirty="0"/>
              <a:t>loading and unloading.</a:t>
            </a:r>
          </a:p>
          <a:p>
            <a:endParaRPr dirty="0"/>
          </a:p>
          <a:p>
            <a:r>
              <a:rPr dirty="0"/>
              <a:t>This creates an explicit dependency between the two robot types.</a:t>
            </a:r>
          </a:p>
          <a:p>
            <a:endParaRPr dirty="0"/>
          </a:p>
          <a:p>
            <a:r>
              <a:rPr dirty="0"/>
              <a:t>The AGV cannot complete the shelf-handling cycle independently; it needs</a:t>
            </a:r>
          </a:p>
          <a:p>
            <a:r>
              <a:rPr dirty="0"/>
              <a:t>the Picker at specific stages.</a:t>
            </a:r>
          </a:p>
          <a:p>
            <a:endParaRPr dirty="0"/>
          </a:p>
          <a:p>
            <a:r>
              <a:rPr dirty="0"/>
              <a:t>This is the collaboration problem that the language model is being asked</a:t>
            </a:r>
          </a:p>
          <a:p>
            <a:r>
              <a:rPr dirty="0"/>
              <a:t>to coordinate.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 far, I have described the problem from the perspective of the robots.</a:t>
            </a:r>
          </a:p>
          <a:p>
            <a:endParaRPr dirty="0"/>
          </a:p>
          <a:p>
            <a:r>
              <a:rPr dirty="0"/>
              <a:t>The next question is: what could we use to support this high-level</a:t>
            </a:r>
          </a:p>
          <a:p>
            <a:r>
              <a:rPr dirty="0"/>
              <a:t>decision-making?</a:t>
            </a:r>
          </a:p>
          <a:p>
            <a:endParaRPr dirty="0"/>
          </a:p>
          <a:p>
            <a:r>
              <a:rPr dirty="0"/>
              <a:t>Recent research has shown that language models can be used for more than</a:t>
            </a:r>
          </a:p>
          <a:p>
            <a:r>
              <a:rPr dirty="0"/>
              <a:t>generating text.</a:t>
            </a:r>
          </a:p>
          <a:p>
            <a:endParaRPr dirty="0"/>
          </a:p>
          <a:p>
            <a:r>
              <a:rPr dirty="0"/>
              <a:t>They have been investigated as planning components in robotic systems.</a:t>
            </a:r>
          </a:p>
          <a:p>
            <a:endParaRPr dirty="0"/>
          </a:p>
          <a:p>
            <a:r>
              <a:rPr dirty="0"/>
              <a:t>For example, previous approaches have used language models to select</a:t>
            </a:r>
          </a:p>
          <a:p>
            <a:r>
              <a:rPr dirty="0"/>
              <a:t>actions, generate plans, interpret environmental feedback, or produce</a:t>
            </a:r>
          </a:p>
          <a:p>
            <a:r>
              <a:rPr dirty="0"/>
              <a:t>programs over predefined robot actions.</a:t>
            </a:r>
          </a:p>
          <a:p>
            <a:endParaRPr dirty="0"/>
          </a:p>
          <a:p>
            <a:r>
              <a:rPr dirty="0"/>
              <a:t>An important idea across this work is that</a:t>
            </a:r>
            <a:r>
              <a:rPr lang="en-GB" dirty="0"/>
              <a:t> </a:t>
            </a:r>
            <a:r>
              <a:rPr dirty="0"/>
              <a:t>the language model can operate at a higher decision-making</a:t>
            </a:r>
          </a:p>
          <a:p>
            <a:r>
              <a:rPr dirty="0"/>
              <a:t>level, while conventional components continue to handle things such as</a:t>
            </a:r>
          </a:p>
          <a:p>
            <a:r>
              <a:rPr dirty="0"/>
              <a:t>navigation and execution.</a:t>
            </a:r>
          </a:p>
          <a:p>
            <a:endParaRPr dirty="0"/>
          </a:p>
          <a:p>
            <a:r>
              <a:rPr lang="en-GB" dirty="0"/>
              <a:t>In this, we are not </a:t>
            </a:r>
            <a:r>
              <a:rPr dirty="0"/>
              <a:t>asking an LLM to control a robot’s motors or</a:t>
            </a:r>
          </a:p>
          <a:p>
            <a:r>
              <a:rPr dirty="0"/>
              <a:t>generate trajectories.</a:t>
            </a:r>
          </a:p>
          <a:p>
            <a:endParaRPr dirty="0"/>
          </a:p>
          <a:p>
            <a:r>
              <a:rPr dirty="0"/>
              <a:t>I wanted to investigate whether it could make high-level task decisions</a:t>
            </a:r>
          </a:p>
          <a:p>
            <a:r>
              <a:rPr dirty="0"/>
              <a:t>within a constrained environment.</a:t>
            </a:r>
          </a:p>
          <a:p>
            <a:endParaRPr dirty="0"/>
          </a:p>
          <a:p>
            <a:r>
              <a:rPr dirty="0"/>
              <a:t>So the question became:</a:t>
            </a:r>
          </a:p>
          <a:p>
            <a:endParaRPr dirty="0"/>
          </a:p>
          <a:p>
            <a:r>
              <a:rPr dirty="0"/>
              <a:t>If a language model can perform high-level planning for an individual</a:t>
            </a:r>
          </a:p>
          <a:p>
            <a:r>
              <a:rPr dirty="0"/>
              <a:t>robot, can it also support decision-making when several heterogeneous</a:t>
            </a:r>
          </a:p>
          <a:p>
            <a:r>
              <a:rPr dirty="0"/>
              <a:t>robots have to coordinate?</a:t>
            </a:r>
          </a:p>
          <a:p>
            <a:endParaRPr dirty="0"/>
          </a:p>
          <a:p>
            <a:r>
              <a:rPr dirty="0"/>
              <a:t>That is where the research gap for this thesis comes in.</a:t>
            </a:r>
          </a:p>
          <a:p>
            <a:endParaRPr dirty="0"/>
          </a:p>
          <a:p>
            <a:r>
              <a:rPr lang="en-SE" dirty="0"/>
              <a:t>Previous work—including </a:t>
            </a:r>
            <a:r>
              <a:rPr lang="en-SE" dirty="0" err="1"/>
              <a:t>SayCan</a:t>
            </a:r>
            <a:r>
              <a:rPr lang="en-SE" dirty="0"/>
              <a:t>, Inner Monologue, and Code as Policies—shows that language models can support high-level planning while conventional components handle execution.</a:t>
            </a:r>
          </a:p>
          <a:p>
            <a:r>
              <a:rPr lang="en-SE" dirty="0"/>
              <a:t>However, it remains unclear whether this approach can coordinate interdependent decisions between heterogeneous robot roles while ensuring that generated decisions correspond to valid actions in the environment.</a:t>
            </a:r>
          </a:p>
          <a:p>
            <a:r>
              <a:rPr lang="en-SE" dirty="0"/>
              <a:t>This gap leads to the main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gives us the central question of the thesis.</a:t>
            </a:r>
          </a:p>
          <a:p>
            <a:endParaRPr dirty="0"/>
          </a:p>
          <a:p>
            <a:r>
              <a:rPr dirty="0"/>
              <a:t>Can a prompted language model support grounded high-level</a:t>
            </a:r>
          </a:p>
          <a:p>
            <a:r>
              <a:rPr dirty="0"/>
              <a:t>decision-making when several heterogeneous robots have to collaborate?</a:t>
            </a:r>
          </a:p>
          <a:p>
            <a:endParaRPr dirty="0"/>
          </a:p>
          <a:p>
            <a:r>
              <a:rPr dirty="0"/>
              <a:t>There are three important aspects here.</a:t>
            </a:r>
          </a:p>
          <a:p>
            <a:endParaRPr dirty="0"/>
          </a:p>
          <a:p>
            <a:r>
              <a:rPr dirty="0"/>
              <a:t>The first is grounded.</a:t>
            </a:r>
          </a:p>
          <a:p>
            <a:endParaRPr dirty="0"/>
          </a:p>
          <a:p>
            <a:r>
              <a:rPr dirty="0"/>
              <a:t>The model’s decision must correspond to something that actually exists</a:t>
            </a:r>
          </a:p>
          <a:p>
            <a:r>
              <a:rPr dirty="0"/>
              <a:t>and is feasible in the environment.</a:t>
            </a:r>
          </a:p>
          <a:p>
            <a:endParaRPr dirty="0"/>
          </a:p>
          <a:p>
            <a:r>
              <a:rPr dirty="0"/>
              <a:t>The second is high-level decision-making.</a:t>
            </a:r>
          </a:p>
          <a:p>
            <a:endParaRPr dirty="0"/>
          </a:p>
          <a:p>
            <a:r>
              <a:rPr dirty="0"/>
              <a:t>The model is deciding which task or target an agent should pursue. It is</a:t>
            </a:r>
          </a:p>
          <a:p>
            <a:r>
              <a:rPr dirty="0"/>
              <a:t>not controlling its low-level motion.</a:t>
            </a:r>
          </a:p>
          <a:p>
            <a:endParaRPr dirty="0"/>
          </a:p>
          <a:p>
            <a:r>
              <a:rPr dirty="0"/>
              <a:t>And the third is heterogeneous multi-robot collaboration.</a:t>
            </a:r>
          </a:p>
          <a:p>
            <a:endParaRPr dirty="0"/>
          </a:p>
          <a:p>
            <a:r>
              <a:rPr dirty="0"/>
              <a:t>The objective is not simply to </a:t>
            </a:r>
            <a:r>
              <a:rPr dirty="0" err="1"/>
              <a:t>maximise</a:t>
            </a:r>
            <a:r>
              <a:rPr dirty="0"/>
              <a:t> the performance of one robot,</a:t>
            </a:r>
          </a:p>
          <a:p>
            <a:r>
              <a:rPr dirty="0"/>
              <a:t>but to support coordinated </a:t>
            </a:r>
            <a:r>
              <a:rPr dirty="0" err="1"/>
              <a:t>behaviour</a:t>
            </a:r>
            <a:r>
              <a:rPr dirty="0"/>
              <a:t> among robots with different roles.</a:t>
            </a:r>
          </a:p>
          <a:p>
            <a:endParaRPr dirty="0"/>
          </a:p>
          <a:p>
            <a:r>
              <a:rPr dirty="0"/>
              <a:t>This leads to the main research question.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main research question is:</a:t>
            </a:r>
          </a:p>
          <a:p>
            <a:endParaRPr/>
          </a:p>
          <a:p>
            <a:r>
              <a:t>Can prompted large language models support grounded high-level</a:t>
            </a:r>
          </a:p>
          <a:p>
            <a:r>
              <a:t>decision-making for heterogeneous multi-robot collaboration in a</a:t>
            </a:r>
          </a:p>
          <a:p>
            <a:r>
              <a:t>constrained warehouse environment?</a:t>
            </a:r>
          </a:p>
          <a:p>
            <a:endParaRPr/>
          </a:p>
          <a:p>
            <a:r>
              <a:t>There are three important terms here.</a:t>
            </a:r>
          </a:p>
          <a:p>
            <a:endParaRPr/>
          </a:p>
          <a:p>
            <a:r>
              <a:t>The first is grounded.</a:t>
            </a:r>
          </a:p>
          <a:p>
            <a:endParaRPr/>
          </a:p>
          <a:p>
            <a:r>
              <a:t>The model’s decision must correspond to something that actually exists</a:t>
            </a:r>
          </a:p>
          <a:p>
            <a:r>
              <a:t>and is feasible in the environment.</a:t>
            </a:r>
          </a:p>
          <a:p>
            <a:endParaRPr/>
          </a:p>
          <a:p>
            <a:r>
              <a:t>The second is high-level decision-making.</a:t>
            </a:r>
          </a:p>
          <a:p>
            <a:endParaRPr/>
          </a:p>
          <a:p>
            <a:r>
              <a:t>The model is deciding which task or target an agent should pursue. It is</a:t>
            </a:r>
          </a:p>
          <a:p>
            <a:r>
              <a:t>not controlling its low-level motion.</a:t>
            </a:r>
          </a:p>
          <a:p>
            <a:endParaRPr/>
          </a:p>
          <a:p>
            <a:r>
              <a:t>And the third is heterogeneous multi-robot collaboration.</a:t>
            </a:r>
          </a:p>
          <a:p>
            <a:endParaRPr/>
          </a:p>
          <a:p>
            <a:r>
              <a:t>The objective is not simply to maximise the performance of one robot,</a:t>
            </a:r>
          </a:p>
          <a:p>
            <a:r>
              <a:t>but to support coordinated behaviour among robots with different roles.</a:t>
            </a:r>
          </a:p>
          <a:p>
            <a:endParaRPr/>
          </a:p>
          <a:p>
            <a:r>
              <a:t>However, this main question is still too broad to test directly.</a:t>
            </a:r>
          </a:p>
          <a:p>
            <a:endParaRPr/>
          </a:p>
          <a:p>
            <a:r>
              <a:t>To answer it systematically, I had to make several design decisions.</a:t>
            </a:r>
          </a:p>
          <a:p>
            <a:endParaRPr/>
          </a:p>
          <a:p>
            <a:r>
              <a:t>And these design decisions naturally became the three research</a:t>
            </a:r>
          </a:p>
          <a:p>
            <a:r>
              <a:t>questions.</a:t>
            </a:r>
          </a:p>
          <a:p>
            <a:endParaRPr/>
          </a:p>
          <a:p>
            <a:r>
              <a:t>The thesis defines these around model choice, planning architecture, and</a:t>
            </a:r>
          </a:p>
          <a:p>
            <a:r>
              <a:t>prompt configuration.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question is about the language model itself.</a:t>
            </a:r>
          </a:p>
          <a:p>
            <a:endParaRPr/>
          </a:p>
          <a:p>
            <a:r>
              <a:t>If we are going to use an LLM as a planner, which model should we use?</a:t>
            </a:r>
          </a:p>
          <a:p>
            <a:endParaRPr/>
          </a:p>
          <a:p>
            <a:r>
              <a:t>There are obvious reasons to expect larger models to perform better.</a:t>
            </a:r>
          </a:p>
          <a:p>
            <a:endParaRPr/>
          </a:p>
          <a:p>
            <a:r>
              <a:t>A larger model may have greater representational and reasoning capacity.</a:t>
            </a:r>
          </a:p>
          <a:p>
            <a:endParaRPr/>
          </a:p>
          <a:p>
            <a:r>
              <a:t>But in an embedded or robotics context, model size also has practical</a:t>
            </a:r>
          </a:p>
          <a:p>
            <a:r>
              <a:t>consequences.</a:t>
            </a:r>
          </a:p>
          <a:p>
            <a:endParaRPr/>
          </a:p>
          <a:p>
            <a:r>
              <a:t>Larger models generally require more memory, more computation, and</a:t>
            </a:r>
          </a:p>
          <a:p>
            <a:r>
              <a:t>potentially more inference time.</a:t>
            </a:r>
          </a:p>
          <a:p>
            <a:endParaRPr/>
          </a:p>
          <a:p>
            <a:r>
              <a:t>Smaller models are more attractive for local deployment, but they may</a:t>
            </a:r>
          </a:p>
          <a:p>
            <a:r>
              <a:t>have weaker capabilities.</a:t>
            </a:r>
          </a:p>
          <a:p>
            <a:endParaRPr/>
          </a:p>
          <a:p>
            <a:r>
              <a:t>So there is a practical engineering question:</a:t>
            </a:r>
          </a:p>
          <a:p>
            <a:endParaRPr/>
          </a:p>
          <a:p>
            <a:r>
              <a:t>Does increasing nominal model size actually result in better</a:t>
            </a:r>
          </a:p>
          <a:p>
            <a:r>
              <a:t>collaborative task performance?</a:t>
            </a:r>
          </a:p>
          <a:p>
            <a:endParaRPr/>
          </a:p>
          <a:p>
            <a:r>
              <a:t>This became RQ1:</a:t>
            </a:r>
          </a:p>
          <a:p>
            <a:endParaRPr/>
          </a:p>
          <a:p>
            <a:r>
              <a:t>How does grounded collaborative task performance vary among selected</a:t>
            </a:r>
          </a:p>
          <a:p>
            <a:r>
              <a:t>locally deployable language models spanning different nominal parameter</a:t>
            </a:r>
          </a:p>
          <a:p>
            <a:r>
              <a:t>sizes?</a:t>
            </a:r>
          </a:p>
          <a:p>
            <a:endParaRPr/>
          </a:p>
          <a:p>
            <a:r>
              <a:t>The important wording here is “selected models”.</a:t>
            </a:r>
          </a:p>
          <a:p>
            <a:endParaRPr/>
          </a:p>
          <a:p>
            <a:r>
              <a:t>I am not claiming that parameter count is the only difference between</a:t>
            </a:r>
          </a:p>
          <a:p>
            <a:r>
              <a:t>models.</a:t>
            </a:r>
          </a:p>
          <a:p>
            <a:endParaRPr/>
          </a:p>
          <a:p>
            <a:r>
              <a:t>The selected models come from different model families, so the</a:t>
            </a:r>
          </a:p>
          <a:p>
            <a:r>
              <a:t>experiment allows us to observe whether performance increases</a:t>
            </a:r>
          </a:p>
          <a:p>
            <a:r>
              <a:t>consistently across these selected model artefacts as nominal parameter</a:t>
            </a:r>
          </a:p>
          <a:p>
            <a:r>
              <a:t>scale increases.</a:t>
            </a:r>
          </a:p>
          <a:p>
            <a:endParaRPr/>
          </a:p>
          <a:p>
            <a:r>
              <a:t>It does not allow us to claim that parameter count itself causes the</a:t>
            </a:r>
          </a:p>
          <a:p>
            <a:r>
              <a:t>differences.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second question concerns the organisation of decision-making.</a:t>
            </a:r>
          </a:p>
          <a:p>
            <a:endParaRPr/>
          </a:p>
          <a:p>
            <a:r>
              <a:t>Suppose we have four robots.</a:t>
            </a:r>
          </a:p>
          <a:p>
            <a:endParaRPr/>
          </a:p>
          <a:p>
            <a:r>
              <a:t>One possibility is to give the entire warehouse state to one language</a:t>
            </a:r>
          </a:p>
          <a:p>
            <a:r>
              <a:t>model call and ask it to determine the actions for all four robots.</a:t>
            </a:r>
          </a:p>
          <a:p>
            <a:endParaRPr/>
          </a:p>
          <a:p>
            <a:r>
              <a:t>This is a centralised planning architecture.</a:t>
            </a:r>
          </a:p>
          <a:p>
            <a:endParaRPr/>
          </a:p>
          <a:p>
            <a:r>
              <a:t>The alternative is to make a separate decision for each robot.</a:t>
            </a:r>
          </a:p>
          <a:p>
            <a:endParaRPr/>
          </a:p>
          <a:p>
            <a:r>
              <a:t>However, each robot still receives relevant shared information about the</a:t>
            </a:r>
          </a:p>
          <a:p>
            <a:r>
              <a:t>warehouse and the other agents.</a:t>
            </a:r>
          </a:p>
          <a:p>
            <a:endParaRPr/>
          </a:p>
          <a:p>
            <a:r>
              <a:t>This is the shared-context per-agent architecture.</a:t>
            </a:r>
          </a:p>
          <a:p>
            <a:endParaRPr/>
          </a:p>
          <a:p>
            <a:r>
              <a:t>So we have two different coordination mechanisms.</a:t>
            </a:r>
          </a:p>
          <a:p>
            <a:endParaRPr/>
          </a:p>
          <a:p>
            <a:r>
              <a:t>In the centralised case, coordination happens through explicit joint</a:t>
            </a:r>
          </a:p>
          <a:p>
            <a:r>
              <a:t>action selection.</a:t>
            </a:r>
          </a:p>
          <a:p>
            <a:endParaRPr/>
          </a:p>
          <a:p>
            <a:r>
              <a:t>The model produces a set of actions for multiple agents together.</a:t>
            </a:r>
          </a:p>
          <a:p>
            <a:endParaRPr/>
          </a:p>
          <a:p>
            <a:r>
              <a:t>In the shared-context case, each agent makes its own decision, but the</a:t>
            </a:r>
          </a:p>
          <a:p>
            <a:r>
              <a:t>decision is informed by common context.</a:t>
            </a:r>
          </a:p>
          <a:p>
            <a:endParaRPr/>
          </a:p>
          <a:p>
            <a:r>
              <a:t>This creates a trade-off.</a:t>
            </a:r>
          </a:p>
          <a:p>
            <a:endParaRPr/>
          </a:p>
          <a:p>
            <a:r>
              <a:t>Centralised planning can reason about multiple actions together and</a:t>
            </a:r>
          </a:p>
          <a:p>
            <a:r>
              <a:t>requires fewer model calls.</a:t>
            </a:r>
          </a:p>
          <a:p>
            <a:endParaRPr/>
          </a:p>
          <a:p>
            <a:r>
              <a:t>But the output is more complex because the model must produce a</a:t>
            </a:r>
          </a:p>
          <a:p>
            <a:r>
              <a:t>compatible action for each agent.</a:t>
            </a:r>
          </a:p>
          <a:p>
            <a:endParaRPr/>
          </a:p>
          <a:p>
            <a:r>
              <a:t>Shared-context planning simplifies each individual decision, but it</a:t>
            </a:r>
          </a:p>
          <a:p>
            <a:r>
              <a:t>requires multiple model interactions.</a:t>
            </a:r>
          </a:p>
          <a:p>
            <a:endParaRPr/>
          </a:p>
          <a:p>
            <a:r>
              <a:t>So the second research question became:</a:t>
            </a:r>
          </a:p>
          <a:p>
            <a:endParaRPr/>
          </a:p>
          <a:p>
            <a:r>
              <a:t>How do centralized planning and shared-context per-agent planning differ</a:t>
            </a:r>
          </a:p>
          <a:p>
            <a:r>
              <a:t>in their ability to support collaborative task performance across</a:t>
            </a:r>
          </a:p>
          <a:p>
            <a:r>
              <a:t>scenarios with varying collaboration demands?</a:t>
            </a:r>
          </a:p>
          <a:p>
            <a:endParaRPr/>
          </a:p>
          <a:p>
            <a:r>
              <a:t>This distinction is explicitly implemented in the experimental</a:t>
            </a:r>
          </a:p>
          <a:p>
            <a:r>
              <a:t>framework.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third question concerns the interface between the simulator and the</a:t>
            </a:r>
          </a:p>
          <a:p>
            <a:r>
              <a:t>language model.</a:t>
            </a:r>
          </a:p>
          <a:p>
            <a:endParaRPr/>
          </a:p>
          <a:p>
            <a:r>
              <a:t>The simulator naturally stores information in a structured form.</a:t>
            </a:r>
          </a:p>
          <a:p>
            <a:endParaRPr/>
          </a:p>
          <a:p>
            <a:r>
              <a:t>For example, it has an agent identifier, position, battery level,</a:t>
            </a:r>
          </a:p>
          <a:p>
            <a:r>
              <a:t>target, and so on.</a:t>
            </a:r>
          </a:p>
          <a:p>
            <a:endParaRPr/>
          </a:p>
          <a:p>
            <a:r>
              <a:t>A natural way to provide this information to a language model would</a:t>
            </a:r>
          </a:p>
          <a:p>
            <a:r>
              <a:t>therefore be JSON.</a:t>
            </a:r>
          </a:p>
          <a:p>
            <a:endParaRPr/>
          </a:p>
          <a:p>
            <a:r>
              <a:t>But there is another possibility.</a:t>
            </a:r>
          </a:p>
          <a:p>
            <a:endParaRPr/>
          </a:p>
          <a:p>
            <a:r>
              <a:t>We can transform the same information into a natural-language</a:t>
            </a:r>
          </a:p>
          <a:p>
            <a:r>
              <a:t>description.</a:t>
            </a:r>
          </a:p>
          <a:p>
            <a:endParaRPr/>
          </a:p>
          <a:p>
            <a:r>
              <a:t>For example, instead of giving:</a:t>
            </a:r>
          </a:p>
          <a:p>
            <a:endParaRPr/>
          </a:p>
          <a:p>
            <a:r>
              <a:t>“agent equals AGV1, battery equals 72, target equals shelf 24”,</a:t>
            </a:r>
          </a:p>
          <a:p>
            <a:endParaRPr/>
          </a:p>
          <a:p>
            <a:r>
              <a:t>we can say:</a:t>
            </a:r>
          </a:p>
          <a:p>
            <a:endParaRPr/>
          </a:p>
          <a:p>
            <a:r>
              <a:t>“AGV1 is at this position, has 72 percent battery, and is currently</a:t>
            </a:r>
          </a:p>
          <a:p>
            <a:r>
              <a:t>considering shelf 24.”</a:t>
            </a:r>
          </a:p>
          <a:p>
            <a:endParaRPr/>
          </a:p>
          <a:p>
            <a:r>
              <a:t>This transformation introduces additional work in the system.</a:t>
            </a:r>
          </a:p>
          <a:p>
            <a:endParaRPr/>
          </a:p>
          <a:p>
            <a:r>
              <a:t>So the question is whether that additional representation actually</a:t>
            </a:r>
          </a:p>
          <a:p>
            <a:r>
              <a:t>helps.</a:t>
            </a:r>
          </a:p>
          <a:p>
            <a:endParaRPr/>
          </a:p>
          <a:p>
            <a:r>
              <a:t>This gives RQ3:</a:t>
            </a:r>
          </a:p>
          <a:p>
            <a:endParaRPr/>
          </a:p>
          <a:p>
            <a:r>
              <a:t>How does collaborative task performance differ between the tested</a:t>
            </a:r>
          </a:p>
          <a:p>
            <a:r>
              <a:t>natural-language and JSON-based prompt configurations?</a:t>
            </a:r>
          </a:p>
          <a:p>
            <a:endParaRPr/>
          </a:p>
          <a:p>
            <a:r>
              <a:t>This question is particularly interesting because the underlying</a:t>
            </a:r>
          </a:p>
          <a:p>
            <a:r>
              <a:t>simulator state remains the same.</a:t>
            </a:r>
          </a:p>
          <a:p>
            <a:endParaRPr/>
          </a:p>
          <a:p>
            <a:r>
              <a:t>What changes is the way the information is communicated to the model</a:t>
            </a:r>
          </a:p>
          <a:p>
            <a:r>
              <a:t>and, in the JSON condition, the structured response format.</a:t>
            </a:r>
          </a:p>
          <a:p>
            <a:endParaRPr/>
          </a:p>
          <a:p>
            <a:r>
              <a:t>The thesis therefore treats this as a comparison of complete prompt</a:t>
            </a:r>
          </a:p>
          <a:p>
            <a:r>
              <a:t>configurations, rather than as a pure isolated test of JSON versus</a:t>
            </a:r>
          </a:p>
          <a:p>
            <a:r>
              <a:t>natural language.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this point, I had three research questions.</a:t>
            </a:r>
          </a:p>
          <a:p>
            <a:endParaRPr/>
          </a:p>
          <a:p>
            <a:r>
              <a:t>The next problem was:</a:t>
            </a:r>
          </a:p>
          <a:p>
            <a:endParaRPr/>
          </a:p>
          <a:p>
            <a:r>
              <a:t>How can I test them in a controlled way?</a:t>
            </a:r>
          </a:p>
          <a:p>
            <a:endParaRPr/>
          </a:p>
          <a:p>
            <a:r>
              <a:t>I needed an environment where collaboration was actually necessary.</a:t>
            </a:r>
          </a:p>
          <a:p>
            <a:endParaRPr/>
          </a:p>
          <a:p>
            <a:r>
              <a:t>At the same time, I needed the experiment to be reproducible.</a:t>
            </a:r>
          </a:p>
          <a:p>
            <a:endParaRPr/>
          </a:p>
          <a:p>
            <a:r>
              <a:t>I did not want the language model to control every aspect of the robot,</a:t>
            </a:r>
          </a:p>
          <a:p>
            <a:r>
              <a:t>because then it would become difficult to distinguish planning</a:t>
            </a:r>
          </a:p>
          <a:p>
            <a:r>
              <a:t>performance from low-level navigation behaviour.</a:t>
            </a:r>
          </a:p>
          <a:p>
            <a:endParaRPr/>
          </a:p>
          <a:p>
            <a:r>
              <a:t>Therefore, I used a warehouse simulator where the language model</a:t>
            </a:r>
          </a:p>
          <a:p>
            <a:r>
              <a:t>operates at the task-assignment level.</a:t>
            </a:r>
          </a:p>
          <a:p>
            <a:endParaRPr/>
          </a:p>
          <a:p>
            <a:r>
              <a:t>The environment handles the lower-level execution.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environment used in this thesis is Battery-TA-RWARE.</a:t>
            </a:r>
          </a:p>
          <a:p>
            <a:endParaRPr/>
          </a:p>
          <a:p>
            <a:r>
              <a:t>It is a discrete-time, grid-based warehouse simulation derived from</a:t>
            </a:r>
          </a:p>
          <a:p>
            <a:r>
              <a:t>TA-RWARE.</a:t>
            </a:r>
          </a:p>
          <a:p>
            <a:endParaRPr/>
          </a:p>
          <a:p>
            <a:r>
              <a:t>There are two heterogeneous robot roles.</a:t>
            </a:r>
          </a:p>
          <a:p>
            <a:endParaRPr/>
          </a:p>
          <a:p>
            <a:r>
              <a:t>The first is the AGV, which transports shelves.</a:t>
            </a:r>
          </a:p>
          <a:p>
            <a:endParaRPr/>
          </a:p>
          <a:p>
            <a:r>
              <a:t>The second is the Picker, which supports shelf interactions.</a:t>
            </a:r>
          </a:p>
          <a:p>
            <a:endParaRPr/>
          </a:p>
          <a:p>
            <a:r>
              <a:t>A typical operation therefore looks something like this.</a:t>
            </a:r>
          </a:p>
          <a:p>
            <a:endParaRPr/>
          </a:p>
          <a:p>
            <a:r>
              <a:t>A requested shelf has to be transported.</a:t>
            </a:r>
          </a:p>
          <a:p>
            <a:endParaRPr/>
          </a:p>
          <a:p>
            <a:r>
              <a:t>An AGV selects the shelf.</a:t>
            </a:r>
          </a:p>
          <a:p>
            <a:endParaRPr/>
          </a:p>
          <a:p>
            <a:r>
              <a:t>The AGV moves towards it.</a:t>
            </a:r>
          </a:p>
          <a:p>
            <a:endParaRPr/>
          </a:p>
          <a:p>
            <a:r>
              <a:t>A Picker needs to support the shelf interaction.</a:t>
            </a:r>
          </a:p>
          <a:p>
            <a:endParaRPr/>
          </a:p>
          <a:p>
            <a:r>
              <a:t>The shelf can then be transported to the delivery location and</a:t>
            </a:r>
          </a:p>
          <a:p>
            <a:r>
              <a:t>eventually returned.</a:t>
            </a:r>
          </a:p>
          <a:p>
            <a:endParaRPr/>
          </a:p>
          <a:p>
            <a:r>
              <a:t>The environment also includes battery state and charging stations.</a:t>
            </a:r>
          </a:p>
          <a:p>
            <a:endParaRPr/>
          </a:p>
          <a:p>
            <a:r>
              <a:t>So there are task dependencies as well as resource constraints.</a:t>
            </a:r>
          </a:p>
          <a:p>
            <a:endParaRPr/>
          </a:p>
          <a:p>
            <a:r>
              <a:t>This gives us the type of coordination problem that the thesis is</a:t>
            </a:r>
          </a:p>
          <a:p>
            <a:r>
              <a:t>interested in.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 is important to clarify exactly what the language model controls.</a:t>
            </a:r>
          </a:p>
          <a:p>
            <a:endParaRPr/>
          </a:p>
          <a:p>
            <a:r>
              <a:t>It does not control movement directly.</a:t>
            </a:r>
          </a:p>
          <a:p>
            <a:endParaRPr/>
          </a:p>
          <a:p>
            <a:r>
              <a:t>For example, the language model does not say:</a:t>
            </a:r>
          </a:p>
          <a:p>
            <a:endParaRPr/>
          </a:p>
          <a:p>
            <a:r>
              <a:t>“move three cells north, then turn right.”</a:t>
            </a:r>
          </a:p>
          <a:p>
            <a:endParaRPr/>
          </a:p>
          <a:p>
            <a:r>
              <a:t>Instead, it selects a high-level target.</a:t>
            </a:r>
          </a:p>
          <a:p>
            <a:endParaRPr/>
          </a:p>
          <a:p>
            <a:r>
              <a:t>The action space contains discrete actions such as:</a:t>
            </a:r>
          </a:p>
          <a:p>
            <a:endParaRPr/>
          </a:p>
          <a:p>
            <a:r>
              <a:t>a no-operation action,</a:t>
            </a:r>
          </a:p>
          <a:p>
            <a:endParaRPr/>
          </a:p>
          <a:p>
            <a:r>
              <a:t>a shelf action,</a:t>
            </a:r>
          </a:p>
          <a:p>
            <a:endParaRPr/>
          </a:p>
          <a:p>
            <a:r>
              <a:t>a goal action,</a:t>
            </a:r>
          </a:p>
          <a:p>
            <a:endParaRPr/>
          </a:p>
          <a:p>
            <a:r>
              <a:t>or a charging action.</a:t>
            </a:r>
          </a:p>
          <a:p>
            <a:endParaRPr/>
          </a:p>
          <a:p>
            <a:r>
              <a:t>If the AGV selects a shelf action, the simulator handles the actual</a:t>
            </a:r>
          </a:p>
          <a:p>
            <a:r>
              <a:t>navigation towards that shelf.</a:t>
            </a:r>
          </a:p>
          <a:p>
            <a:endParaRPr/>
          </a:p>
          <a:p>
            <a:r>
              <a:t>Path planning, collision handling, battery updates and the load and</a:t>
            </a:r>
          </a:p>
          <a:p>
            <a:r>
              <a:t>unload mechanics remain inside the environment.</a:t>
            </a:r>
          </a:p>
          <a:p>
            <a:endParaRPr/>
          </a:p>
          <a:p>
            <a:r>
              <a:t>So the abstraction is:</a:t>
            </a:r>
          </a:p>
          <a:p>
            <a:endParaRPr/>
          </a:p>
          <a:p>
            <a:r>
              <a:t>The LLM decides what the robot should pursue.</a:t>
            </a:r>
          </a:p>
          <a:p>
            <a:endParaRPr/>
          </a:p>
          <a:p>
            <a:r>
              <a:t>The simulator decides how the robot physically gets there.</a:t>
            </a:r>
          </a:p>
          <a:p>
            <a:endParaRPr/>
          </a:p>
          <a:p>
            <a:r>
              <a:t>This separation is important because it keeps the experiment focused on</a:t>
            </a:r>
          </a:p>
          <a:p>
            <a:r>
              <a:t>high-level decision-making.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leads to the central engineering component of the thesis.</a:t>
            </a:r>
          </a:p>
          <a:p>
            <a:endParaRPr/>
          </a:p>
          <a:p>
            <a:r>
              <a:t>The language model cannot simply return arbitrary text and have that</a:t>
            </a:r>
          </a:p>
          <a:p>
            <a:r>
              <a:t>text executed.</a:t>
            </a:r>
          </a:p>
          <a:p>
            <a:endParaRPr/>
          </a:p>
          <a:p>
            <a:r>
              <a:t>The system therefore creates a grounded interface between the simulator</a:t>
            </a:r>
          </a:p>
          <a:p>
            <a:r>
              <a:t>and the model.</a:t>
            </a:r>
          </a:p>
          <a:p>
            <a:endParaRPr/>
          </a:p>
          <a:p>
            <a:r>
              <a:t>The process is approximately:</a:t>
            </a:r>
          </a:p>
          <a:p>
            <a:endParaRPr/>
          </a:p>
          <a:p>
            <a:r>
              <a:t>First, the controller reads the current environment state.</a:t>
            </a:r>
          </a:p>
          <a:p>
            <a:endParaRPr/>
          </a:p>
          <a:p>
            <a:r>
              <a:t>Then it determines which actions are currently valid.</a:t>
            </a:r>
          </a:p>
          <a:p>
            <a:endParaRPr/>
          </a:p>
          <a:p>
            <a:r>
              <a:t>From these valid actions, it constructs the candidate action set shown</a:t>
            </a:r>
          </a:p>
          <a:p>
            <a:r>
              <a:t>to the model.</a:t>
            </a:r>
          </a:p>
          <a:p>
            <a:endParaRPr/>
          </a:p>
          <a:p>
            <a:r>
              <a:t>The state and candidate actions are then converted into the selected</a:t>
            </a:r>
          </a:p>
          <a:p>
            <a:r>
              <a:t>prompt format.</a:t>
            </a:r>
          </a:p>
          <a:p>
            <a:endParaRPr/>
          </a:p>
          <a:p>
            <a:r>
              <a:t>The prompt is sent to the local Ollama server.</a:t>
            </a:r>
          </a:p>
          <a:p>
            <a:endParaRPr/>
          </a:p>
          <a:p>
            <a:r>
              <a:t>The model returns its proposed action.</a:t>
            </a:r>
          </a:p>
          <a:p>
            <a:endParaRPr/>
          </a:p>
          <a:p>
            <a:r>
              <a:t>That response is parsed.</a:t>
            </a:r>
          </a:p>
          <a:p>
            <a:endParaRPr/>
          </a:p>
          <a:p>
            <a:r>
              <a:t>The parsed action is then validated against the environment’s action</a:t>
            </a:r>
          </a:p>
          <a:p>
            <a:r>
              <a:t>mask.</a:t>
            </a:r>
          </a:p>
          <a:p>
            <a:endParaRPr/>
          </a:p>
          <a:p>
            <a:r>
              <a:t>Only after validation is the action executed.</a:t>
            </a:r>
          </a:p>
          <a:p>
            <a:endParaRPr/>
          </a:p>
          <a:p>
            <a:r>
              <a:t>So there is a principle at the centre of this system:</a:t>
            </a:r>
          </a:p>
          <a:p>
            <a:endParaRPr/>
          </a:p>
          <a:p>
            <a:r>
              <a:t>The LLM proposes; the environment validates.</a:t>
            </a:r>
          </a:p>
          <a:p>
            <a:endParaRPr/>
          </a:p>
          <a:p>
            <a:r>
              <a:t>This is important both experimentally and from a safety perspective.</a:t>
            </a:r>
          </a:p>
          <a:p>
            <a:endParaRPr/>
          </a:p>
          <a:p>
            <a:r>
              <a:t>The model is given freedom to choose between candidate actions, but it</a:t>
            </a:r>
          </a:p>
          <a:p>
            <a:r>
              <a:t>is not allowed to redefine the action space.</a:t>
            </a:r>
          </a:p>
          <a:p>
            <a:endParaRPr/>
          </a:p>
          <a:p>
            <a:r>
              <a:t>The implementation therefore uses action IDs and hard validation to</a:t>
            </a:r>
          </a:p>
          <a:p>
            <a:r>
              <a:t>ground model output in executable simulator actions.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prompt contains several types of information.</a:t>
            </a:r>
          </a:p>
          <a:p>
            <a:endParaRPr/>
          </a:p>
          <a:p>
            <a:r>
              <a:t>First, there is the objective.</a:t>
            </a:r>
          </a:p>
          <a:p>
            <a:endParaRPr/>
          </a:p>
          <a:p>
            <a:r>
              <a:t>For example, the system can ask the model to maximise useful warehouse</a:t>
            </a:r>
          </a:p>
          <a:p>
            <a:r>
              <a:t>progress under a particular objective.</a:t>
            </a:r>
          </a:p>
          <a:p>
            <a:endParaRPr/>
          </a:p>
          <a:p>
            <a:r>
              <a:t>Then there is the environment description.</a:t>
            </a:r>
          </a:p>
          <a:p>
            <a:endParaRPr/>
          </a:p>
          <a:p>
            <a:r>
              <a:t>The prompt explains the roles of AGVs and Pickers and the basic</a:t>
            </a:r>
          </a:p>
          <a:p>
            <a:r>
              <a:t>warehouse operation.</a:t>
            </a:r>
          </a:p>
          <a:p>
            <a:endParaRPr/>
          </a:p>
          <a:p>
            <a:r>
              <a:t>Then there is the state of the current agent.</a:t>
            </a:r>
          </a:p>
          <a:p>
            <a:endParaRPr/>
          </a:p>
          <a:p>
            <a:r>
              <a:t>This includes information such as role, position, battery, load and busy</a:t>
            </a:r>
          </a:p>
          <a:p>
            <a:r>
              <a:t>state.</a:t>
            </a:r>
          </a:p>
          <a:p>
            <a:endParaRPr/>
          </a:p>
          <a:p>
            <a:r>
              <a:t>There is also shared context.</a:t>
            </a:r>
          </a:p>
          <a:p>
            <a:endParaRPr/>
          </a:p>
          <a:p>
            <a:r>
              <a:t>This can include requested shelves, charging occupancy and support</a:t>
            </a:r>
          </a:p>
          <a:p>
            <a:r>
              <a:t>requirements.</a:t>
            </a:r>
          </a:p>
          <a:p>
            <a:endParaRPr/>
          </a:p>
          <a:p>
            <a:r>
              <a:t>Then there are candidate actions.</a:t>
            </a:r>
          </a:p>
          <a:p>
            <a:endParaRPr/>
          </a:p>
          <a:p>
            <a:r>
              <a:t>Each candidate has an action identifier and relevant information such as</a:t>
            </a:r>
          </a:p>
          <a:p>
            <a:r>
              <a:t>action type, distance and guidance.</a:t>
            </a:r>
          </a:p>
          <a:p>
            <a:endParaRPr/>
          </a:p>
          <a:p>
            <a:r>
              <a:t>Finally, there is an output contract.</a:t>
            </a:r>
          </a:p>
          <a:p>
            <a:endParaRPr/>
          </a:p>
          <a:p>
            <a:r>
              <a:t>The model is told exactly what it must return.</a:t>
            </a:r>
          </a:p>
          <a:p>
            <a:endParaRPr/>
          </a:p>
          <a:p>
            <a:r>
              <a:t>This is important because the simulator cannot execute a paragraph of</a:t>
            </a:r>
          </a:p>
          <a:p>
            <a:r>
              <a:t>natural language.</a:t>
            </a:r>
          </a:p>
          <a:p>
            <a:endParaRPr/>
          </a:p>
          <a:p>
            <a:r>
              <a:t>It needs something such as an action identifier and a hold duration.</a:t>
            </a:r>
          </a:p>
          <a:p>
            <a:endParaRPr/>
          </a:p>
          <a:p>
            <a:r>
              <a:t>The prompt therefore acts as the interface between the symbolic</a:t>
            </a:r>
          </a:p>
          <a:p>
            <a:r>
              <a:t>simulator and the language model.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 I can return to the second research question.</a:t>
            </a:r>
          </a:p>
          <a:p>
            <a:endParaRPr/>
          </a:p>
          <a:p>
            <a:r>
              <a:t>In the centralised architecture, one model call receives the relevant</a:t>
            </a:r>
          </a:p>
          <a:p>
            <a:r>
              <a:t>global context and a planning block for each agent that requires a new</a:t>
            </a:r>
          </a:p>
          <a:p>
            <a:r>
              <a:t>decision.</a:t>
            </a:r>
          </a:p>
          <a:p>
            <a:endParaRPr/>
          </a:p>
          <a:p>
            <a:r>
              <a:t>The model therefore returns a joint action list.</a:t>
            </a:r>
          </a:p>
          <a:p>
            <a:endParaRPr/>
          </a:p>
          <a:p>
            <a:r>
              <a:t>For example, conceptually:</a:t>
            </a:r>
          </a:p>
          <a:p>
            <a:endParaRPr/>
          </a:p>
          <a:p>
            <a:r>
              <a:t>AGV1 — shelf 24.</a:t>
            </a:r>
          </a:p>
          <a:p>
            <a:endParaRPr/>
          </a:p>
          <a:p>
            <a:r>
              <a:t>AGV2 — charging.</a:t>
            </a:r>
          </a:p>
          <a:p>
            <a:endParaRPr/>
          </a:p>
          <a:p>
            <a:r>
              <a:t>Picker1 — support shelf 24.</a:t>
            </a:r>
          </a:p>
          <a:p>
            <a:endParaRPr/>
          </a:p>
          <a:p>
            <a:r>
              <a:t>And so on.</a:t>
            </a:r>
          </a:p>
          <a:p>
            <a:endParaRPr/>
          </a:p>
          <a:p>
            <a:r>
              <a:t>The advantage is that the model can explicitly consider these decisions</a:t>
            </a:r>
          </a:p>
          <a:p>
            <a:r>
              <a:t>together.</a:t>
            </a:r>
          </a:p>
          <a:p>
            <a:endParaRPr/>
          </a:p>
          <a:p>
            <a:r>
              <a:t>However, the output becomes more complicated as the number of agents</a:t>
            </a:r>
          </a:p>
          <a:p>
            <a:r>
              <a:t>increases.</a:t>
            </a:r>
          </a:p>
          <a:p>
            <a:endParaRPr/>
          </a:p>
          <a:p>
            <a:r>
              <a:t>In the shared-context architecture, the model is queried separately for</a:t>
            </a:r>
          </a:p>
          <a:p>
            <a:r>
              <a:t>each agent.</a:t>
            </a:r>
          </a:p>
          <a:p>
            <a:endParaRPr/>
          </a:p>
          <a:p>
            <a:r>
              <a:t>The current agent gets its local state, but it also receives relevant</a:t>
            </a:r>
          </a:p>
          <a:p>
            <a:r>
              <a:t>shared information.</a:t>
            </a:r>
          </a:p>
          <a:p>
            <a:endParaRPr/>
          </a:p>
          <a:p>
            <a:r>
              <a:t>So the model might first decide what AGV1 should do.</a:t>
            </a:r>
          </a:p>
          <a:p>
            <a:endParaRPr/>
          </a:p>
          <a:p>
            <a:r>
              <a:t>That accepted action becomes part of the shared coordination context.</a:t>
            </a:r>
          </a:p>
          <a:p>
            <a:endParaRPr/>
          </a:p>
          <a:p>
            <a:r>
              <a:t>The next agent is then queried with the updated information.</a:t>
            </a:r>
          </a:p>
          <a:p>
            <a:endParaRPr/>
          </a:p>
          <a:p>
            <a:r>
              <a:t>The physical environment itself is executed only after the required</a:t>
            </a:r>
          </a:p>
          <a:p>
            <a:r>
              <a:t>decisions have been collected.</a:t>
            </a:r>
          </a:p>
          <a:p>
            <a:endParaRPr/>
          </a:p>
          <a:p>
            <a:r>
              <a:t>So the key distinction is:</a:t>
            </a:r>
          </a:p>
          <a:p>
            <a:endParaRPr/>
          </a:p>
          <a:p>
            <a:r>
              <a:t>Centralised planning performs joint action selection.</a:t>
            </a:r>
          </a:p>
          <a:p>
            <a:endParaRPr/>
          </a:p>
          <a:p>
            <a:r>
              <a:t>Shared-context planning performs individual action selection with shared</a:t>
            </a:r>
          </a:p>
          <a:p>
            <a:r>
              <a:t>information.</a:t>
            </a:r>
          </a:p>
          <a:p>
            <a:endParaRPr/>
          </a:p>
          <a:p>
            <a:r>
              <a:t>That is the architectural comparison evaluated in RQ2.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other experimental comparison is the prompt configuration.</a:t>
            </a:r>
          </a:p>
          <a:p>
            <a:endParaRPr/>
          </a:p>
          <a:p>
            <a:r>
              <a:t>In the natural-language configuration, the state is presented using</a:t>
            </a:r>
          </a:p>
          <a:p>
            <a:r>
              <a:t>descriptive textual sections.</a:t>
            </a:r>
          </a:p>
          <a:p>
            <a:endParaRPr/>
          </a:p>
          <a:p>
            <a:r>
              <a:t>The response contains an action ID, a hold duration and a short reason.</a:t>
            </a:r>
          </a:p>
          <a:p>
            <a:endParaRPr/>
          </a:p>
          <a:p>
            <a:r>
              <a:t>In the JSON configuration, the state is represented as a structured</a:t>
            </a:r>
          </a:p>
          <a:p>
            <a:r>
              <a:t>object, and the response is also required to follow a machine-readable</a:t>
            </a:r>
          </a:p>
          <a:p>
            <a:r>
              <a:t>schema.</a:t>
            </a:r>
          </a:p>
          <a:p>
            <a:endParaRPr/>
          </a:p>
          <a:p>
            <a:r>
              <a:t>The JSON configuration additionally uses structured-output mode through</a:t>
            </a:r>
          </a:p>
          <a:p>
            <a:r>
              <a:t>Ollama.</a:t>
            </a:r>
          </a:p>
          <a:p>
            <a:endParaRPr/>
          </a:p>
          <a:p>
            <a:r>
              <a:t>The important point is that both configurations are grounded in the same</a:t>
            </a:r>
          </a:p>
          <a:p>
            <a:r>
              <a:t>underlying state abstraction and candidate action mechanism.</a:t>
            </a:r>
          </a:p>
          <a:p>
            <a:endParaRPr/>
          </a:p>
          <a:p>
            <a:r>
              <a:t>The question is whether the complete natural-language configuration or</a:t>
            </a:r>
          </a:p>
          <a:p>
            <a:r>
              <a:t>the complete JSON configuration leads to better collaborative task</a:t>
            </a:r>
          </a:p>
          <a:p>
            <a:r>
              <a:t>performance.</a:t>
            </a:r>
          </a:p>
          <a:p>
            <a:endParaRPr/>
          </a:p>
          <a:p>
            <a:r>
              <a:t>This distinction will become important later when interpreting the</a:t>
            </a:r>
          </a:p>
          <a:p>
            <a:r>
              <a:t>results, because the experiment does not isolate only the formatting of</a:t>
            </a:r>
          </a:p>
          <a:p>
            <a:r>
              <a:t>the input.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RQ1, I selected six locally deployable language models.</a:t>
            </a:r>
          </a:p>
          <a:p>
            <a:endParaRPr/>
          </a:p>
          <a:p>
            <a:r>
              <a:t>These were:</a:t>
            </a:r>
          </a:p>
          <a:p>
            <a:endParaRPr/>
          </a:p>
          <a:p>
            <a:r>
              <a:t>Llama 3.2 1B,</a:t>
            </a:r>
          </a:p>
          <a:p>
            <a:endParaRPr/>
          </a:p>
          <a:p>
            <a:r>
              <a:t>Llama 3.2 3B,</a:t>
            </a:r>
          </a:p>
          <a:p>
            <a:endParaRPr/>
          </a:p>
          <a:p>
            <a:r>
              <a:t>Mistral 7B,</a:t>
            </a:r>
          </a:p>
          <a:p>
            <a:endParaRPr/>
          </a:p>
          <a:p>
            <a:r>
              <a:t>Gemma 3 12B,</a:t>
            </a:r>
          </a:p>
          <a:p>
            <a:endParaRPr/>
          </a:p>
          <a:p>
            <a:r>
              <a:t>Phi-4,</a:t>
            </a:r>
          </a:p>
          <a:p>
            <a:endParaRPr/>
          </a:p>
          <a:p>
            <a:r>
              <a:t>and Qwen 2.5 14B.</a:t>
            </a:r>
          </a:p>
          <a:p>
            <a:endParaRPr/>
          </a:p>
          <a:p>
            <a:r>
              <a:t>They span approximately one to fourteen billion parameters.</a:t>
            </a:r>
          </a:p>
          <a:p>
            <a:endParaRPr/>
          </a:p>
          <a:p>
            <a:r>
              <a:t>The important methodological point is that these models come from</a:t>
            </a:r>
          </a:p>
          <a:p>
            <a:r>
              <a:t>different model families.</a:t>
            </a:r>
          </a:p>
          <a:p>
            <a:endParaRPr/>
          </a:p>
          <a:p>
            <a:r>
              <a:t>Therefore, I use nominal parameter size as an experimental ordering</a:t>
            </a:r>
          </a:p>
          <a:p>
            <a:r>
              <a:t>variable, but I do not interpret the results as a causal test of</a:t>
            </a:r>
          </a:p>
          <a:p>
            <a:r>
              <a:t>parameter count.</a:t>
            </a:r>
          </a:p>
          <a:p>
            <a:endParaRPr/>
          </a:p>
          <a:p>
            <a:r>
              <a:t>All models were run locally using Ollama on the same NVIDIA RTX A4000</a:t>
            </a:r>
          </a:p>
          <a:p>
            <a:r>
              <a:t>platform.</a:t>
            </a:r>
          </a:p>
          <a:p>
            <a:endParaRPr/>
          </a:p>
          <a:p>
            <a:r>
              <a:t>The models were used without task-specific fine-tuning.</a:t>
            </a:r>
          </a:p>
          <a:p>
            <a:endParaRPr/>
          </a:p>
          <a:p>
            <a:r>
              <a:t>The same simulator, action interface, prompt construction and evaluation</a:t>
            </a:r>
          </a:p>
          <a:p>
            <a:r>
              <a:t>metrics were used across the comparison.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experiments used six scenarios.</a:t>
            </a:r>
          </a:p>
          <a:p>
            <a:endParaRPr/>
          </a:p>
          <a:p>
            <a:r>
              <a:t>The smallest is a tiny balanced 1-versus-1 scenario, with one AGV and</a:t>
            </a:r>
          </a:p>
          <a:p>
            <a:r>
              <a:t>one Picker.</a:t>
            </a:r>
          </a:p>
          <a:p>
            <a:endParaRPr/>
          </a:p>
          <a:p>
            <a:r>
              <a:t>Then there is a small balanced 2-versus-2 scenario.</a:t>
            </a:r>
          </a:p>
          <a:p>
            <a:endParaRPr/>
          </a:p>
          <a:p>
            <a:r>
              <a:t>There are also role-imbalanced cases, including an AGV-heavy 4-versus-2</a:t>
            </a:r>
          </a:p>
          <a:p>
            <a:r>
              <a:t>configuration and a Picker-heavy 2-versus-4 configuration.</a:t>
            </a:r>
          </a:p>
          <a:p>
            <a:endParaRPr/>
          </a:p>
          <a:p>
            <a:r>
              <a:t>Finally, there are larger configurations, including a medium balanced</a:t>
            </a:r>
          </a:p>
          <a:p>
            <a:r>
              <a:t>4-versus-4 case and a medium AGV-heavy 6-versus-2 case.</a:t>
            </a:r>
          </a:p>
          <a:p>
            <a:endParaRPr/>
          </a:p>
          <a:p>
            <a:r>
              <a:t>The purpose of these scenarios is not simply to increase the number of</a:t>
            </a:r>
          </a:p>
          <a:p>
            <a:r>
              <a:t>robots.</a:t>
            </a:r>
          </a:p>
          <a:p>
            <a:endParaRPr/>
          </a:p>
          <a:p>
            <a:r>
              <a:t>They allow the experiment to vary the collaboration demand.</a:t>
            </a:r>
          </a:p>
          <a:p>
            <a:endParaRPr/>
          </a:p>
          <a:p>
            <a:r>
              <a:t>For example, a 1-versus-1 scenario tests the basic heterogeneous</a:t>
            </a:r>
          </a:p>
          <a:p>
            <a:r>
              <a:t>interaction.</a:t>
            </a:r>
          </a:p>
          <a:p>
            <a:endParaRPr/>
          </a:p>
          <a:p>
            <a:r>
              <a:t>A larger 4-versus-4 scenario introduces more concurrent decisions.</a:t>
            </a:r>
          </a:p>
          <a:p>
            <a:endParaRPr/>
          </a:p>
          <a:p>
            <a:r>
              <a:t>An AGV-heavy or Picker-heavy scenario changes the balance between the</a:t>
            </a:r>
          </a:p>
          <a:p>
            <a:r>
              <a:t>two roles.</a:t>
            </a:r>
          </a:p>
          <a:p>
            <a:endParaRPr/>
          </a:p>
          <a:p>
            <a:r>
              <a:t>This gives us several environments in which to observe whether the same</a:t>
            </a:r>
          </a:p>
          <a:p>
            <a:r>
              <a:t>planning approach behaves consistently.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main measure of task performance is shelf deliveries.</a:t>
            </a:r>
          </a:p>
          <a:p>
            <a:endParaRPr dirty="0"/>
          </a:p>
          <a:p>
            <a:r>
              <a:rPr dirty="0"/>
              <a:t>The simulator can deliver up to 20 requested shelves in a run, so</a:t>
            </a:r>
          </a:p>
          <a:p>
            <a:r>
              <a:rPr dirty="0"/>
              <a:t>delivery count provides a direct measure of task completion.</a:t>
            </a:r>
          </a:p>
          <a:p>
            <a:endParaRPr dirty="0"/>
          </a:p>
          <a:p>
            <a:r>
              <a:rPr dirty="0"/>
              <a:t>I also record the number of LLM calls.</a:t>
            </a:r>
          </a:p>
          <a:p>
            <a:endParaRPr dirty="0"/>
          </a:p>
          <a:p>
            <a:r>
              <a:rPr dirty="0"/>
              <a:t>This gives an indication of how frequently the planner needs to interact</a:t>
            </a:r>
          </a:p>
          <a:p>
            <a:r>
              <a:rPr dirty="0"/>
              <a:t>with the model.</a:t>
            </a:r>
          </a:p>
          <a:p>
            <a:endParaRPr dirty="0"/>
          </a:p>
          <a:p>
            <a:r>
              <a:rPr dirty="0"/>
              <a:t>From these two values, I use a call-</a:t>
            </a:r>
            <a:r>
              <a:rPr dirty="0" err="1"/>
              <a:t>normalised</a:t>
            </a:r>
            <a:r>
              <a:rPr dirty="0"/>
              <a:t> measure:</a:t>
            </a:r>
          </a:p>
          <a:p>
            <a:endParaRPr dirty="0"/>
          </a:p>
          <a:p>
            <a:r>
              <a:rPr dirty="0"/>
              <a:t>deliveries per 1,000 LLM calls.</a:t>
            </a:r>
          </a:p>
          <a:p>
            <a:endParaRPr dirty="0"/>
          </a:p>
          <a:p>
            <a:r>
              <a:rPr dirty="0"/>
              <a:t>This measure is useful for comparing architectures that naturally use</a:t>
            </a:r>
          </a:p>
          <a:p>
            <a:r>
              <a:rPr dirty="0"/>
              <a:t>different numbers of model calls.</a:t>
            </a:r>
          </a:p>
          <a:p>
            <a:endParaRPr dirty="0"/>
          </a:p>
          <a:p>
            <a:r>
              <a:rPr dirty="0"/>
              <a:t>However, I want to make one distinction very clear.</a:t>
            </a:r>
          </a:p>
          <a:p>
            <a:endParaRPr dirty="0"/>
          </a:p>
          <a:p>
            <a:r>
              <a:rPr dirty="0"/>
              <a:t>A model call is not equivalent to computational cost.</a:t>
            </a:r>
          </a:p>
          <a:p>
            <a:endParaRPr dirty="0"/>
          </a:p>
          <a:p>
            <a:r>
              <a:rPr dirty="0"/>
              <a:t>The call-</a:t>
            </a:r>
            <a:r>
              <a:rPr dirty="0" err="1"/>
              <a:t>normalised</a:t>
            </a:r>
            <a:r>
              <a:rPr dirty="0"/>
              <a:t> metric measures interaction frequency, not latency,</a:t>
            </a:r>
          </a:p>
          <a:p>
            <a:r>
              <a:rPr dirty="0"/>
              <a:t>energy consumption or GPU cost.</a:t>
            </a:r>
          </a:p>
          <a:p>
            <a:endParaRPr dirty="0"/>
          </a:p>
          <a:p>
            <a:r>
              <a:rPr dirty="0"/>
              <a:t>The thesis therefore treats it as an efficiency-related planning measure</a:t>
            </a:r>
          </a:p>
          <a:p>
            <a:r>
              <a:rPr dirty="0"/>
              <a:t>rather than a direct hardware-cost measurement.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experiments were designed as controlled comparisons.</a:t>
            </a:r>
          </a:p>
          <a:p>
            <a:endParaRPr/>
          </a:p>
          <a:p>
            <a:r>
              <a:t>For a given comparison, the simulator, action space, validation layer,</a:t>
            </a:r>
          </a:p>
          <a:p>
            <a:r>
              <a:t>scenarios, local inference setup and metrics remain fixed.</a:t>
            </a:r>
          </a:p>
          <a:p>
            <a:endParaRPr/>
          </a:p>
          <a:p>
            <a:r>
              <a:t>The factors that change are the model, planning architecture, prompt</a:t>
            </a:r>
          </a:p>
          <a:p>
            <a:r>
              <a:t>configuration and, in the supplementary experiment, the objective.</a:t>
            </a:r>
          </a:p>
          <a:p>
            <a:endParaRPr/>
          </a:p>
          <a:p>
            <a:r>
              <a:t>The simulator seed is recorded for reproducibility.</a:t>
            </a:r>
          </a:p>
          <a:p>
            <a:endParaRPr/>
          </a:p>
          <a:p>
            <a:r>
              <a:t>A run continues until either all 20 requested shelves are delivered or</a:t>
            </a:r>
          </a:p>
          <a:p>
            <a:r>
              <a:t>the simulator reaches 500 consecutive steps without a delivery.</a:t>
            </a:r>
          </a:p>
          <a:p>
            <a:endParaRPr/>
          </a:p>
          <a:p>
            <a:r>
              <a:t>This gives a consistent stopping condition while allowing difficult</a:t>
            </a:r>
          </a:p>
          <a:p>
            <a:r>
              <a:t>scenarios some time to recover.</a:t>
            </a:r>
          </a:p>
          <a:p>
            <a:endParaRPr/>
          </a:p>
          <a:p>
            <a:r>
              <a:t>The resulting runs contain both the task outcome and diagnostic</a:t>
            </a:r>
          </a:p>
          <a:p>
            <a:r>
              <a:t>information such as LLM calls, invalid actions, generation failures and</a:t>
            </a:r>
          </a:p>
          <a:p>
            <a:r>
              <a:t>elapsed time.</a:t>
            </a:r>
          </a:p>
          <a:p>
            <a:endParaRPr/>
          </a:p>
          <a:p>
            <a:r>
              <a:t>Repeated configurations are averaged before the matched comparisons are</a:t>
            </a:r>
          </a:p>
          <a:p>
            <a:r>
              <a:t>performed.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will now move to the results.</a:t>
            </a:r>
          </a:p>
          <a:p>
            <a:endParaRPr/>
          </a:p>
          <a:p>
            <a:r>
              <a:t>I will discuss them in the same order as the research questions.</a:t>
            </a:r>
          </a:p>
          <a:p>
            <a:endParaRPr/>
          </a:p>
          <a:p>
            <a:r>
              <a:t>For each question, I will first show what the experiment measured, then</a:t>
            </a:r>
          </a:p>
          <a:p>
            <a:r>
              <a:t>the observed result, and finally what I believe the result means.</a:t>
            </a:r>
          </a:p>
          <a:p>
            <a:endParaRPr/>
          </a:p>
          <a:p>
            <a:r>
              <a:t>This distinction is important.</a:t>
            </a:r>
          </a:p>
          <a:p>
            <a:endParaRPr/>
          </a:p>
          <a:p>
            <a:r>
              <a:t>The result is what the data show.</a:t>
            </a:r>
          </a:p>
          <a:p>
            <a:endParaRPr/>
          </a:p>
          <a:p>
            <a:r>
              <a:t>The interpretation is what we can reasonably infer from that</a:t>
            </a:r>
          </a:p>
          <a:p>
            <a:r>
              <a:t>observation.</a:t>
            </a:r>
          </a:p>
          <a:p>
            <a:endParaRPr/>
          </a:p>
          <a:p>
            <a:r>
              <a:t>So I will start with model choice.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question was whether collaborative performance increases</a:t>
            </a:r>
          </a:p>
          <a:p>
            <a:r>
              <a:t>consistently with nominal model size.</a:t>
            </a:r>
          </a:p>
          <a:p>
            <a:endParaRPr/>
          </a:p>
          <a:p>
            <a:r>
              <a:t>The short answer is:</a:t>
            </a:r>
          </a:p>
          <a:p>
            <a:endParaRPr/>
          </a:p>
          <a:p>
            <a:r>
              <a:t>No.</a:t>
            </a:r>
          </a:p>
          <a:p>
            <a:endParaRPr/>
          </a:p>
          <a:p>
            <a:r>
              <a:t>There was no consistent increase in collaborative task performance as</a:t>
            </a:r>
          </a:p>
          <a:p>
            <a:r>
              <a:t>nominal parameter size increased.</a:t>
            </a:r>
          </a:p>
          <a:p>
            <a:endParaRPr/>
          </a:p>
          <a:p>
            <a:r>
              <a:t>Among the matched model comparison, Llama 3.2 3B produced the highest</a:t>
            </a:r>
          </a:p>
          <a:p>
            <a:r>
              <a:t>mean delivery count.</a:t>
            </a:r>
          </a:p>
          <a:p>
            <a:endParaRPr/>
          </a:p>
          <a:p>
            <a:r>
              <a:t>Phi-4 produced the highest call-normalised delivery value.</a:t>
            </a:r>
          </a:p>
          <a:p>
            <a:endParaRPr/>
          </a:p>
          <a:p>
            <a:r>
              <a:t>The larger Gemma 3 12B and Qwen 2.5 14B models did not consistently</a:t>
            </a:r>
          </a:p>
          <a:p>
            <a:r>
              <a:t>outperform the smaller models.</a:t>
            </a:r>
          </a:p>
          <a:p>
            <a:endParaRPr/>
          </a:p>
          <a:p>
            <a:r>
              <a:t>So if I simply ordered the models from one billion to fourteen billion</a:t>
            </a:r>
          </a:p>
          <a:p>
            <a:r>
              <a:t>parameters, I would not see a steadily increasing performance curve.</a:t>
            </a:r>
          </a:p>
          <a:p>
            <a:endParaRPr/>
          </a:p>
          <a:p>
            <a:r>
              <a:t>That is the main finding for RQ1.</a:t>
            </a:r>
          </a:p>
          <a:p>
            <a:endParaRPr/>
          </a:p>
          <a:p>
            <a:r>
              <a:t>The important point is that this does not mean that larger models are</a:t>
            </a:r>
          </a:p>
          <a:p>
            <a:r>
              <a:t>inherently worse.</a:t>
            </a:r>
          </a:p>
          <a:p>
            <a:endParaRPr/>
          </a:p>
          <a:p>
            <a:r>
              <a:t>The experiment contains different model families, different training</a:t>
            </a:r>
          </a:p>
          <a:p>
            <a:r>
              <a:t>procedures and different model artefacts.</a:t>
            </a:r>
          </a:p>
          <a:p>
            <a:endParaRPr/>
          </a:p>
          <a:p>
            <a:r>
              <a:t>Therefore, the correct conclusion is more limited:</a:t>
            </a:r>
          </a:p>
          <a:p>
            <a:endParaRPr/>
          </a:p>
          <a:p>
            <a:r>
              <a:t>Among the selected model configurations, nominal parameter size alone</a:t>
            </a:r>
          </a:p>
          <a:p>
            <a:r>
              <a:t>did not predict collaborative task performance.</a:t>
            </a:r>
          </a:p>
          <a:p>
            <a:endParaRPr/>
          </a:p>
          <a:p>
            <a:r>
              <a:t>The same models were compared over the same balanced set of</a:t>
            </a:r>
          </a:p>
          <a:p>
            <a:r>
              <a:t>natural-language and JSON configurations, which supports this conclusion</a:t>
            </a:r>
          </a:p>
          <a:p>
            <a:r>
              <a:t>at the level of the selected model artefacts.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rq1_matched_model_performance.png.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are two interesting implications here.</a:t>
            </a:r>
          </a:p>
          <a:p>
            <a:endParaRPr/>
          </a:p>
          <a:p>
            <a:r>
              <a:t>First, increasing model size is not automatically the best engineering</a:t>
            </a:r>
          </a:p>
          <a:p>
            <a:r>
              <a:t>strategy for this particular task.</a:t>
            </a:r>
          </a:p>
          <a:p>
            <a:endParaRPr/>
          </a:p>
          <a:p>
            <a:r>
              <a:t>A smaller locally deployable model can achieve competitive task</a:t>
            </a:r>
          </a:p>
          <a:p>
            <a:r>
              <a:t>performance.</a:t>
            </a:r>
          </a:p>
          <a:p>
            <a:endParaRPr/>
          </a:p>
          <a:p>
            <a:r>
              <a:t>That matters in robotics because local deployment has constraints.</a:t>
            </a:r>
          </a:p>
          <a:p>
            <a:endParaRPr/>
          </a:p>
          <a:p>
            <a:r>
              <a:t>Memory, inference time and compute resources matter.</a:t>
            </a:r>
          </a:p>
          <a:p>
            <a:endParaRPr/>
          </a:p>
          <a:p>
            <a:r>
              <a:t>However, I did not directly measure energy or computational cost in the</a:t>
            </a:r>
          </a:p>
          <a:p>
            <a:r>
              <a:t>model comparison.</a:t>
            </a:r>
          </a:p>
          <a:p>
            <a:endParaRPr/>
          </a:p>
          <a:p>
            <a:r>
              <a:t>Therefore, I cannot claim from these experiments that a smaller model is</a:t>
            </a:r>
          </a:p>
          <a:p>
            <a:r>
              <a:t>computationally more efficient.</a:t>
            </a:r>
          </a:p>
          <a:p>
            <a:endParaRPr/>
          </a:p>
          <a:p>
            <a:r>
              <a:t>What I can say is that the smaller models demonstrated competitive task</a:t>
            </a:r>
          </a:p>
          <a:p>
            <a:r>
              <a:t>performance despite their lower nominal parameter counts.</a:t>
            </a:r>
          </a:p>
          <a:p>
            <a:endParaRPr/>
          </a:p>
          <a:p>
            <a:r>
              <a:t>Second, the results suggest that model family and the surrounding system</a:t>
            </a:r>
          </a:p>
          <a:p>
            <a:r>
              <a:t>may matter as much as nominal scale.</a:t>
            </a:r>
          </a:p>
          <a:p>
            <a:endParaRPr/>
          </a:p>
          <a:p>
            <a:r>
              <a:t>The performance ranking changes depending on what is being measured.</a:t>
            </a:r>
          </a:p>
          <a:p>
            <a:endParaRPr/>
          </a:p>
          <a:p>
            <a:r>
              <a:t>Llama 3B has the strongest mean delivery result, while Phi-4 has the</a:t>
            </a:r>
          </a:p>
          <a:p>
            <a:r>
              <a:t>strongest call-normalised result.</a:t>
            </a:r>
          </a:p>
          <a:p>
            <a:endParaRPr/>
          </a:p>
          <a:p>
            <a:r>
              <a:t>So there is not a single universal ranking.</a:t>
            </a:r>
          </a:p>
          <a:p>
            <a:endParaRPr/>
          </a:p>
          <a:p>
            <a:r>
              <a:t>This leads to an important interpretation:</a:t>
            </a:r>
          </a:p>
          <a:p>
            <a:endParaRPr/>
          </a:p>
          <a:p>
            <a:r>
              <a:t>Model selection for a grounded robotic planner should not be based on</a:t>
            </a:r>
          </a:p>
          <a:p>
            <a:r>
              <a:t>parameter count alone.</a:t>
            </a:r>
          </a:p>
          <a:p>
            <a:endParaRPr/>
          </a:p>
          <a:p>
            <a:r>
              <a:t>The model has to be considered together with the task, the prompt, the</a:t>
            </a:r>
          </a:p>
          <a:p>
            <a:r>
              <a:t>planning architecture and the resource constraints.</a:t>
            </a:r>
          </a:p>
          <a:p>
            <a:endParaRPr/>
          </a:p>
          <a:p>
            <a:r>
              <a:t>That is the answer I take from RQ1.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second research question concerns how planning responsibility should</a:t>
            </a:r>
          </a:p>
          <a:p>
            <a:r>
              <a:t>be distributed.</a:t>
            </a:r>
          </a:p>
          <a:p>
            <a:endParaRPr/>
          </a:p>
          <a:p>
            <a:r>
              <a:t>Here the result is clearer.</a:t>
            </a:r>
          </a:p>
          <a:p>
            <a:endParaRPr/>
          </a:p>
          <a:p>
            <a:r>
              <a:t>Across all six scenario groups, the shared-context architecture produced</a:t>
            </a:r>
          </a:p>
          <a:p>
            <a:r>
              <a:t>higher mean deliveries than the centralised architecture.</a:t>
            </a:r>
          </a:p>
          <a:p>
            <a:endParaRPr/>
          </a:p>
          <a:p>
            <a:r>
              <a:t>And this was also true for five of the six selected models.</a:t>
            </a:r>
          </a:p>
          <a:p>
            <a:endParaRPr/>
          </a:p>
          <a:p>
            <a:r>
              <a:t>The exception was Qwen, for which centralised planning eventually</a:t>
            </a:r>
          </a:p>
          <a:p>
            <a:r>
              <a:t>produced higher delivery performance.</a:t>
            </a:r>
          </a:p>
          <a:p>
            <a:endParaRPr/>
          </a:p>
          <a:p>
            <a:r>
              <a:t>So the broad pattern is:</a:t>
            </a:r>
          </a:p>
          <a:p>
            <a:endParaRPr/>
          </a:p>
          <a:p>
            <a:r>
              <a:t>Shared-context planning gives better task performance in the tested</a:t>
            </a:r>
          </a:p>
          <a:p>
            <a:r>
              <a:t>configurations.</a:t>
            </a:r>
          </a:p>
          <a:p>
            <a:endParaRPr/>
          </a:p>
          <a:p>
            <a:r>
              <a:t>But there is a corresponding trade-off.</a:t>
            </a:r>
          </a:p>
          <a:p>
            <a:endParaRPr/>
          </a:p>
          <a:p>
            <a:r>
              <a:t>Centralised planning uses fewer LLM calls.</a:t>
            </a:r>
          </a:p>
          <a:p>
            <a:endParaRPr/>
          </a:p>
          <a:p>
            <a:r>
              <a:t>This is expected from the architecture itself.</a:t>
            </a:r>
          </a:p>
          <a:p>
            <a:endParaRPr/>
          </a:p>
          <a:p>
            <a:r>
              <a:t>One centralised call can produce decisions for multiple agents.</a:t>
            </a:r>
          </a:p>
          <a:p>
            <a:endParaRPr/>
          </a:p>
          <a:p>
            <a:r>
              <a:t>Shared-context planning needs one model interaction per agent that</a:t>
            </a:r>
          </a:p>
          <a:p>
            <a:r>
              <a:t>requires a decision.</a:t>
            </a:r>
          </a:p>
          <a:p>
            <a:endParaRPr/>
          </a:p>
          <a:p>
            <a:r>
              <a:t>So we have a genuine trade-off:</a:t>
            </a:r>
          </a:p>
          <a:p>
            <a:endParaRPr/>
          </a:p>
          <a:p>
            <a:r>
              <a:t>Shared context: more deliveries, more model interactions.</a:t>
            </a:r>
          </a:p>
          <a:p>
            <a:endParaRPr/>
          </a:p>
          <a:p>
            <a:r>
              <a:t>Centralised: fewer model interactions, lower delivery performance in</a:t>
            </a:r>
          </a:p>
          <a:p>
            <a:r>
              <a:t>most tested configurations.</a:t>
            </a:r>
          </a:p>
          <a:p>
            <a:endParaRPr/>
          </a:p>
          <a:p>
            <a:r>
              <a:t>The thesis reports this pattern across all six scenario groups.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rq2_architecture_by_scenario.png.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next question is why this might be happening.</a:t>
            </a:r>
          </a:p>
          <a:p>
            <a:endParaRPr/>
          </a:p>
          <a:p>
            <a:r>
              <a:t>I would be careful here, because the experiment demonstrates the</a:t>
            </a:r>
          </a:p>
          <a:p>
            <a:r>
              <a:t>difference but does not directly prove the mechanism.</a:t>
            </a:r>
          </a:p>
          <a:p>
            <a:endParaRPr/>
          </a:p>
          <a:p>
            <a:r>
              <a:t>One plausible explanation is the complexity of the output problem.</a:t>
            </a:r>
          </a:p>
          <a:p>
            <a:endParaRPr/>
          </a:p>
          <a:p>
            <a:r>
              <a:t>In the centralised architecture, the model has to generate a mutually</a:t>
            </a:r>
          </a:p>
          <a:p>
            <a:r>
              <a:t>compatible set of actions for several agents in a single response.</a:t>
            </a:r>
          </a:p>
          <a:p>
            <a:endParaRPr/>
          </a:p>
          <a:p>
            <a:r>
              <a:t>That means the output space and the coordination problem become more</a:t>
            </a:r>
          </a:p>
          <a:p>
            <a:r>
              <a:t>complex.</a:t>
            </a:r>
          </a:p>
          <a:p>
            <a:endParaRPr/>
          </a:p>
          <a:p>
            <a:r>
              <a:t>In the shared-context architecture, each query only has to produce one</a:t>
            </a:r>
          </a:p>
          <a:p>
            <a:r>
              <a:t>agent’s action.</a:t>
            </a:r>
          </a:p>
          <a:p>
            <a:endParaRPr/>
          </a:p>
          <a:p>
            <a:r>
              <a:t>The model can therefore focus on one local decision while still seeing</a:t>
            </a:r>
          </a:p>
          <a:p>
            <a:r>
              <a:t>relevant shared information.</a:t>
            </a:r>
          </a:p>
          <a:p>
            <a:endParaRPr/>
          </a:p>
          <a:p>
            <a:r>
              <a:t>So the architecture changes the cognitive structure of the problem</a:t>
            </a:r>
          </a:p>
          <a:p>
            <a:r>
              <a:t>presented to the model.</a:t>
            </a:r>
          </a:p>
          <a:p>
            <a:endParaRPr/>
          </a:p>
          <a:p>
            <a:r>
              <a:t>There is also another interesting observation.</a:t>
            </a:r>
          </a:p>
          <a:p>
            <a:endParaRPr/>
          </a:p>
          <a:p>
            <a:r>
              <a:t>The difference between the two architectures tends to narrow for some of</a:t>
            </a:r>
          </a:p>
          <a:p>
            <a:r>
              <a:t>the larger models, and Qwen eventually reverses the trend.</a:t>
            </a:r>
          </a:p>
          <a:p>
            <a:endParaRPr/>
          </a:p>
          <a:p>
            <a:r>
              <a:t>This means that the architecture effect is not completely independent of</a:t>
            </a:r>
          </a:p>
          <a:p>
            <a:r>
              <a:t>the model.</a:t>
            </a:r>
          </a:p>
          <a:p>
            <a:endParaRPr/>
          </a:p>
          <a:p>
            <a:r>
              <a:t>Therefore, I would not conclude:</a:t>
            </a:r>
          </a:p>
          <a:p>
            <a:endParaRPr/>
          </a:p>
          <a:p>
            <a:r>
              <a:t>“Shared-context is always better.”</a:t>
            </a:r>
          </a:p>
          <a:p>
            <a:endParaRPr/>
          </a:p>
          <a:p>
            <a:r>
              <a:t>The more precise conclusion is:</a:t>
            </a:r>
          </a:p>
          <a:p>
            <a:endParaRPr/>
          </a:p>
          <a:p>
            <a:r>
              <a:t>Within this experimental setting, shared-context planning generally</a:t>
            </a:r>
          </a:p>
          <a:p>
            <a:r>
              <a:t>produced better collaborative task performance, while centralised</a:t>
            </a:r>
          </a:p>
          <a:p>
            <a:r>
              <a:t>planning required fewer LLM interactions.</a:t>
            </a:r>
          </a:p>
          <a:p>
            <a:endParaRPr/>
          </a:p>
          <a:p>
            <a:r>
              <a:t>And the model-dependent differences show that the two factors interact.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rq2_architecture_by_model.png.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third question was whether the representation used to communicate</a:t>
            </a:r>
          </a:p>
          <a:p>
            <a:r>
              <a:t>the environment state affects collaborative performance.</a:t>
            </a:r>
          </a:p>
          <a:p>
            <a:endParaRPr/>
          </a:p>
          <a:p>
            <a:r>
              <a:t>Here the result was the most consistent of the three research questions.</a:t>
            </a:r>
          </a:p>
          <a:p>
            <a:endParaRPr/>
          </a:p>
          <a:p>
            <a:r>
              <a:t>Natural-language prompting produced higher mean deliveries than the</a:t>
            </a:r>
          </a:p>
          <a:p>
            <a:r>
              <a:t>tested JSON configuration in all six scenario groups.</a:t>
            </a:r>
          </a:p>
          <a:p>
            <a:endParaRPr/>
          </a:p>
          <a:p>
            <a:r>
              <a:t>It also produced higher deliveries per 1,000 LLM calls in all six</a:t>
            </a:r>
          </a:p>
          <a:p>
            <a:r>
              <a:t>scenario groups.</a:t>
            </a:r>
          </a:p>
          <a:p>
            <a:endParaRPr/>
          </a:p>
          <a:p>
            <a:r>
              <a:t>When grouping the results by model, natural language was better for five</a:t>
            </a:r>
          </a:p>
          <a:p>
            <a:r>
              <a:t>of the six models.</a:t>
            </a:r>
          </a:p>
          <a:p>
            <a:endParaRPr/>
          </a:p>
          <a:p>
            <a:r>
              <a:t>The exception was Phi-4.</a:t>
            </a:r>
          </a:p>
          <a:p>
            <a:endParaRPr/>
          </a:p>
          <a:p>
            <a:r>
              <a:t>For Phi-4, the JSON configuration produced a small advantage on both</a:t>
            </a:r>
          </a:p>
          <a:p>
            <a:r>
              <a:t>measures.</a:t>
            </a:r>
          </a:p>
          <a:p>
            <a:endParaRPr/>
          </a:p>
          <a:p>
            <a:r>
              <a:t>So again, the result is strong overall, but it is not universal.</a:t>
            </a:r>
          </a:p>
          <a:p>
            <a:endParaRPr/>
          </a:p>
          <a:p>
            <a:r>
              <a:t>The important observation is that the same underlying environment was</a:t>
            </a:r>
          </a:p>
          <a:p>
            <a:r>
              <a:t>being described.</a:t>
            </a:r>
          </a:p>
          <a:p>
            <a:endParaRPr/>
          </a:p>
          <a:p>
            <a:r>
              <a:t>The difference was in the complete prompt configuration.</a:t>
            </a:r>
          </a:p>
          <a:p>
            <a:endParaRPr/>
          </a:p>
          <a:p>
            <a:r>
              <a:t>Therefore, the tested natural-language configuration was more effective</a:t>
            </a:r>
          </a:p>
          <a:p>
            <a:r>
              <a:t>overall than the tested JSON configuration.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rq3_prompt_by_scenario.png.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third question was whether the representation used to communicate</a:t>
            </a:r>
          </a:p>
          <a:p>
            <a:r>
              <a:t>the environment state affects collaborative performance.</a:t>
            </a:r>
          </a:p>
          <a:p>
            <a:endParaRPr/>
          </a:p>
          <a:p>
            <a:r>
              <a:t>Here the result was the most consistent of the three research questions.</a:t>
            </a:r>
          </a:p>
          <a:p>
            <a:endParaRPr/>
          </a:p>
          <a:p>
            <a:r>
              <a:t>Natural-language prompting produced higher mean deliveries than the</a:t>
            </a:r>
          </a:p>
          <a:p>
            <a:r>
              <a:t>tested JSON configuration in all six scenario groups.</a:t>
            </a:r>
          </a:p>
          <a:p>
            <a:endParaRPr/>
          </a:p>
          <a:p>
            <a:r>
              <a:t>It also produced higher deliveries per 1,000 LLM calls in all six</a:t>
            </a:r>
          </a:p>
          <a:p>
            <a:r>
              <a:t>scenario groups.</a:t>
            </a:r>
          </a:p>
          <a:p>
            <a:endParaRPr/>
          </a:p>
          <a:p>
            <a:r>
              <a:t>When grouping the results by model, natural language was better for five</a:t>
            </a:r>
          </a:p>
          <a:p>
            <a:r>
              <a:t>of the six models.</a:t>
            </a:r>
          </a:p>
          <a:p>
            <a:endParaRPr/>
          </a:p>
          <a:p>
            <a:r>
              <a:t>The exception was Phi-4.</a:t>
            </a:r>
          </a:p>
          <a:p>
            <a:endParaRPr/>
          </a:p>
          <a:p>
            <a:r>
              <a:t>For Phi-4, the JSON configuration produced a small advantage on both</a:t>
            </a:r>
          </a:p>
          <a:p>
            <a:r>
              <a:t>measures.</a:t>
            </a:r>
          </a:p>
          <a:p>
            <a:endParaRPr/>
          </a:p>
          <a:p>
            <a:r>
              <a:t>So again, the result is strong overall, but it is not universal.</a:t>
            </a:r>
          </a:p>
          <a:p>
            <a:endParaRPr/>
          </a:p>
          <a:p>
            <a:r>
              <a:t>The important observation is that the same underlying environment was</a:t>
            </a:r>
          </a:p>
          <a:p>
            <a:r>
              <a:t>being described.</a:t>
            </a:r>
          </a:p>
          <a:p>
            <a:endParaRPr/>
          </a:p>
          <a:p>
            <a:r>
              <a:t>The difference was in the complete prompt configuration.</a:t>
            </a:r>
          </a:p>
          <a:p>
            <a:endParaRPr/>
          </a:p>
          <a:p>
            <a:r>
              <a:t>Therefore, the tested natural-language configuration was more effective</a:t>
            </a:r>
          </a:p>
          <a:p>
            <a:r>
              <a:t>overall than the tested JSON configuration.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rq3_prompt_by_architecture.png.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are several possible interpretations.</a:t>
            </a:r>
          </a:p>
          <a:p>
            <a:endParaRPr/>
          </a:p>
          <a:p>
            <a:r>
              <a:t>One possibility is that the descriptive representation made</a:t>
            </a:r>
          </a:p>
          <a:p>
            <a:r>
              <a:t>relationships between agents, targets and constraints easier for the</a:t>
            </a:r>
          </a:p>
          <a:p>
            <a:r>
              <a:t>model to interpret.</a:t>
            </a:r>
          </a:p>
          <a:p>
            <a:endParaRPr/>
          </a:p>
          <a:p>
            <a:r>
              <a:t>The natural-language prompt was organised into semantic sections.</a:t>
            </a:r>
          </a:p>
          <a:p>
            <a:endParaRPr/>
          </a:p>
          <a:p>
            <a:r>
              <a:t>For example, it explicitly described the current agent, shared context,</a:t>
            </a:r>
          </a:p>
          <a:p>
            <a:r>
              <a:t>candidate actions and coordination requirements.</a:t>
            </a:r>
          </a:p>
          <a:p>
            <a:endParaRPr/>
          </a:p>
          <a:p>
            <a:r>
              <a:t>This is closer to the instruction-following format that language models</a:t>
            </a:r>
          </a:p>
          <a:p>
            <a:r>
              <a:t>are commonly used with.</a:t>
            </a:r>
          </a:p>
          <a:p>
            <a:endParaRPr/>
          </a:p>
          <a:p>
            <a:r>
              <a:t>However, there is an important limitation in how we interpret this</a:t>
            </a:r>
          </a:p>
          <a:p>
            <a:r>
              <a:t>result.</a:t>
            </a:r>
          </a:p>
          <a:p>
            <a:endParaRPr/>
          </a:p>
          <a:p>
            <a:r>
              <a:t>The JSON configuration did not only change the input representation.</a:t>
            </a:r>
          </a:p>
          <a:p>
            <a:endParaRPr/>
          </a:p>
          <a:p>
            <a:r>
              <a:t>It also used a structured output format.</a:t>
            </a:r>
          </a:p>
          <a:p>
            <a:endParaRPr/>
          </a:p>
          <a:p>
            <a:r>
              <a:t>Therefore, this experiment does not allow me to say:</a:t>
            </a:r>
          </a:p>
          <a:p>
            <a:endParaRPr/>
          </a:p>
          <a:p>
            <a:r>
              <a:t>“Natural language input is inherently better than JSON input.”</a:t>
            </a:r>
          </a:p>
          <a:p>
            <a:endParaRPr/>
          </a:p>
          <a:p>
            <a:r>
              <a:t>The correct statement is:</a:t>
            </a:r>
          </a:p>
          <a:p>
            <a:endParaRPr/>
          </a:p>
          <a:p>
            <a:r>
              <a:t>The tested complete natural-language prompt configuration outperformed</a:t>
            </a:r>
          </a:p>
          <a:p>
            <a:r>
              <a:t>the tested complete JSON configuration.</a:t>
            </a:r>
          </a:p>
          <a:p>
            <a:endParaRPr/>
          </a:p>
          <a:p>
            <a:r>
              <a:t>This is an important distinction.</a:t>
            </a:r>
          </a:p>
          <a:p>
            <a:endParaRPr/>
          </a:p>
          <a:p>
            <a:r>
              <a:t>The result tells us that, for this particular system design, the</a:t>
            </a:r>
          </a:p>
          <a:p>
            <a:r>
              <a:t>additional transformation into descriptive language was beneficial.</a:t>
            </a:r>
          </a:p>
          <a:p>
            <a:endParaRPr/>
          </a:p>
          <a:p>
            <a:r>
              <a:t>It does not isolate which individual component of the prompt</a:t>
            </a:r>
          </a:p>
          <a:p>
            <a:r>
              <a:t>configuration caused the difference.</a:t>
            </a:r>
          </a:p>
          <a:p>
            <a:endParaRPr/>
          </a:p>
          <a:p>
            <a:r>
              <a:t>The Phi-4 exception also shows that the effect is model-dependent.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rq3_prompt_by_model.png.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addition to the three main research questions, I also investigated</a:t>
            </a:r>
          </a:p>
          <a:p>
            <a:r>
              <a:t>whether the models adapted their behaviour when the stated objective was</a:t>
            </a:r>
          </a:p>
          <a:p>
            <a:r>
              <a:t>changed.</a:t>
            </a:r>
          </a:p>
          <a:p>
            <a:endParaRPr/>
          </a:p>
          <a:p>
            <a:r>
              <a:t>There were three objective families.</a:t>
            </a:r>
          </a:p>
          <a:p>
            <a:endParaRPr/>
          </a:p>
          <a:p>
            <a:r>
              <a:t>One focused on reducing LLM calls while still making progress.</a:t>
            </a:r>
          </a:p>
          <a:p>
            <a:endParaRPr/>
          </a:p>
          <a:p>
            <a:r>
              <a:t>One focused on battery and shelf delivery.</a:t>
            </a:r>
          </a:p>
          <a:p>
            <a:endParaRPr/>
          </a:p>
          <a:p>
            <a:r>
              <a:t>And one focused primarily on battery management.</a:t>
            </a:r>
          </a:p>
          <a:p>
            <a:endParaRPr/>
          </a:p>
          <a:p>
            <a:r>
              <a:t>The aggregate results were:</a:t>
            </a:r>
          </a:p>
          <a:p>
            <a:endParaRPr/>
          </a:p>
          <a:p>
            <a:r>
              <a:t>for the Calls objective, approximately 1,268 mean calls and 6.82 mean</a:t>
            </a:r>
          </a:p>
          <a:p>
            <a:r>
              <a:t>deliveries;</a:t>
            </a:r>
          </a:p>
          <a:p>
            <a:endParaRPr/>
          </a:p>
          <a:p>
            <a:r>
              <a:t>for Battery plus Shelf, approximately 1,272 calls and 7.48 deliveries;</a:t>
            </a:r>
          </a:p>
          <a:p>
            <a:endParaRPr/>
          </a:p>
          <a:p>
            <a:r>
              <a:t>and for Battery, approximately 1,242 calls and 6.51 deliveries.</a:t>
            </a:r>
          </a:p>
          <a:p>
            <a:endParaRPr/>
          </a:p>
          <a:p>
            <a:r>
              <a:t>The important result is that the models did not consistently adapt their</a:t>
            </a:r>
          </a:p>
          <a:p>
            <a:r>
              <a:t>behaviour to the call-reduction objective.</a:t>
            </a:r>
          </a:p>
          <a:p>
            <a:endParaRPr/>
          </a:p>
          <a:p>
            <a:r>
              <a:t>Four models reduced their mean calls under the Calls objective, but two</a:t>
            </a:r>
          </a:p>
          <a:p>
            <a:r>
              <a:t>models actually increased them.</a:t>
            </a:r>
          </a:p>
          <a:p>
            <a:endParaRPr/>
          </a:p>
          <a:p>
            <a:r>
              <a:t>So the response to the objective was model-dependent.</a:t>
            </a:r>
          </a:p>
          <a:p>
            <a:endParaRPr/>
          </a:p>
          <a:p>
            <a:r>
              <a:t>Similarly, the battery-related indicators showed relatively small and</a:t>
            </a:r>
          </a:p>
          <a:p>
            <a:r>
              <a:t>mixed differences.</a:t>
            </a:r>
          </a:p>
          <a:p>
            <a:endParaRPr/>
          </a:p>
          <a:p>
            <a:r>
              <a:t>Therefore, I treat this as evidence of limited objective sensitivity,</a:t>
            </a:r>
          </a:p>
          <a:p>
            <a:r>
              <a:t>rather than strong evidence that the models reliably optimise whatever</a:t>
            </a:r>
          </a:p>
          <a:p>
            <a:r>
              <a:t>objective is placed in the prompt.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supplementary_call_objective_response.png.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addition to the three main research questions, I also investigated</a:t>
            </a:r>
          </a:p>
          <a:p>
            <a:r>
              <a:t>whether the models adapted their behaviour when the stated objective was</a:t>
            </a:r>
          </a:p>
          <a:p>
            <a:r>
              <a:t>changed.</a:t>
            </a:r>
          </a:p>
          <a:p>
            <a:endParaRPr/>
          </a:p>
          <a:p>
            <a:r>
              <a:t>There were three objective families.</a:t>
            </a:r>
          </a:p>
          <a:p>
            <a:endParaRPr/>
          </a:p>
          <a:p>
            <a:r>
              <a:t>One focused on reducing LLM calls while still making progress.</a:t>
            </a:r>
          </a:p>
          <a:p>
            <a:endParaRPr/>
          </a:p>
          <a:p>
            <a:r>
              <a:t>One focused on battery and shelf delivery.</a:t>
            </a:r>
          </a:p>
          <a:p>
            <a:endParaRPr/>
          </a:p>
          <a:p>
            <a:r>
              <a:t>And one focused primarily on battery management.</a:t>
            </a:r>
          </a:p>
          <a:p>
            <a:endParaRPr/>
          </a:p>
          <a:p>
            <a:r>
              <a:t>The aggregate results were:</a:t>
            </a:r>
          </a:p>
          <a:p>
            <a:endParaRPr/>
          </a:p>
          <a:p>
            <a:r>
              <a:t>for the Calls objective, approximately 1,268 mean calls and 6.82 mean</a:t>
            </a:r>
          </a:p>
          <a:p>
            <a:r>
              <a:t>deliveries;</a:t>
            </a:r>
          </a:p>
          <a:p>
            <a:endParaRPr/>
          </a:p>
          <a:p>
            <a:r>
              <a:t>for Battery plus Shelf, approximately 1,272 calls and 7.48 deliveries;</a:t>
            </a:r>
          </a:p>
          <a:p>
            <a:endParaRPr/>
          </a:p>
          <a:p>
            <a:r>
              <a:t>and for Battery, approximately 1,242 calls and 6.51 deliveries.</a:t>
            </a:r>
          </a:p>
          <a:p>
            <a:endParaRPr/>
          </a:p>
          <a:p>
            <a:r>
              <a:t>The important result is that the models did not consistently adapt their</a:t>
            </a:r>
          </a:p>
          <a:p>
            <a:r>
              <a:t>behaviour to the call-reduction objective.</a:t>
            </a:r>
          </a:p>
          <a:p>
            <a:endParaRPr/>
          </a:p>
          <a:p>
            <a:r>
              <a:t>Four models reduced their mean calls under the Calls objective, but two</a:t>
            </a:r>
          </a:p>
          <a:p>
            <a:r>
              <a:t>models actually increased them.</a:t>
            </a:r>
          </a:p>
          <a:p>
            <a:endParaRPr/>
          </a:p>
          <a:p>
            <a:r>
              <a:t>So the response to the objective was model-dependent.</a:t>
            </a:r>
          </a:p>
          <a:p>
            <a:endParaRPr/>
          </a:p>
          <a:p>
            <a:r>
              <a:t>Similarly, the battery-related indicators showed relatively small and</a:t>
            </a:r>
          </a:p>
          <a:p>
            <a:r>
              <a:t>mixed differences.</a:t>
            </a:r>
          </a:p>
          <a:p>
            <a:endParaRPr/>
          </a:p>
          <a:p>
            <a:r>
              <a:t>Therefore, I treat this as evidence of limited objective sensitivity,</a:t>
            </a:r>
          </a:p>
          <a:p>
            <a:r>
              <a:t>rather than strong evidence that the models reliably optimise whatever</a:t>
            </a:r>
          </a:p>
          <a:p>
            <a:r>
              <a:t>objective is placed in the prompt.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  <a:p>
            <a:r>
              <a:t>- User-provided thesis result figure: supplementary_battery_productivity.png.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this point, I can return to the three research questions.</a:t>
            </a:r>
          </a:p>
          <a:p>
            <a:endParaRPr/>
          </a:p>
          <a:p>
            <a:r>
              <a:t>For RQ1:</a:t>
            </a:r>
          </a:p>
          <a:p>
            <a:endParaRPr/>
          </a:p>
          <a:p>
            <a:r>
              <a:t>Model choice mattered, but nominal parameter size alone did not predict</a:t>
            </a:r>
          </a:p>
          <a:p>
            <a:r>
              <a:t>performance.</a:t>
            </a:r>
          </a:p>
          <a:p>
            <a:endParaRPr/>
          </a:p>
          <a:p>
            <a:r>
              <a:t>For RQ2:</a:t>
            </a:r>
          </a:p>
          <a:p>
            <a:endParaRPr/>
          </a:p>
          <a:p>
            <a:r>
              <a:t>Shared-context planning generally produced higher delivery performance,</a:t>
            </a:r>
          </a:p>
          <a:p>
            <a:r>
              <a:t>but required more LLM interactions.</a:t>
            </a:r>
          </a:p>
          <a:p>
            <a:endParaRPr/>
          </a:p>
          <a:p>
            <a:r>
              <a:t>For RQ3:</a:t>
            </a:r>
          </a:p>
          <a:p>
            <a:endParaRPr/>
          </a:p>
          <a:p>
            <a:r>
              <a:t>The tested natural-language prompt configuration generally outperformed</a:t>
            </a:r>
          </a:p>
          <a:p>
            <a:r>
              <a:t>the tested JSON configuration.</a:t>
            </a:r>
          </a:p>
          <a:p>
            <a:endParaRPr/>
          </a:p>
          <a:p>
            <a:r>
              <a:t>And across all of these experiments, successful shelf deliveries were</a:t>
            </a:r>
          </a:p>
          <a:p>
            <a:r>
              <a:t>observed.</a:t>
            </a:r>
          </a:p>
          <a:p>
            <a:endParaRPr/>
          </a:p>
          <a:p>
            <a:r>
              <a:t>That means the main research question can be answered positively within</a:t>
            </a:r>
          </a:p>
          <a:p>
            <a:r>
              <a:t>the tested simulator.</a:t>
            </a:r>
          </a:p>
          <a:p>
            <a:endParaRPr/>
          </a:p>
          <a:p>
            <a:r>
              <a:t>Prompted language models were able to produce grounded high-level</a:t>
            </a:r>
          </a:p>
          <a:p>
            <a:r>
              <a:t>decisions that could be validated and executed to complete collaborative</a:t>
            </a:r>
          </a:p>
          <a:p>
            <a:r>
              <a:t>warehouse tasks.</a:t>
            </a:r>
          </a:p>
          <a:p>
            <a:endParaRPr/>
          </a:p>
          <a:p>
            <a:r>
              <a:t>But there is an important qualification.</a:t>
            </a:r>
          </a:p>
          <a:p>
            <a:endParaRPr/>
          </a:p>
          <a:p>
            <a:r>
              <a:t>The thesis demonstrates feasibility.</a:t>
            </a:r>
          </a:p>
          <a:p>
            <a:endParaRPr/>
          </a:p>
          <a:p>
            <a:r>
              <a:t>It does not demonstrate superiority.</a:t>
            </a:r>
          </a:p>
          <a:p>
            <a:endParaRPr/>
          </a:p>
          <a:p>
            <a:r>
              <a:t>There was no non-language-model baseline in the experiment.</a:t>
            </a:r>
          </a:p>
          <a:p>
            <a:endParaRPr/>
          </a:p>
          <a:p>
            <a:r>
              <a:t>Therefore, I cannot claim that LLM-based planning is better than a</a:t>
            </a:r>
          </a:p>
          <a:p>
            <a:r>
              <a:t>conventional planner or a reinforcement-learning approach.</a:t>
            </a:r>
          </a:p>
          <a:p>
            <a:endParaRPr/>
          </a:p>
          <a:p>
            <a:r>
              <a:t>The conclusion is specifically that the approach is feasible within the</a:t>
            </a:r>
          </a:p>
          <a:p>
            <a:r>
              <a:t>tested Battery-TA-RWARE setting.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one broader observation that I think is important beyond the</a:t>
            </a:r>
          </a:p>
          <a:p>
            <a:r>
              <a:t>individual research questions.</a:t>
            </a:r>
          </a:p>
          <a:p>
            <a:endParaRPr/>
          </a:p>
          <a:p>
            <a:r>
              <a:t>It would be tempting to look at these results and say:</a:t>
            </a:r>
          </a:p>
          <a:p>
            <a:endParaRPr/>
          </a:p>
          <a:p>
            <a:r>
              <a:t>“The language model performed well.”</a:t>
            </a:r>
          </a:p>
          <a:p>
            <a:endParaRPr/>
          </a:p>
          <a:p>
            <a:r>
              <a:t>But that is not really what the experiment tested.</a:t>
            </a:r>
          </a:p>
          <a:p>
            <a:endParaRPr/>
          </a:p>
          <a:p>
            <a:r>
              <a:t>The observed behaviour is produced by the entire planning system.</a:t>
            </a:r>
          </a:p>
          <a:p>
            <a:endParaRPr/>
          </a:p>
          <a:p>
            <a:r>
              <a:t>The simulator state is transformed into a prompt.</a:t>
            </a:r>
          </a:p>
          <a:p>
            <a:endParaRPr/>
          </a:p>
          <a:p>
            <a:r>
              <a:t>Candidate actions are shaped.</a:t>
            </a:r>
          </a:p>
          <a:p>
            <a:endParaRPr/>
          </a:p>
          <a:p>
            <a:r>
              <a:t>The language model selects an action.</a:t>
            </a:r>
          </a:p>
          <a:p>
            <a:endParaRPr/>
          </a:p>
          <a:p>
            <a:r>
              <a:t>The response is parsed.</a:t>
            </a:r>
          </a:p>
          <a:p>
            <a:endParaRPr/>
          </a:p>
          <a:p>
            <a:r>
              <a:t>The action is validated.</a:t>
            </a:r>
          </a:p>
          <a:p>
            <a:endParaRPr/>
          </a:p>
          <a:p>
            <a:r>
              <a:t>The environment executes it.</a:t>
            </a:r>
          </a:p>
          <a:p>
            <a:endParaRPr/>
          </a:p>
          <a:p>
            <a:r>
              <a:t>The system decides when replanning is required.</a:t>
            </a:r>
          </a:p>
          <a:p>
            <a:endParaRPr/>
          </a:p>
          <a:p>
            <a:r>
              <a:t>And the resulting state becomes the input for the next decision.</a:t>
            </a:r>
          </a:p>
          <a:p>
            <a:endParaRPr/>
          </a:p>
          <a:p>
            <a:r>
              <a:t>So the behaviour is an interaction between:</a:t>
            </a:r>
          </a:p>
          <a:p>
            <a:endParaRPr/>
          </a:p>
          <a:p>
            <a:r>
              <a:t>the model,</a:t>
            </a:r>
          </a:p>
          <a:p>
            <a:endParaRPr/>
          </a:p>
          <a:p>
            <a:r>
              <a:t>the prompt,</a:t>
            </a:r>
          </a:p>
          <a:p>
            <a:endParaRPr/>
          </a:p>
          <a:p>
            <a:r>
              <a:t>the candidate-action mechanism,</a:t>
            </a:r>
          </a:p>
          <a:p>
            <a:endParaRPr/>
          </a:p>
          <a:p>
            <a:r>
              <a:t>the planning architecture,</a:t>
            </a:r>
          </a:p>
          <a:p>
            <a:endParaRPr/>
          </a:p>
          <a:p>
            <a:r>
              <a:t>the validation layer,</a:t>
            </a:r>
          </a:p>
          <a:p>
            <a:endParaRPr/>
          </a:p>
          <a:p>
            <a:r>
              <a:t>and the environment.</a:t>
            </a:r>
          </a:p>
          <a:p>
            <a:endParaRPr/>
          </a:p>
          <a:p>
            <a:r>
              <a:t>This is why the three research questions produced different effects.</a:t>
            </a:r>
          </a:p>
          <a:p>
            <a:endParaRPr/>
          </a:p>
          <a:p>
            <a:r>
              <a:t>Changing the model changes the behaviour.</a:t>
            </a:r>
          </a:p>
          <a:p>
            <a:endParaRPr/>
          </a:p>
          <a:p>
            <a:r>
              <a:t>Changing the architecture changes the behaviour.</a:t>
            </a:r>
          </a:p>
          <a:p>
            <a:endParaRPr/>
          </a:p>
          <a:p>
            <a:r>
              <a:t>Changing the representation changes the behaviour.</a:t>
            </a:r>
          </a:p>
          <a:p>
            <a:endParaRPr/>
          </a:p>
          <a:p>
            <a:r>
              <a:t>The LLM is therefore not an isolated planner operating independently of</a:t>
            </a:r>
          </a:p>
          <a:p>
            <a:r>
              <a:t>the system.</a:t>
            </a:r>
          </a:p>
          <a:p>
            <a:endParaRPr/>
          </a:p>
          <a:p>
            <a:r>
              <a:t>It is one component of a grounded supervisory planning loop.</a:t>
            </a:r>
          </a:p>
          <a:p>
            <a:endParaRPr/>
          </a:p>
          <a:p>
            <a:r>
              <a:t>This is also why the thesis describes the complete framework rather than</a:t>
            </a:r>
          </a:p>
          <a:p>
            <a:r>
              <a:t>attributing all performance differences directly to the underlying</a:t>
            </a:r>
          </a:p>
          <a:p>
            <a:r>
              <a:t>language model.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also has an engineering implication.</a:t>
            </a:r>
          </a:p>
          <a:p>
            <a:endParaRPr/>
          </a:p>
          <a:p>
            <a:r>
              <a:t>If a language model is used in a robotic system, allowing it to directly</a:t>
            </a:r>
          </a:p>
          <a:p>
            <a:r>
              <a:t>produce unrestricted actions creates an obvious reliability problem.</a:t>
            </a:r>
          </a:p>
          <a:p>
            <a:endParaRPr/>
          </a:p>
          <a:p>
            <a:r>
              <a:t>The model can produce an output that is linguistically reasonable but</a:t>
            </a:r>
          </a:p>
          <a:p>
            <a:r>
              <a:t>physically invalid.</a:t>
            </a:r>
          </a:p>
          <a:p>
            <a:endParaRPr/>
          </a:p>
          <a:p>
            <a:r>
              <a:t>In this thesis, the output is therefore constrained to</a:t>
            </a:r>
          </a:p>
          <a:p>
            <a:r>
              <a:t>environment-defined action identifiers.</a:t>
            </a:r>
          </a:p>
          <a:p>
            <a:endParaRPr/>
          </a:p>
          <a:p>
            <a:r>
              <a:t>The valid-action mask is calculated from the simulator.</a:t>
            </a:r>
          </a:p>
          <a:p>
            <a:endParaRPr/>
          </a:p>
          <a:p>
            <a:r>
              <a:t>Invalid actions are rejected before execution.</a:t>
            </a:r>
          </a:p>
          <a:p>
            <a:endParaRPr/>
          </a:p>
          <a:p>
            <a:r>
              <a:t>There is also fallback handling.</a:t>
            </a:r>
          </a:p>
          <a:p>
            <a:endParaRPr/>
          </a:p>
          <a:p>
            <a:r>
              <a:t>This does not guarantee that the robot will always behave optimally.</a:t>
            </a:r>
          </a:p>
          <a:p>
            <a:endParaRPr/>
          </a:p>
          <a:p>
            <a:r>
              <a:t>A valid action can still be unproductive.</a:t>
            </a:r>
          </a:p>
          <a:p>
            <a:endParaRPr/>
          </a:p>
          <a:p>
            <a:r>
              <a:t>The system can still experience waiting loops, deadlocks, starvation or</a:t>
            </a:r>
          </a:p>
          <a:p>
            <a:r>
              <a:t>battery-related problems.</a:t>
            </a:r>
          </a:p>
          <a:p>
            <a:endParaRPr/>
          </a:p>
          <a:p>
            <a:r>
              <a:t>But the grounding mechanism establishes an important boundary:</a:t>
            </a:r>
          </a:p>
          <a:p>
            <a:endParaRPr/>
          </a:p>
          <a:p>
            <a:r>
              <a:t>The model is not trusted to define what is physically possible.</a:t>
            </a:r>
          </a:p>
          <a:p>
            <a:endParaRPr/>
          </a:p>
          <a:p>
            <a:r>
              <a:t>The environment remains responsible for feasibility.</a:t>
            </a:r>
          </a:p>
          <a:p>
            <a:endParaRPr/>
          </a:p>
          <a:p>
            <a:r>
              <a:t>This distinction becomes particularly important if such a system were</a:t>
            </a:r>
          </a:p>
          <a:p>
            <a:r>
              <a:t>eventually deployed on physical robots.</a:t>
            </a:r>
          </a:p>
          <a:p>
            <a:endParaRPr/>
          </a:p>
          <a:p>
            <a:r>
              <a:t>The thesis therefore treats grounding and validation as an essential</a:t>
            </a:r>
          </a:p>
          <a:p>
            <a:r>
              <a:t>part of the planning architecture, not simply as an implementation</a:t>
            </a:r>
          </a:p>
          <a:p>
            <a:r>
              <a:t>detail.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are several limitations that are important when interpreting these</a:t>
            </a:r>
          </a:p>
          <a:p>
            <a:r>
              <a:t>results.</a:t>
            </a:r>
          </a:p>
          <a:p>
            <a:endParaRPr/>
          </a:p>
          <a:p>
            <a:r>
              <a:t>First, the evaluation is simulation-based.</a:t>
            </a:r>
          </a:p>
          <a:p>
            <a:endParaRPr/>
          </a:p>
          <a:p>
            <a:r>
              <a:t>The robots were not physically deployed.</a:t>
            </a:r>
          </a:p>
          <a:p>
            <a:endParaRPr/>
          </a:p>
          <a:p>
            <a:r>
              <a:t>Therefore, the study does not evaluate physical sensing uncertainty,</a:t>
            </a:r>
          </a:p>
          <a:p>
            <a:r>
              <a:t>hardware failures, communication delays or real-world execution.</a:t>
            </a:r>
          </a:p>
          <a:p>
            <a:endParaRPr/>
          </a:p>
          <a:p>
            <a:r>
              <a:t>Second, the language model receives a symbolic representation of the</a:t>
            </a:r>
          </a:p>
          <a:p>
            <a:r>
              <a:t>simulator state.</a:t>
            </a:r>
          </a:p>
          <a:p>
            <a:endParaRPr/>
          </a:p>
          <a:p>
            <a:r>
              <a:t>It is not interpreting raw camera images or noisy sensor data.</a:t>
            </a:r>
          </a:p>
          <a:p>
            <a:endParaRPr/>
          </a:p>
          <a:p>
            <a:r>
              <a:t>So this is a study of high-level decision-making under a structured</a:t>
            </a:r>
          </a:p>
          <a:p>
            <a:r>
              <a:t>state interface, rather than an end-to-end embodied robotics system.</a:t>
            </a:r>
          </a:p>
          <a:p>
            <a:endParaRPr/>
          </a:p>
          <a:p>
            <a:r>
              <a:t>Third, there is no non-LLM baseline.</a:t>
            </a:r>
          </a:p>
          <a:p>
            <a:endParaRPr/>
          </a:p>
          <a:p>
            <a:r>
              <a:t>Therefore, the results cannot establish that language models outperform</a:t>
            </a:r>
          </a:p>
          <a:p>
            <a:r>
              <a:t>conventional planning or multi-agent reinforcement learning.</a:t>
            </a:r>
          </a:p>
          <a:p>
            <a:endParaRPr/>
          </a:p>
          <a:p>
            <a:r>
              <a:t>Fourth, the number of completed runs and simulator initialisations is</a:t>
            </a:r>
          </a:p>
          <a:p>
            <a:r>
              <a:t>limited.</a:t>
            </a:r>
          </a:p>
          <a:p>
            <a:endParaRPr/>
          </a:p>
          <a:p>
            <a:r>
              <a:t>The results should therefore be interpreted primarily as descriptive</a:t>
            </a:r>
          </a:p>
          <a:p>
            <a:r>
              <a:t>observations rather than as definitive statistical evidence.</a:t>
            </a:r>
          </a:p>
          <a:p>
            <a:endParaRPr/>
          </a:p>
          <a:p>
            <a:r>
              <a:t>Finally, the prompt representation comparison should be interpreted</a:t>
            </a:r>
          </a:p>
          <a:p>
            <a:r>
              <a:t>carefully because the natural-language and JSON configurations differ in</a:t>
            </a:r>
          </a:p>
          <a:p>
            <a:r>
              <a:t>both representation and output format.</a:t>
            </a:r>
          </a:p>
          <a:p>
            <a:endParaRPr/>
          </a:p>
          <a:p>
            <a:r>
              <a:t>These limitations define the boundary of what the thesis can</a:t>
            </a:r>
          </a:p>
          <a:p>
            <a:r>
              <a:t>legitimately conclude.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are several directions in which this work could be extended.</a:t>
            </a:r>
          </a:p>
          <a:p>
            <a:endParaRPr/>
          </a:p>
          <a:p>
            <a:r>
              <a:t>The first is stronger evaluation.</a:t>
            </a:r>
          </a:p>
          <a:p>
            <a:endParaRPr/>
          </a:p>
          <a:p>
            <a:r>
              <a:t>More runs, more simulator initialisations and additional scenarios would</a:t>
            </a:r>
          </a:p>
          <a:p>
            <a:r>
              <a:t>improve the statistical confidence of the comparisons.</a:t>
            </a:r>
          </a:p>
          <a:p>
            <a:endParaRPr/>
          </a:p>
          <a:p>
            <a:r>
              <a:t>A particularly important extension would be to introduce a non-LLM</a:t>
            </a:r>
          </a:p>
          <a:p>
            <a:r>
              <a:t>baseline.</a:t>
            </a:r>
          </a:p>
          <a:p>
            <a:endParaRPr/>
          </a:p>
          <a:p>
            <a:r>
              <a:t>That would allow us to answer a different and stronger question:</a:t>
            </a:r>
          </a:p>
          <a:p>
            <a:endParaRPr/>
          </a:p>
          <a:p>
            <a:r>
              <a:t>Not simply whether an LLM can perform the task,</a:t>
            </a:r>
          </a:p>
          <a:p>
            <a:endParaRPr/>
          </a:p>
          <a:p>
            <a:r>
              <a:t>but whether it provides an advantage over established planning methods.</a:t>
            </a:r>
          </a:p>
          <a:p>
            <a:endParaRPr/>
          </a:p>
          <a:p>
            <a:r>
              <a:t>The second direction is richer interaction with external information.</a:t>
            </a:r>
          </a:p>
          <a:p>
            <a:endParaRPr/>
          </a:p>
          <a:p>
            <a:r>
              <a:t>The current system constructs a prompt directly from simulator state.</a:t>
            </a:r>
          </a:p>
          <a:p>
            <a:endParaRPr/>
          </a:p>
          <a:p>
            <a:r>
              <a:t>A future system could use retrieval-augmented generation or external</a:t>
            </a:r>
          </a:p>
          <a:p>
            <a:r>
              <a:t>tools to provide relevant information when it is needed.</a:t>
            </a:r>
          </a:p>
          <a:p>
            <a:endParaRPr/>
          </a:p>
          <a:p>
            <a:r>
              <a:t>The thesis specifically identifies Model Context Protocol-based tools as</a:t>
            </a:r>
          </a:p>
          <a:p>
            <a:r>
              <a:t>one possible direction.</a:t>
            </a:r>
          </a:p>
          <a:p>
            <a:endParaRPr/>
          </a:p>
          <a:p>
            <a:r>
              <a:t>The third direction is communication.</a:t>
            </a:r>
          </a:p>
          <a:p>
            <a:endParaRPr/>
          </a:p>
          <a:p>
            <a:r>
              <a:t>The shared-context architecture gives agents common information, but</a:t>
            </a:r>
          </a:p>
          <a:p>
            <a:r>
              <a:t>that is not the same as studying communication as a behaviour.</a:t>
            </a:r>
          </a:p>
          <a:p>
            <a:endParaRPr/>
          </a:p>
          <a:p>
            <a:r>
              <a:t>A future system could allow agents to explicitly communicate their local</a:t>
            </a:r>
          </a:p>
          <a:p>
            <a:r>
              <a:t>state, intended actions or requests for assistance.</a:t>
            </a:r>
          </a:p>
          <a:p>
            <a:endParaRPr/>
          </a:p>
          <a:p>
            <a:r>
              <a:t>Then we could investigate questions such as:</a:t>
            </a:r>
          </a:p>
          <a:p>
            <a:endParaRPr/>
          </a:p>
          <a:p>
            <a:r>
              <a:t>What information should be communicated?</a:t>
            </a:r>
          </a:p>
          <a:p>
            <a:endParaRPr/>
          </a:p>
          <a:p>
            <a:r>
              <a:t>When should an agent communicate?</a:t>
            </a:r>
          </a:p>
          <a:p>
            <a:endParaRPr/>
          </a:p>
          <a:p>
            <a:r>
              <a:t>Who should receive the message?</a:t>
            </a:r>
          </a:p>
          <a:p>
            <a:endParaRPr/>
          </a:p>
          <a:p>
            <a:r>
              <a:t>And does communication improve coordination enough to justify its cost?</a:t>
            </a:r>
          </a:p>
          <a:p>
            <a:endParaRPr/>
          </a:p>
          <a:p>
            <a:r>
              <a:t>These would move the research from shared information towards actual</a:t>
            </a:r>
          </a:p>
          <a:p>
            <a:r>
              <a:t>emergent or learned communication between agents.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 I will conclude by returning to the question with which I started.</a:t>
            </a:r>
          </a:p>
          <a:p>
            <a:endParaRPr/>
          </a:p>
          <a:p>
            <a:r>
              <a:t>The thesis asked:</a:t>
            </a:r>
          </a:p>
          <a:p>
            <a:endParaRPr/>
          </a:p>
          <a:p>
            <a:r>
              <a:t>Can prompted language models support grounded high-level decision-making</a:t>
            </a:r>
          </a:p>
          <a:p>
            <a:r>
              <a:t>for heterogeneous multi-robot collaboration in a constrained warehouse</a:t>
            </a:r>
          </a:p>
          <a:p>
            <a:r>
              <a:t>environment?</a:t>
            </a:r>
          </a:p>
          <a:p>
            <a:endParaRPr/>
          </a:p>
          <a:p>
            <a:r>
              <a:t>Within the tested Battery-TA-RWARE environment, the answer is yes.</a:t>
            </a:r>
          </a:p>
          <a:p>
            <a:endParaRPr/>
          </a:p>
          <a:p>
            <a:r>
              <a:t>The language models produced executable high-level decisions that</a:t>
            </a:r>
          </a:p>
          <a:p>
            <a:r>
              <a:t>resulted in successful collaborative shelf deliveries across the</a:t>
            </a:r>
          </a:p>
          <a:p>
            <a:r>
              <a:t>evaluated models, architectures, prompt configurations and scenarios.</a:t>
            </a:r>
          </a:p>
          <a:p>
            <a:endParaRPr/>
          </a:p>
          <a:p>
            <a:r>
              <a:t>However, the experiments also showed that the language model itself is</a:t>
            </a:r>
          </a:p>
          <a:p>
            <a:r>
              <a:t>only part of the picture.</a:t>
            </a:r>
          </a:p>
          <a:p>
            <a:endParaRPr/>
          </a:p>
          <a:p>
            <a:r>
              <a:t>For model choice, increasing nominal parameter size did not consistently</a:t>
            </a:r>
          </a:p>
          <a:p>
            <a:r>
              <a:t>improve collaborative performance.</a:t>
            </a:r>
          </a:p>
          <a:p>
            <a:endParaRPr/>
          </a:p>
          <a:p>
            <a:r>
              <a:t>For planning architecture, shared-context planning generally produced</a:t>
            </a:r>
          </a:p>
          <a:p>
            <a:r>
              <a:t>higher delivery performance, while centralised planning required fewer</a:t>
            </a:r>
          </a:p>
          <a:p>
            <a:r>
              <a:t>model interactions.</a:t>
            </a:r>
          </a:p>
          <a:p>
            <a:endParaRPr/>
          </a:p>
          <a:p>
            <a:r>
              <a:t>For prompt configuration, the tested natural-language configuration</a:t>
            </a:r>
          </a:p>
          <a:p>
            <a:r>
              <a:t>generally outperformed the tested JSON configuration.</a:t>
            </a:r>
          </a:p>
          <a:p>
            <a:endParaRPr/>
          </a:p>
          <a:p>
            <a:r>
              <a:t>And the supplementary objective experiment showed that changing the</a:t>
            </a:r>
          </a:p>
          <a:p>
            <a:r>
              <a:t>objective did not always produce the expected behavioural adaptation.</a:t>
            </a:r>
          </a:p>
          <a:p>
            <a:endParaRPr/>
          </a:p>
          <a:p>
            <a:r>
              <a:t>So the broader conclusion is not simply:</a:t>
            </a:r>
          </a:p>
          <a:p>
            <a:endParaRPr/>
          </a:p>
          <a:p>
            <a:r>
              <a:t>“LLMs can control robots.”</a:t>
            </a:r>
          </a:p>
          <a:p>
            <a:endParaRPr/>
          </a:p>
          <a:p>
            <a:r>
              <a:t>It is more specific:</a:t>
            </a:r>
          </a:p>
          <a:p>
            <a:endParaRPr/>
          </a:p>
          <a:p>
            <a:r>
              <a:t>Prompted language models can function as grounded high-level</a:t>
            </a:r>
          </a:p>
          <a:p>
            <a:r>
              <a:t>decision-making components for heterogeneous robot collaboration, but</a:t>
            </a:r>
          </a:p>
          <a:p>
            <a:r>
              <a:t>their effectiveness depends strongly on how the surrounding planning</a:t>
            </a:r>
          </a:p>
          <a:p>
            <a:r>
              <a:t>system represents information, distributes decision-making, constrains</a:t>
            </a:r>
          </a:p>
          <a:p>
            <a:r>
              <a:t>actions and interacts with the environment.</a:t>
            </a:r>
          </a:p>
          <a:p>
            <a:endParaRPr/>
          </a:p>
          <a:p>
            <a:r>
              <a:t>That, in my view, is the main contribution of this work.</a:t>
            </a:r>
          </a:p>
          <a:p>
            <a:endParaRPr/>
          </a:p>
          <a:p>
            <a:r>
              <a:t>The study provides a controlled framework for examining these design</a:t>
            </a:r>
          </a:p>
          <a:p>
            <a:r>
              <a:t>choices and empirical observations showing how they affected</a:t>
            </a:r>
          </a:p>
          <a:p>
            <a:r>
              <a:t>collaborative performance in the tested environment.</a:t>
            </a:r>
          </a:p>
          <a:p>
            <a:endParaRPr/>
          </a:p>
          <a:p>
            <a:r>
              <a:t>The results demonstrate feasibility, while also showing that there are</a:t>
            </a:r>
          </a:p>
          <a:p>
            <a:r>
              <a:t>significant open questions before such systems can be considered</a:t>
            </a:r>
          </a:p>
          <a:p>
            <a:r>
              <a:t>reliable alternatives to established multi-robot planning approaches.</a:t>
            </a:r>
          </a:p>
          <a:p>
            <a:endParaRPr/>
          </a:p>
          <a:p>
            <a:r>
              <a:t>Thank you.</a:t>
            </a:r>
          </a:p>
          <a:p>
            <a:endParaRPr/>
          </a:p>
          <a:p>
            <a:r>
              <a:t>I am happy to take your questions.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thesis transcript and figure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EE41B-726D-4805-9129-B3FC9FFDD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F3158-49C2-45E4-9ED8-C9A6A3154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DC1FB-89F0-4B26-8777-143B7FCA0B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C5808-51C9-4CDF-B10C-44E2136D86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29572-085E-4987-8E20-337FE41C4B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204DF-3546-4BD1-91A3-E38E166A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C6B87-A2FB-406B-AECC-4F32D730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BA18C-224B-40ED-8CF3-2E639C35F4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8DF2-9E4A-430C-8F86-EBD33AFEEF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61CC1-0ED4-4839-A6EB-D5DC31D62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F4DA-1403-4BF7-91D2-D1C296BB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66D99-9EAA-4EE3-854B-0FA134555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A3365-8E0C-4091-AA51-1E476C4D98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61957-EB38-46A3-B9AD-538B7884C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B2854-B208-4D0B-B8C7-44FFCEFDB4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FC1A-1A82-4CCC-AC55-9AC90C4C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B6011-A9CB-4228-9065-F8232D99E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06BE9-6194-42A4-9153-D557B808BB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247-B47F-45F5-A462-9550D48E64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15851-D697-4B2C-A666-AAC3CA5CD9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8ED42-61B7-4105-9301-F5A6D244D9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7F9A-71CB-443A-89EA-EE843248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02A3C-E00B-4205-BB94-0DDB48448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EC988-C897-4667-B20C-C85390FEC2A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75D39-69B8-48CC-86DA-8EB6E120A90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F9EC3-73E2-4AA8-9FAF-97F165841FB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32BC5-CF3C-4D00-8F76-19FC0B549B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9E8FE-64BB-4CE9-ABDC-4D511204A7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2C6B0-EBD5-4D2C-8621-3C6C7579BB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B157-B2EA-4681-86F5-903C5783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39CED-2176-4D2B-AF84-74EC7B067B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76150-0BA8-4256-8F69-2A922A4C93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10CE1-EC5F-4A95-AF68-1701E4253C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0660B-36C7-4D58-B21A-6E176733DE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363B5-2658-4B94-9873-08483AB121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0ADB0-F232-404C-8835-C054119A43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7B6F-4770-4263-BE8B-B7F9B3B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1B24-286A-46CE-8DAF-8CA4B1A09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0420C-A585-4D2B-9C89-0041C8D749C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E7F83-2557-44BB-8FA8-353944360B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3B231-75F7-439F-935E-5DCF62016A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A5885-8D13-49E8-A668-A80FA4BADB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F123-B42B-4546-A116-97867E5A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50A9DC-9D67-425D-9957-1DF2AFE16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D6240E-A3FF-4DCF-B63A-0A5A89322C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2BF3C-B831-41D6-A4D0-5564D762F6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FA4B6-A63B-4002-969D-A98E6A312A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0D29A-2AE2-497A-B21B-8DA7DA677E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5905-ED45-4481-9DBD-FBC99E04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172BC-9014-46F1-A2B2-6C0B26FF2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AF287-2257-42B0-9DD9-9F83B5BB12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5DC51-8F55-4676-85C6-81AD5B5F96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2C68F-73BD-413E-91E5-D8C4B533F2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958EF-CB7F-424C-AE94-7ED5FE52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6593A-B7F5-41EA-9FDF-6D82A1822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5B569-B0E3-4A73-A8CF-278DFBE446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12FB1-2561-4B4B-8D18-8E17AB8F65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B06A-F31D-40F4-920D-DFF121ADC9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976BF0-207D-49D3-AB46-22E5DD7D9C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1FA8C-D455-45D5-B3FF-E056EF93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A72D7-C36F-461F-9D9F-9B0BEDC50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1834-7D9B-4F40-AF91-FEB550CA7E5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15E13-4A52-4A70-AF33-B14363177C0E}" type="datetimeFigureOut">
              <a:t>2026-08-12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DE506-DBC2-4420-BB20-660A394657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AEF1C-62D0-45BD-B49B-F8D18D52E5D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76BF0-207D-49D3-AB46-22E5DD7D9C9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nvidia.com/isaac/sim?size=n_6_n&amp;sort-field=featured&amp;sort-direction=des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gvmotor.com/blogs/knowledge/agv-drive-wheels-for-agv-amr-warehouse-logistics-applications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044" y="3230118"/>
            <a:ext cx="3532632" cy="3532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26C1B7-C63F-EBDA-A5D5-1AD870BD5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134" y="1915668"/>
            <a:ext cx="10820400" cy="1066800"/>
          </a:xfrm>
        </p:spPr>
        <p:txBody>
          <a:bodyPr anchor="ctr">
            <a:normAutofit/>
          </a:bodyPr>
          <a:lstStyle/>
          <a:p>
            <a:pPr algn="l">
              <a:def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dirty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Heterogeneous Multi-Robot Collaboration Using Language Models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EF4B2-348A-49B3-C640-3AD4507C2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0" y="3762375"/>
            <a:ext cx="6191250" cy="1381125"/>
          </a:xfrm>
        </p:spPr>
        <p:txBody>
          <a:bodyPr anchor="ctr"/>
          <a:lstStyle/>
          <a:p>
            <a:pPr algn="r"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Rohit Joseph Mamutil</a:t>
            </a:r>
            <a:endParaRPr dirty="0"/>
          </a:p>
          <a:p>
            <a:pPr algn="r"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Master’s Thesis · Embedded Systems</a:t>
            </a:r>
            <a:endParaRPr dirty="0"/>
          </a:p>
          <a:p>
            <a:pPr algn="r"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Uppsala University</a:t>
            </a:r>
            <a:endParaRPr dirty="0"/>
          </a:p>
        </p:txBody>
      </p:sp>
      <p:sp>
        <p:nvSpPr>
          <p:cNvPr id="5" name="Footer rule">
            <a:extLst>
              <a:ext uri="{FF2B5EF4-FFF2-40B4-BE49-F238E27FC236}">
                <a16:creationId xmlns:a16="http://schemas.microsoft.com/office/drawing/2014/main" id="{49BA992C-1B0E-4661-AFCB-7E69E1F8446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7B2AC3C5-5F04-4791-9878-157275A95996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4F62975-C153-4786-8BC4-2C41C1748D2A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5838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1" y="1433981"/>
            <a:ext cx="10553699" cy="5012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B31429-D676-FE6B-2F30-ED620CE8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Why multi-robot collaboration?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6A9FB-1AAF-9D89-4393-4E28A480B5F4}"/>
              </a:ext>
            </a:extLst>
          </p:cNvPr>
          <p:cNvSpPr>
            <a:spLocks noGrp="1"/>
          </p:cNvSpPr>
          <p:nvPr/>
        </p:nvSpPr>
        <p:spPr>
          <a:xfrm>
            <a:off x="5524500" y="6153150"/>
            <a:ext cx="5715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333333"/>
                </a:solidFill>
                <a:latin typeface="Calibri"/>
                <a:ea typeface="Calibri"/>
                <a:cs typeface="Calibri"/>
                <a:hlinkClick r:id="rId4"/>
              </a:rPr>
              <a:t>Source: </a:t>
            </a:r>
            <a:r>
              <a:rPr sz="750">
                <a:solidFill>
                  <a:srgbClr val="333333"/>
                </a:solidFill>
                <a:latin typeface="Calibri"/>
                <a:ea typeface="Calibri"/>
                <a:cs typeface="Calibri"/>
                <a:hlinkClick r:id="rId4"/>
              </a:rPr>
              <a:t>Isaac Sim - Robotics Simulation and Synthetic Data Generation | NVIDIA Developer</a:t>
            </a:r>
            <a:endParaRPr sz="1200"/>
          </a:p>
          <a:p>
            <a:endParaRPr sz="1200"/>
          </a:p>
        </p:txBody>
      </p:sp>
      <p:sp>
        <p:nvSpPr>
          <p:cNvPr id="9" name="Motivation summary">
            <a:extLst>
              <a:ext uri="{FF2B5EF4-FFF2-40B4-BE49-F238E27FC236}">
                <a16:creationId xmlns:a16="http://schemas.microsoft.com/office/drawing/2014/main" id="{2037EFF3-D01E-4A35-B241-99A3882128C4}"/>
              </a:ext>
            </a:extLst>
          </p:cNvPr>
          <p:cNvSpPr>
            <a:spLocks noGrp="1"/>
          </p:cNvSpPr>
          <p:nvPr/>
        </p:nvSpPr>
        <p:spPr>
          <a:xfrm>
            <a:off x="952500" y="5693352"/>
            <a:ext cx="4705462" cy="718633"/>
          </a:xfrm>
          <a:prstGeom prst="roundRect">
            <a:avLst>
              <a:gd name="adj" fmla="val 2623"/>
            </a:avLst>
          </a:prstGeom>
          <a:solidFill>
            <a:srgbClr val="FFFFFF">
              <a:alpha val="55000"/>
            </a:srgbClr>
          </a:solidFill>
          <a:ln w="14288">
            <a:solidFill>
              <a:srgbClr val="AFC5E4"/>
            </a:solidFill>
            <a:prstDash val="solid"/>
          </a:ln>
        </p:spPr>
        <p:txBody>
          <a:bodyPr anchor="ctr"/>
          <a:lstStyle/>
          <a:p>
            <a:pPr marL="22" indent="-12">
              <a:spcAft>
                <a:spcPts val="10"/>
              </a:spcAft>
              <a:buChar char="•"/>
              <a:defRPr sz="1425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Different robot roles create interdependent decisions</a:t>
            </a:r>
          </a:p>
          <a:p>
            <a:pPr marL="22" indent="-12">
              <a:spcAft>
                <a:spcPts val="10"/>
              </a:spcAft>
              <a:buChar char="•"/>
              <a:defRPr sz="1425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Shared resources and common goals require coordination</a:t>
            </a:r>
          </a:p>
          <a:p>
            <a:pPr marL="22" indent="-12">
              <a:spcAft>
                <a:spcPts val="10"/>
              </a:spcAft>
              <a:buChar char="•"/>
              <a:defRPr sz="1425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 warehouse provides a controlled, repeatable test setting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3181CC58-6024-4B93-B5DB-7A5763C6A54C}"/>
              </a:ext>
            </a:extLst>
          </p:cNvPr>
          <p:cNvSpPr>
            <a:spLocks noGrp="1"/>
          </p:cNvSpPr>
          <p:nvPr/>
        </p:nvSpPr>
        <p:spPr>
          <a:xfrm>
            <a:off x="11049000" y="266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869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F7B37-A28B-4B94-5B05-F8D9B353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vert="horz" lIns="91440" tIns="45720" rIns="91440" bIns="45720" anchor="ctr">
            <a:normAutofit/>
          </a:bodyPr>
          <a:lstStyle/>
          <a:p>
            <a:pPr algn="l">
              <a:buNone/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What does collaboration mean here?</a:t>
            </a:r>
            <a:endParaRPr sz="5200" kern="1200">
              <a:solidFill>
                <a:schemeClr val="tx1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19" name="Picture 6"/>
          <p:cNvPicPr>
            <a:picLocks noChangeAspect="1"/>
          </p:cNvPicPr>
          <p:nvPr/>
        </p:nvPicPr>
        <p:blipFill>
          <a:blip r:embed="rId3"/>
          <a:srcRect t="1835" r="-2" b="8181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20" name="Content Placeholder 4"/>
          <p:cNvPicPr>
            <a:picLocks noGrp="1" noChangeAspect="1"/>
          </p:cNvPicPr>
          <p:nvPr>
            <p:ph idx="1"/>
          </p:nvPr>
        </p:nvPicPr>
        <p:blipFill>
          <a:blip r:embed="rId4"/>
          <a:srcRect l="7534" r="8554" b="-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61DBBD-2D77-A4CB-9781-7D28F63E4A13}"/>
              </a:ext>
            </a:extLst>
          </p:cNvPr>
          <p:cNvSpPr>
            <a:spLocks noGrp="1"/>
          </p:cNvSpPr>
          <p:nvPr/>
        </p:nvSpPr>
        <p:spPr>
          <a:xfrm>
            <a:off x="6189934" y="6300805"/>
            <a:ext cx="55163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hlinkClick r:id="rId5"/>
              </a:rPr>
              <a:t>Source: </a:t>
            </a:r>
            <a:r>
              <a:rPr sz="1100">
                <a:hlinkClick r:id="rId5"/>
              </a:rPr>
              <a:t>AGV Drive Wheels for AGV/AMR Warehouse Logistics Applications – AGV Motor</a:t>
            </a:r>
            <a:endParaRPr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9B9F6-6B6C-9C16-F361-FAD49A28D632}"/>
              </a:ext>
            </a:extLst>
          </p:cNvPr>
          <p:cNvSpPr>
            <a:spLocks noGrp="1"/>
          </p:cNvSpPr>
          <p:nvPr/>
        </p:nvSpPr>
        <p:spPr>
          <a:xfrm>
            <a:off x="198741" y="6322400"/>
            <a:ext cx="55163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Source: https://www.interempresas.net/Robotica/FeriaVirtual/Producto-Robots-de-ensamblaje-RB-Kairos-227237.html?utm_source=chatgpt.com</a:t>
            </a:r>
          </a:p>
        </p:txBody>
      </p:sp>
      <p:sp>
        <p:nvSpPr>
          <p:cNvPr id="15" name="Collaboration summary">
            <a:extLst>
              <a:ext uri="{FF2B5EF4-FFF2-40B4-BE49-F238E27FC236}">
                <a16:creationId xmlns:a16="http://schemas.microsoft.com/office/drawing/2014/main" id="{891007D7-5ABB-4159-B80E-87F3252BD27F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668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AGVs transport shelves   •   Pickers support loading and unloading   •   Progress depends on timely coordination between roles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0C889ADE-BDD3-4308-84CC-E6DBFDF5D5DC}"/>
              </a:ext>
            </a:extLst>
          </p:cNvPr>
          <p:cNvSpPr>
            <a:spLocks noGrp="1"/>
          </p:cNvSpPr>
          <p:nvPr/>
        </p:nvSpPr>
        <p:spPr>
          <a:xfrm>
            <a:off x="11049000" y="266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665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Why language models?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75"/>
            <a:ext cx="10515600" cy="10477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Use the LLM for high-level task decisions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Keep navigation and execution in conventional components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Test whether planning capabilities extend to heterogeneous teams</a:t>
            </a:r>
          </a:p>
        </p:txBody>
      </p:sp>
      <p:sp>
        <p:nvSpPr>
          <p:cNvPr id="4" name="Node Environment">
            <a:extLst>
              <a:ext uri="{FF2B5EF4-FFF2-40B4-BE49-F238E27FC236}">
                <a16:creationId xmlns:a16="http://schemas.microsoft.com/office/drawing/2014/main" id="{1C8594B7-38C6-443C-BB01-DAC568ED5095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sp>
        <p:nvSpPr>
          <p:cNvPr id="5" name="Flow arrow">
            <a:extLst>
              <a:ext uri="{FF2B5EF4-FFF2-40B4-BE49-F238E27FC236}">
                <a16:creationId xmlns:a16="http://schemas.microsoft.com/office/drawing/2014/main" id="{90E6C822-9E48-4134-9FEA-88AF1B534BB8}"/>
              </a:ext>
            </a:extLst>
          </p:cNvPr>
          <p:cNvSpPr>
            <a:spLocks noGrp="1"/>
          </p:cNvSpPr>
          <p:nvPr/>
        </p:nvSpPr>
        <p:spPr>
          <a:xfrm>
            <a:off x="3009900" y="3238500"/>
            <a:ext cx="457200" cy="38100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Node State">
            <a:extLst>
              <a:ext uri="{FF2B5EF4-FFF2-40B4-BE49-F238E27FC236}">
                <a16:creationId xmlns:a16="http://schemas.microsoft.com/office/drawing/2014/main" id="{C6BB1E79-B17B-40DE-B4C2-A4A3E428EBCE}"/>
              </a:ext>
            </a:extLst>
          </p:cNvPr>
          <p:cNvSpPr>
            <a:spLocks noGrp="1"/>
          </p:cNvSpPr>
          <p:nvPr/>
        </p:nvSpPr>
        <p:spPr>
          <a:xfrm>
            <a:off x="3562350" y="29527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7" name="Flow arrow">
            <a:extLst>
              <a:ext uri="{FF2B5EF4-FFF2-40B4-BE49-F238E27FC236}">
                <a16:creationId xmlns:a16="http://schemas.microsoft.com/office/drawing/2014/main" id="{1580139E-E6C7-4EB4-A664-2B4D8ADC82DF}"/>
              </a:ext>
            </a:extLst>
          </p:cNvPr>
          <p:cNvSpPr>
            <a:spLocks noGrp="1"/>
          </p:cNvSpPr>
          <p:nvPr/>
        </p:nvSpPr>
        <p:spPr>
          <a:xfrm>
            <a:off x="5734050" y="3238500"/>
            <a:ext cx="457200" cy="38100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8" name="Node Local LLM">
            <a:extLst>
              <a:ext uri="{FF2B5EF4-FFF2-40B4-BE49-F238E27FC236}">
                <a16:creationId xmlns:a16="http://schemas.microsoft.com/office/drawing/2014/main" id="{9B10A542-6D3B-45E2-957B-D52D797A6777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FFF0E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 dirty="0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Local LLM</a:t>
            </a:r>
          </a:p>
        </p:txBody>
      </p:sp>
      <p:sp>
        <p:nvSpPr>
          <p:cNvPr id="9" name="Flow arrow">
            <a:extLst>
              <a:ext uri="{FF2B5EF4-FFF2-40B4-BE49-F238E27FC236}">
                <a16:creationId xmlns:a16="http://schemas.microsoft.com/office/drawing/2014/main" id="{37717AD6-A514-4507-BAC1-7C5823107771}"/>
              </a:ext>
            </a:extLst>
          </p:cNvPr>
          <p:cNvSpPr>
            <a:spLocks noGrp="1"/>
          </p:cNvSpPr>
          <p:nvPr/>
        </p:nvSpPr>
        <p:spPr>
          <a:xfrm>
            <a:off x="8458200" y="3238500"/>
            <a:ext cx="457200" cy="38100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0" name="Node High-level action">
            <a:extLst>
              <a:ext uri="{FF2B5EF4-FFF2-40B4-BE49-F238E27FC236}">
                <a16:creationId xmlns:a16="http://schemas.microsoft.com/office/drawing/2014/main" id="{C33AD70D-F7C1-4CDC-B43A-C383E9061ACC}"/>
              </a:ext>
            </a:extLst>
          </p:cNvPr>
          <p:cNvSpPr>
            <a:spLocks noGrp="1"/>
          </p:cNvSpPr>
          <p:nvPr/>
        </p:nvSpPr>
        <p:spPr>
          <a:xfrm>
            <a:off x="9010650" y="29527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High-level action</a:t>
            </a:r>
          </a:p>
        </p:txBody>
      </p:sp>
      <p:sp>
        <p:nvSpPr>
          <p:cNvPr id="11" name="Footer rule">
            <a:extLst>
              <a:ext uri="{FF2B5EF4-FFF2-40B4-BE49-F238E27FC236}">
                <a16:creationId xmlns:a16="http://schemas.microsoft.com/office/drawing/2014/main" id="{6FCCE297-EC59-43B3-B387-33F20D3D796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EC661330-5CF8-4CB2-BE1B-F49A401E55DA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C872F9DE-86A2-427B-A08F-3946C24E3C01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From the problem to the research question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75"/>
            <a:ext cx="10515600" cy="10477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Multi-robot collaboration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LLM as a high-level planner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Grounded, executable decisions</a:t>
            </a:r>
          </a:p>
        </p:txBody>
      </p:sp>
      <p:sp>
        <p:nvSpPr>
          <p:cNvPr id="4" name="Node Multi-robot&#10;collaboration">
            <a:extLst>
              <a:ext uri="{FF2B5EF4-FFF2-40B4-BE49-F238E27FC236}">
                <a16:creationId xmlns:a16="http://schemas.microsoft.com/office/drawing/2014/main" id="{0CD82E6A-8BE8-442A-8AB6-EC252549B400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Multi-robot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collaboration</a:t>
            </a:r>
          </a:p>
        </p:txBody>
      </p:sp>
      <p:sp>
        <p:nvSpPr>
          <p:cNvPr id="5" name="Flow arrow">
            <a:extLst>
              <a:ext uri="{FF2B5EF4-FFF2-40B4-BE49-F238E27FC236}">
                <a16:creationId xmlns:a16="http://schemas.microsoft.com/office/drawing/2014/main" id="{1CB6A6EB-1711-41DD-88D0-68AD309C79C4}"/>
              </a:ext>
            </a:extLst>
          </p:cNvPr>
          <p:cNvSpPr>
            <a:spLocks noGrp="1"/>
          </p:cNvSpPr>
          <p:nvPr/>
        </p:nvSpPr>
        <p:spPr>
          <a:xfrm>
            <a:off x="2990850" y="3200400"/>
            <a:ext cx="495300" cy="38100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Node LLM high-level&#10;planning">
            <a:extLst>
              <a:ext uri="{FF2B5EF4-FFF2-40B4-BE49-F238E27FC236}">
                <a16:creationId xmlns:a16="http://schemas.microsoft.com/office/drawing/2014/main" id="{061FEFE0-E245-4CEC-9637-37BF583031F9}"/>
              </a:ext>
            </a:extLst>
          </p:cNvPr>
          <p:cNvSpPr>
            <a:spLocks noGrp="1"/>
          </p:cNvSpPr>
          <p:nvPr/>
        </p:nvSpPr>
        <p:spPr>
          <a:xfrm>
            <a:off x="3638550" y="28575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LLM high-level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planning</a:t>
            </a:r>
          </a:p>
        </p:txBody>
      </p:sp>
      <p:sp>
        <p:nvSpPr>
          <p:cNvPr id="7" name="Flow arrow">
            <a:extLst>
              <a:ext uri="{FF2B5EF4-FFF2-40B4-BE49-F238E27FC236}">
                <a16:creationId xmlns:a16="http://schemas.microsoft.com/office/drawing/2014/main" id="{C81D2950-BE6D-4CB2-9C83-C7E5A32211DD}"/>
              </a:ext>
            </a:extLst>
          </p:cNvPr>
          <p:cNvSpPr>
            <a:spLocks noGrp="1"/>
          </p:cNvSpPr>
          <p:nvPr/>
        </p:nvSpPr>
        <p:spPr>
          <a:xfrm>
            <a:off x="5715000" y="3200400"/>
            <a:ext cx="495300" cy="38100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8" name="Node Grounded&#10;decisions">
            <a:extLst>
              <a:ext uri="{FF2B5EF4-FFF2-40B4-BE49-F238E27FC236}">
                <a16:creationId xmlns:a16="http://schemas.microsoft.com/office/drawing/2014/main" id="{0AC17D74-0D3E-46A3-9DE7-E41A584FBED4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Grounded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decisions</a:t>
            </a:r>
          </a:p>
        </p:txBody>
      </p:sp>
      <p:sp>
        <p:nvSpPr>
          <p:cNvPr id="9" name="Flow arrow">
            <a:extLst>
              <a:ext uri="{FF2B5EF4-FFF2-40B4-BE49-F238E27FC236}">
                <a16:creationId xmlns:a16="http://schemas.microsoft.com/office/drawing/2014/main" id="{F5C78C78-ABC0-458B-9DAF-A3809C239A6E}"/>
              </a:ext>
            </a:extLst>
          </p:cNvPr>
          <p:cNvSpPr>
            <a:spLocks noGrp="1"/>
          </p:cNvSpPr>
          <p:nvPr/>
        </p:nvSpPr>
        <p:spPr>
          <a:xfrm>
            <a:off x="8439150" y="3200400"/>
            <a:ext cx="495300" cy="38100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0" name="Node Research&#10;questions">
            <a:extLst>
              <a:ext uri="{FF2B5EF4-FFF2-40B4-BE49-F238E27FC236}">
                <a16:creationId xmlns:a16="http://schemas.microsoft.com/office/drawing/2014/main" id="{7726BC62-0972-489D-8B42-4814F6BA52EA}"/>
              </a:ext>
            </a:extLst>
          </p:cNvPr>
          <p:cNvSpPr>
            <a:spLocks noGrp="1"/>
          </p:cNvSpPr>
          <p:nvPr/>
        </p:nvSpPr>
        <p:spPr>
          <a:xfrm>
            <a:off x="9086850" y="28575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FF0E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Research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questions</a:t>
            </a:r>
          </a:p>
        </p:txBody>
      </p:sp>
      <p:sp>
        <p:nvSpPr>
          <p:cNvPr id="11" name="Footer rule">
            <a:extLst>
              <a:ext uri="{FF2B5EF4-FFF2-40B4-BE49-F238E27FC236}">
                <a16:creationId xmlns:a16="http://schemas.microsoft.com/office/drawing/2014/main" id="{8B1F34DB-C2A9-4BA7-86D1-5D7EF69B6A1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CC75EDC4-D530-4999-9892-33D00999CD3B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162B3725-7B63-4149-B364-E0A005DE137E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Main research question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Can prompted LLMs support grounded high-level decisions for heterogeneous robot collaboration?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Constrained warehouse setting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Three design factors: model, architecture and representation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DCEB6D36-B01C-4FBD-8F6E-9037F31975D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0206ED8-6C49-47EC-A2A6-F69EE4C98091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A7657F58-4CB2-4D18-B511-3FD788C9C40C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RQ1 — Which model?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Compare selected locally deployable models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Nominal scale ranges from 1B to 14B parameters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Test performance—not parameter count as a causal factor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1B0EFFDC-2997-424B-B037-93655A625F9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9E6A2A7-C6EF-4B6C-8CAF-3D4E5BEDD8BB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04FE061-2781-48F9-8CD6-036BBC0D816E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RQ2 — Who should plan?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75"/>
            <a:ext cx="5143500" cy="381000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Centralised: one call selects joint actions</a:t>
            </a:r>
          </a:p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Shared context: one decision per agent with common information</a:t>
            </a:r>
          </a:p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Compare delivery performance and model-interaction demand</a:t>
            </a:r>
          </a:p>
        </p:txBody>
      </p:sp>
      <p:sp>
        <p:nvSpPr>
          <p:cNvPr id="4" name="Node Centralised&#10;1 joint call">
            <a:extLst>
              <a:ext uri="{FF2B5EF4-FFF2-40B4-BE49-F238E27FC236}">
                <a16:creationId xmlns:a16="http://schemas.microsoft.com/office/drawing/2014/main" id="{51F45F7E-94C4-4C8B-AE92-928CAB8918E2}"/>
              </a:ext>
            </a:extLst>
          </p:cNvPr>
          <p:cNvSpPr>
            <a:spLocks noGrp="1"/>
          </p:cNvSpPr>
          <p:nvPr/>
        </p:nvSpPr>
        <p:spPr>
          <a:xfrm>
            <a:off x="6496050" y="2333625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Centralised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1 joint call</a:t>
            </a:r>
          </a:p>
        </p:txBody>
      </p:sp>
      <p:sp>
        <p:nvSpPr>
          <p:cNvPr id="5" name="Node Shared context&#10;1 call per agent">
            <a:extLst>
              <a:ext uri="{FF2B5EF4-FFF2-40B4-BE49-F238E27FC236}">
                <a16:creationId xmlns:a16="http://schemas.microsoft.com/office/drawing/2014/main" id="{6A8C6389-DE32-48F2-83F6-E84BCC3C3E6B}"/>
              </a:ext>
            </a:extLst>
          </p:cNvPr>
          <p:cNvSpPr>
            <a:spLocks noGrp="1"/>
          </p:cNvSpPr>
          <p:nvPr/>
        </p:nvSpPr>
        <p:spPr>
          <a:xfrm>
            <a:off x="8972550" y="2333625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FFF0E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Shared context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1 call per agent</a:t>
            </a:r>
          </a:p>
        </p:txBody>
      </p:sp>
      <p:sp>
        <p:nvSpPr>
          <p:cNvPr id="6" name="Node Global warehouse state">
            <a:extLst>
              <a:ext uri="{FF2B5EF4-FFF2-40B4-BE49-F238E27FC236}">
                <a16:creationId xmlns:a16="http://schemas.microsoft.com/office/drawing/2014/main" id="{4167362B-4C58-4F80-B69E-845F9E669A85}"/>
              </a:ext>
            </a:extLst>
          </p:cNvPr>
          <p:cNvSpPr>
            <a:spLocks noGrp="1"/>
          </p:cNvSpPr>
          <p:nvPr/>
        </p:nvSpPr>
        <p:spPr>
          <a:xfrm>
            <a:off x="7667625" y="4095750"/>
            <a:ext cx="2247900" cy="781050"/>
          </a:xfrm>
          <a:prstGeom prst="roundRect">
            <a:avLst>
              <a:gd name="adj" fmla="val 9756"/>
            </a:avLst>
          </a:prstGeom>
          <a:solidFill>
            <a:srgbClr val="F3F4F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Global warehouse state</a:t>
            </a:r>
          </a:p>
        </p:txBody>
      </p:sp>
      <p:sp>
        <p:nvSpPr>
          <p:cNvPr id="7" name="Flow arrow">
            <a:extLst>
              <a:ext uri="{FF2B5EF4-FFF2-40B4-BE49-F238E27FC236}">
                <a16:creationId xmlns:a16="http://schemas.microsoft.com/office/drawing/2014/main" id="{11B3ABDA-31B1-45C2-8EF9-7F93A23843B8}"/>
              </a:ext>
            </a:extLst>
          </p:cNvPr>
          <p:cNvSpPr>
            <a:spLocks noGrp="1"/>
          </p:cNvSpPr>
          <p:nvPr/>
        </p:nvSpPr>
        <p:spPr>
          <a:xfrm rot="5400000">
            <a:off x="7429500" y="3590925"/>
            <a:ext cx="43815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8" name="Footer rule">
            <a:extLst>
              <a:ext uri="{FF2B5EF4-FFF2-40B4-BE49-F238E27FC236}">
                <a16:creationId xmlns:a16="http://schemas.microsoft.com/office/drawing/2014/main" id="{680E9E14-10E5-4FB9-8A27-E5A200E56FF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DB890085-0121-4046-94B9-F69E3E1D7742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17DABAA-20C1-4797-9EF1-0374215303B3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RQ3 — How should the world be represented?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Same simulator state, two complete prompt configurations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Structured JSON versus descriptive natural language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Comparison includes response contracts and parsing paths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82585D69-AB6F-4D41-95E3-7C544FA2CF5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6ED180E-7A9C-4EE6-B0BF-CAB6C885DFDA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48890E9-A133-4277-B1AB-A26CBE3D2FF8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Experimental approach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Controlled, reproducible warehouse simulation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LLM operates at task-assignment level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Environment handles low-level execution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AC79837B-B4DF-40B9-8B1B-86DB3163586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C6C7CE1-4E94-4915-AF75-DD0811401CBE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C0AA528-9973-4630-BED9-219BD142A0B8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Battery-TA-RWARE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Discrete-time, grid-based warehouse simulation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Heterogeneous AGV and Picker roles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Battery constraints and charging stations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Collaboration is required for shelf handling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AED5FE71-451B-499A-A21C-84D847A9CBB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BA841D8-F97D-4C1E-89F5-7EBC1DEABB40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1CEA37-59AF-43AE-BF44-5AB1C7A33C4F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What does the LLM actually control?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75"/>
            <a:ext cx="5143500" cy="381000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Selects a high-level target or action identifier</a:t>
            </a:r>
          </a:p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Does not generate trajectories or motor commands</a:t>
            </a:r>
          </a:p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Simulator handles paths, collisions, batteries and load mechanics</a:t>
            </a:r>
          </a:p>
        </p:txBody>
      </p:sp>
      <p:sp>
        <p:nvSpPr>
          <p:cNvPr id="4" name="Node LLM&#10;WHAT to pursue">
            <a:extLst>
              <a:ext uri="{FF2B5EF4-FFF2-40B4-BE49-F238E27FC236}">
                <a16:creationId xmlns:a16="http://schemas.microsoft.com/office/drawing/2014/main" id="{CAC09FF1-44C9-49FF-8651-5B510B3E1374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FFF0E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LLM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WHAT to pursue</a:t>
            </a:r>
          </a:p>
        </p:txBody>
      </p:sp>
      <p:sp>
        <p:nvSpPr>
          <p:cNvPr id="5" name="Flow arrow">
            <a:extLst>
              <a:ext uri="{FF2B5EF4-FFF2-40B4-BE49-F238E27FC236}">
                <a16:creationId xmlns:a16="http://schemas.microsoft.com/office/drawing/2014/main" id="{9DBFFACD-33BE-4BC0-9547-AE6DBEBE5F93}"/>
              </a:ext>
            </a:extLst>
          </p:cNvPr>
          <p:cNvSpPr>
            <a:spLocks noGrp="1"/>
          </p:cNvSpPr>
          <p:nvPr/>
        </p:nvSpPr>
        <p:spPr>
          <a:xfrm rot="5400000">
            <a:off x="8286750" y="3581400"/>
            <a:ext cx="523875" cy="4000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Node Simulator&#10;HOW to execute">
            <a:extLst>
              <a:ext uri="{FF2B5EF4-FFF2-40B4-BE49-F238E27FC236}">
                <a16:creationId xmlns:a16="http://schemas.microsoft.com/office/drawing/2014/main" id="{1E4CD574-3E5A-4EE0-AC46-D2D79E190267}"/>
              </a:ext>
            </a:extLst>
          </p:cNvPr>
          <p:cNvSpPr>
            <a:spLocks noGrp="1"/>
          </p:cNvSpPr>
          <p:nvPr/>
        </p:nvSpPr>
        <p:spPr>
          <a:xfrm>
            <a:off x="6858000" y="4191000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Simulator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HOW to execute</a:t>
            </a:r>
          </a:p>
        </p:txBody>
      </p:sp>
      <p:sp>
        <p:nvSpPr>
          <p:cNvPr id="7" name="Footer rule">
            <a:extLst>
              <a:ext uri="{FF2B5EF4-FFF2-40B4-BE49-F238E27FC236}">
                <a16:creationId xmlns:a16="http://schemas.microsoft.com/office/drawing/2014/main" id="{B3383C98-15EC-4618-B560-005F5625B1D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A212F45D-C83C-45E6-97B7-2422A54A98DE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AECB85F-897F-4724-869D-103051DC2A49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Grounding: the LLM proposes; the environment validates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75"/>
            <a:ext cx="10515600" cy="10477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Candidate actions are derived from the valid-action mask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Model output is parsed and checked before execution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Invalid actions cannot redefine physical feasibility</a:t>
            </a:r>
          </a:p>
        </p:txBody>
      </p:sp>
      <p:sp>
        <p:nvSpPr>
          <p:cNvPr id="4" name="Node State">
            <a:extLst>
              <a:ext uri="{FF2B5EF4-FFF2-40B4-BE49-F238E27FC236}">
                <a16:creationId xmlns:a16="http://schemas.microsoft.com/office/drawing/2014/main" id="{40756B58-D5C1-477E-AE27-6BA9E32998F5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5" name="Flow arrow">
            <a:extLst>
              <a:ext uri="{FF2B5EF4-FFF2-40B4-BE49-F238E27FC236}">
                <a16:creationId xmlns:a16="http://schemas.microsoft.com/office/drawing/2014/main" id="{0D60A9DA-56F1-4E66-BC95-1BF07820CBA9}"/>
              </a:ext>
            </a:extLst>
          </p:cNvPr>
          <p:cNvSpPr>
            <a:spLocks noGrp="1"/>
          </p:cNvSpPr>
          <p:nvPr/>
        </p:nvSpPr>
        <p:spPr>
          <a:xfrm>
            <a:off x="2381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Node Candidates">
            <a:extLst>
              <a:ext uri="{FF2B5EF4-FFF2-40B4-BE49-F238E27FC236}">
                <a16:creationId xmlns:a16="http://schemas.microsoft.com/office/drawing/2014/main" id="{C501FDEE-B18C-4FFE-A399-5DD1132EC911}"/>
              </a:ext>
            </a:extLst>
          </p:cNvPr>
          <p:cNvSpPr>
            <a:spLocks noGrp="1"/>
          </p:cNvSpPr>
          <p:nvPr/>
        </p:nvSpPr>
        <p:spPr>
          <a:xfrm>
            <a:off x="2952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Candidates</a:t>
            </a:r>
          </a:p>
        </p:txBody>
      </p:sp>
      <p:sp>
        <p:nvSpPr>
          <p:cNvPr id="7" name="Flow arrow">
            <a:extLst>
              <a:ext uri="{FF2B5EF4-FFF2-40B4-BE49-F238E27FC236}">
                <a16:creationId xmlns:a16="http://schemas.microsoft.com/office/drawing/2014/main" id="{18F7C793-DCFD-4554-9458-705DF2966AEE}"/>
              </a:ext>
            </a:extLst>
          </p:cNvPr>
          <p:cNvSpPr>
            <a:spLocks noGrp="1"/>
          </p:cNvSpPr>
          <p:nvPr/>
        </p:nvSpPr>
        <p:spPr>
          <a:xfrm>
            <a:off x="4667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8" name="Node LLM proposal">
            <a:extLst>
              <a:ext uri="{FF2B5EF4-FFF2-40B4-BE49-F238E27FC236}">
                <a16:creationId xmlns:a16="http://schemas.microsoft.com/office/drawing/2014/main" id="{66FD0224-4B40-40F7-9DBE-AF31D6F3D2F8}"/>
              </a:ext>
            </a:extLst>
          </p:cNvPr>
          <p:cNvSpPr>
            <a:spLocks noGrp="1"/>
          </p:cNvSpPr>
          <p:nvPr/>
        </p:nvSpPr>
        <p:spPr>
          <a:xfrm>
            <a:off x="5238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FFF0E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LLM proposal</a:t>
            </a:r>
          </a:p>
        </p:txBody>
      </p:sp>
      <p:sp>
        <p:nvSpPr>
          <p:cNvPr id="9" name="Flow arrow">
            <a:extLst>
              <a:ext uri="{FF2B5EF4-FFF2-40B4-BE49-F238E27FC236}">
                <a16:creationId xmlns:a16="http://schemas.microsoft.com/office/drawing/2014/main" id="{D8421117-6016-494B-B7D3-FD880360FA4C}"/>
              </a:ext>
            </a:extLst>
          </p:cNvPr>
          <p:cNvSpPr>
            <a:spLocks noGrp="1"/>
          </p:cNvSpPr>
          <p:nvPr/>
        </p:nvSpPr>
        <p:spPr>
          <a:xfrm>
            <a:off x="6953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0" name="Node Validate">
            <a:extLst>
              <a:ext uri="{FF2B5EF4-FFF2-40B4-BE49-F238E27FC236}">
                <a16:creationId xmlns:a16="http://schemas.microsoft.com/office/drawing/2014/main" id="{544EEC07-773E-4216-8768-EC2D88231C8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11" name="Flow arrow">
            <a:extLst>
              <a:ext uri="{FF2B5EF4-FFF2-40B4-BE49-F238E27FC236}">
                <a16:creationId xmlns:a16="http://schemas.microsoft.com/office/drawing/2014/main" id="{192170D1-530E-4FED-A27D-E903D5406770}"/>
              </a:ext>
            </a:extLst>
          </p:cNvPr>
          <p:cNvSpPr>
            <a:spLocks noGrp="1"/>
          </p:cNvSpPr>
          <p:nvPr/>
        </p:nvSpPr>
        <p:spPr>
          <a:xfrm>
            <a:off x="9239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2" name="Node Execute">
            <a:extLst>
              <a:ext uri="{FF2B5EF4-FFF2-40B4-BE49-F238E27FC236}">
                <a16:creationId xmlns:a16="http://schemas.microsoft.com/office/drawing/2014/main" id="{89E460B4-4C07-488E-BD6C-E8BF6BBF948D}"/>
              </a:ext>
            </a:extLst>
          </p:cNvPr>
          <p:cNvSpPr>
            <a:spLocks noGrp="1"/>
          </p:cNvSpPr>
          <p:nvPr/>
        </p:nvSpPr>
        <p:spPr>
          <a:xfrm>
            <a:off x="9810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13" name="Footer rule">
            <a:extLst>
              <a:ext uri="{FF2B5EF4-FFF2-40B4-BE49-F238E27FC236}">
                <a16:creationId xmlns:a16="http://schemas.microsoft.com/office/drawing/2014/main" id="{793AE126-7237-48E1-950E-5E3AD572619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07BFDF14-6849-4F99-9B23-DD47AED54AF2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43AA2B86-D0EC-4F87-B5C2-C5957E22A739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Prompt construction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Objective and environment description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Current-agent state and shared context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Candidate actions with guidance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Explicit output contract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46B81A16-3E69-4439-B632-2918D15ABDC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017684C-2D4E-464A-B73F-A12BCFE18D0F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857A3A6-5BEE-493D-8A59-2F93F4BF2DEB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Centralised and shared-context planning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75"/>
            <a:ext cx="5143500" cy="381000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Centralised planning returns a joint action list</a:t>
            </a:r>
          </a:p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Shared-context planning queries agents sequentially</a:t>
            </a:r>
          </a:p>
          <a:p>
            <a:pPr marL="26" indent="-14">
              <a:spcAft>
                <a:spcPts val="8"/>
              </a:spcAft>
              <a:buChar char="•"/>
              <a:defRPr sz="165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Accepted decisions update the coordination context</a:t>
            </a:r>
          </a:p>
        </p:txBody>
      </p:sp>
      <p:sp>
        <p:nvSpPr>
          <p:cNvPr id="4" name="Node Centralised&#10;1 joint call">
            <a:extLst>
              <a:ext uri="{FF2B5EF4-FFF2-40B4-BE49-F238E27FC236}">
                <a16:creationId xmlns:a16="http://schemas.microsoft.com/office/drawing/2014/main" id="{5EA680F2-39FE-427E-BB63-2FDF23C7D893}"/>
              </a:ext>
            </a:extLst>
          </p:cNvPr>
          <p:cNvSpPr>
            <a:spLocks noGrp="1"/>
          </p:cNvSpPr>
          <p:nvPr/>
        </p:nvSpPr>
        <p:spPr>
          <a:xfrm>
            <a:off x="6496050" y="2333625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Centralised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1 joint call</a:t>
            </a:r>
          </a:p>
        </p:txBody>
      </p:sp>
      <p:sp>
        <p:nvSpPr>
          <p:cNvPr id="5" name="Node Shared context&#10;1 call per agent">
            <a:extLst>
              <a:ext uri="{FF2B5EF4-FFF2-40B4-BE49-F238E27FC236}">
                <a16:creationId xmlns:a16="http://schemas.microsoft.com/office/drawing/2014/main" id="{E0DA4995-228C-4944-92A1-1B748D74CA25}"/>
              </a:ext>
            </a:extLst>
          </p:cNvPr>
          <p:cNvSpPr>
            <a:spLocks noGrp="1"/>
          </p:cNvSpPr>
          <p:nvPr/>
        </p:nvSpPr>
        <p:spPr>
          <a:xfrm>
            <a:off x="8972550" y="2333625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FFF0E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Shared context</a:t>
            </a:r>
          </a:p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1 call per agent</a:t>
            </a:r>
          </a:p>
        </p:txBody>
      </p:sp>
      <p:sp>
        <p:nvSpPr>
          <p:cNvPr id="6" name="Node Global warehouse state">
            <a:extLst>
              <a:ext uri="{FF2B5EF4-FFF2-40B4-BE49-F238E27FC236}">
                <a16:creationId xmlns:a16="http://schemas.microsoft.com/office/drawing/2014/main" id="{8FE0F208-2C78-49DB-8849-826CDC78CF61}"/>
              </a:ext>
            </a:extLst>
          </p:cNvPr>
          <p:cNvSpPr>
            <a:spLocks noGrp="1"/>
          </p:cNvSpPr>
          <p:nvPr/>
        </p:nvSpPr>
        <p:spPr>
          <a:xfrm>
            <a:off x="7667625" y="4095750"/>
            <a:ext cx="2247900" cy="781050"/>
          </a:xfrm>
          <a:prstGeom prst="roundRect">
            <a:avLst>
              <a:gd name="adj" fmla="val 9756"/>
            </a:avLst>
          </a:prstGeom>
          <a:solidFill>
            <a:srgbClr val="F3F4F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Global warehouse state</a:t>
            </a:r>
          </a:p>
        </p:txBody>
      </p:sp>
      <p:sp>
        <p:nvSpPr>
          <p:cNvPr id="7" name="Flow arrow">
            <a:extLst>
              <a:ext uri="{FF2B5EF4-FFF2-40B4-BE49-F238E27FC236}">
                <a16:creationId xmlns:a16="http://schemas.microsoft.com/office/drawing/2014/main" id="{5E33701C-5F59-4D77-9F74-9FEEE577F89E}"/>
              </a:ext>
            </a:extLst>
          </p:cNvPr>
          <p:cNvSpPr>
            <a:spLocks noGrp="1"/>
          </p:cNvSpPr>
          <p:nvPr/>
        </p:nvSpPr>
        <p:spPr>
          <a:xfrm rot="5400000">
            <a:off x="7429500" y="3590925"/>
            <a:ext cx="43815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8" name="Footer rule">
            <a:extLst>
              <a:ext uri="{FF2B5EF4-FFF2-40B4-BE49-F238E27FC236}">
                <a16:creationId xmlns:a16="http://schemas.microsoft.com/office/drawing/2014/main" id="{B6CB0075-C335-47EC-B3EC-832614E166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C6CFCD3-BDDC-443C-BBA9-58868BBA1BF9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7D20F58-0060-4122-92D6-46803401E02C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Natural language and JSON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Natural language uses semantic sections and descriptive actions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JSON preserves structured state and response fields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experiment compares complete interfaces—not input syntax alone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1BDBD61D-2E80-4901-8B23-B3B2907504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B1992EF-431B-4D9E-8478-3B0144C9F9FC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67DA022-28F7-42F0-A63C-151E008B1F1F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Models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Llama 1B and Llama 3B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Mistral 7B and Gemma 12B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Phi-4 and Qwen 14B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All models deployed locally through Ollama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B866124C-94BA-43A7-AB9A-D35BF83FA4E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03E9263-6EEC-48C0-A369-85C2D39A9DA0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579B6DE-B70D-4160-8159-77385A6949BA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Scenarios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Tiny, small and medium warehouse settings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Balanced, AGV-heavy and Picker-heavy variants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Collaboration demand varies with fleet composition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F0109E07-8523-457C-B4DF-FC98B176F3D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5CB5A6A-51EB-4561-82FC-F94296B0DB15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7F151F-43A1-4098-B17F-B9C506620FC1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Metrics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Mean completed shelf deliveries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Deliveries per 1,000 LLM calls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LLM-call count and descriptive battery indicators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Call normalisation is not latency or compute cost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29515494-0E39-4688-BFFB-65CE33EDFE2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232F2E4-B02D-4223-BFCF-3E6D8EB59CFF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E13987C-A85E-46B7-932A-6E5D14DCFD0A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Experimental control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Matched configurations across model, architecture and prompt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Fixed simulator rules and grounded action validation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Results interpreted descriptively within the tested setting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1EA8B9C2-39DF-478B-AE1C-17A17A8A2B1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D513EE2-E958-444D-9957-BDC1971B38FD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06F888B-639E-4D76-A596-18018330A5AF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Results overview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RQ1: scale alone did not predict performance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RQ2: shared context generally improved deliveries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RQ3: natural language generally improved call-normalised delivery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Successful collaborative deliveries occurred throughout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E225E745-F0BB-4A70-A7B4-E11E2BE516B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743E42C-8FD2-4D7A-A190-5B94FC4E9454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346D82A-0183-4BCB-9467-6D1F96904204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RQ1 — Larger did not consistently mean better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Llama 3B achieved the highest mean delivery count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Phi-4 achieved the highest deliveries per 1,000 calls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Performance was not monotonic with nominal model size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4825" y="1409700"/>
            <a:ext cx="10462350" cy="4324350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E957F4D3-E586-461F-8344-A3B8A425578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BF4F6ADA-56CC-44BE-8A3E-3460D6D381BB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607B224-3EA8-4177-9645-A7C35EA1511F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RQ1 — Model choice matters, but scale is insufficient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Differences may reflect training, architecture and instruction tuning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Cross-family comparisons cannot isolate parameter count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Small locally deployable models remain viable candidates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E4764196-E77B-4F62-921C-24AB81C2DF7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4F2E34B-0AEE-43CB-A368-0781D2D14C18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A20EA29-A6F7-4224-8455-4EF9808F284A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RQ2 — Shared context usually improved delivery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Higher mean deliveries in all six scenario groups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Higher deliveries for five of six models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Qwen was the model-level exception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763" y="1409700"/>
            <a:ext cx="10114474" cy="4324350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1DF78A92-5184-4EEF-A3BA-523BB87624B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C6666124-6D54-425D-877D-ED5DFFDA049C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FD89AC-99F0-43C2-8A93-2D89753EFCC1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RQ2 — The architecture creates a trade-off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Per-agent queries simplify each output decision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Centralised planning needs fewer model interactions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Architecture effects interact with model capability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420832"/>
            <a:ext cx="10477500" cy="4302085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8760BDD0-91CA-441F-81B1-70CF7E5E2FF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33A1B072-AEC5-4AC2-B42D-6879A469D266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6081E4-4A80-47FC-80A6-40271599410F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RQ3 — Natural language was stronger overall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Higher call-normalised delivery in all six scenarios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Advantage held within both planning architectures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result concerns the complete prompt configuration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9385" y="1409700"/>
            <a:ext cx="10073229" cy="4324350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D941D065-4CD1-4C76-80DB-ADD1416DEB8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B77BA7B2-E586-4FA4-AB01-B16653F88671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B77AEAE-4027-486C-8AF1-224DD88FFE0F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RQ3 — The advantage held within both architectures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Natural language led under centralised planning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same pattern held under shared-context planning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Call normalisation measures interaction frequency—not compute cost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93150" y="1409700"/>
            <a:ext cx="8805701" cy="4324350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2B124131-4076-493D-9C98-546A6A2EBF2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89D14140-5F57-4380-86A7-CA0F1E20801E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4B7D9DE-140F-47AE-A11F-82C8AB84A957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RQ3 — The effect remained model-dependent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Natural language led for five of six models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Phi-4 showed a small JSON advantage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Input representation and output format were not isolated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412025"/>
            <a:ext cx="10477500" cy="4319700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058E0C6D-DFCF-433F-89E2-8D3B0496E6F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10BCB1B6-4A66-47E6-9A78-8E1E2E1F6803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81E7065-32E7-41FE-B5B2-48EB5B6CAAF5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Objective sensitivity was limited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Four models reduced calls under the call-reduction objective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Mistral and Gemma increased calls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response to the stated objective was model-dependent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462517"/>
            <a:ext cx="10477500" cy="4218717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9F74A654-1ED5-4DB8-93A6-0924084197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F6C5AEBC-6C2A-4CBB-A309-E20ED3652691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3FD4423-D414-4EBD-AFC8-BA90FB35F997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Battery productivity also varied by model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5772150"/>
            <a:ext cx="10287000" cy="619125"/>
          </a:xfrm>
        </p:spPr>
        <p:txBody>
          <a:bodyPr anchor="ctr">
            <a:normAutofit fontScale="70000" lnSpcReduction="20000"/>
          </a:bodyPr>
          <a:lstStyle/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highest-scoring objective differed across models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Battery prompting did not produce a consistent improvement</a:t>
            </a:r>
          </a:p>
          <a:p>
            <a:pPr marL="26" indent="-14">
              <a:spcAft>
                <a:spcPts val="8"/>
              </a:spcAft>
              <a:buChar char="•"/>
              <a:defRPr sz="1200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score is descriptive, not an optimality measure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440223"/>
            <a:ext cx="10477500" cy="4263304"/>
          </a:xfrm>
          <a:prstGeom prst="rect">
            <a:avLst/>
          </a:prstGeom>
        </p:spPr>
      </p:pic>
      <p:sp>
        <p:nvSpPr>
          <p:cNvPr id="5" name="Footer rule">
            <a:extLst>
              <a:ext uri="{FF2B5EF4-FFF2-40B4-BE49-F238E27FC236}">
                <a16:creationId xmlns:a16="http://schemas.microsoft.com/office/drawing/2014/main" id="{15F2C14E-7CE9-4591-9EE2-C226F56FC2A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BDC1EDF9-535D-4CD1-B7B4-68536BD68B0C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7572F85-C9F2-4B51-8345-814D31D9666C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What did the three questions tell us?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Model choice matters; nominal scale alone does not predict results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Shared context generally raises deliveries at the cost of more calls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Natural language generally beats the tested JSON configuration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study demonstrates feasibility—not superiority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D12B2B44-309D-4283-893F-E66619D3B85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E86768F-2C23-4B98-84EE-2C3CB8BE45AE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C10B11E-6D95-49E3-BA9F-BB5570F4A8A6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The LLM is one component of a larger planning system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75"/>
            <a:ext cx="10515600" cy="10477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State representation and candidate-action design shape decisions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Parsing, validation and replanning determine execution</a:t>
            </a:r>
          </a:p>
          <a:p>
            <a:pPr marL="26" indent="-14">
              <a:spcAft>
                <a:spcPts val="8"/>
              </a:spcAft>
              <a:buChar char="•"/>
              <a:defRPr sz="14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Observed behaviour belongs to the complete supervisory loop</a:t>
            </a:r>
          </a:p>
        </p:txBody>
      </p:sp>
      <p:sp>
        <p:nvSpPr>
          <p:cNvPr id="4" name="Node State">
            <a:extLst>
              <a:ext uri="{FF2B5EF4-FFF2-40B4-BE49-F238E27FC236}">
                <a16:creationId xmlns:a16="http://schemas.microsoft.com/office/drawing/2014/main" id="{A7D14F74-24A6-4E9D-8DB2-45585D4F1AC4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5" name="Flow arrow">
            <a:extLst>
              <a:ext uri="{FF2B5EF4-FFF2-40B4-BE49-F238E27FC236}">
                <a16:creationId xmlns:a16="http://schemas.microsoft.com/office/drawing/2014/main" id="{258E908F-27BD-43D8-89AA-170F8FFEF63E}"/>
              </a:ext>
            </a:extLst>
          </p:cNvPr>
          <p:cNvSpPr>
            <a:spLocks noGrp="1"/>
          </p:cNvSpPr>
          <p:nvPr/>
        </p:nvSpPr>
        <p:spPr>
          <a:xfrm>
            <a:off x="2381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6" name="Node Prompt">
            <a:extLst>
              <a:ext uri="{FF2B5EF4-FFF2-40B4-BE49-F238E27FC236}">
                <a16:creationId xmlns:a16="http://schemas.microsoft.com/office/drawing/2014/main" id="{BFCE3F1C-AD6D-4BC1-BAC3-F4E873B6CB50}"/>
              </a:ext>
            </a:extLst>
          </p:cNvPr>
          <p:cNvSpPr>
            <a:spLocks noGrp="1"/>
          </p:cNvSpPr>
          <p:nvPr/>
        </p:nvSpPr>
        <p:spPr>
          <a:xfrm>
            <a:off x="2952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7" name="Flow arrow">
            <a:extLst>
              <a:ext uri="{FF2B5EF4-FFF2-40B4-BE49-F238E27FC236}">
                <a16:creationId xmlns:a16="http://schemas.microsoft.com/office/drawing/2014/main" id="{B7055BFF-B7AB-4141-A2D7-47AF5E851637}"/>
              </a:ext>
            </a:extLst>
          </p:cNvPr>
          <p:cNvSpPr>
            <a:spLocks noGrp="1"/>
          </p:cNvSpPr>
          <p:nvPr/>
        </p:nvSpPr>
        <p:spPr>
          <a:xfrm>
            <a:off x="4667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8" name="Node LLM">
            <a:extLst>
              <a:ext uri="{FF2B5EF4-FFF2-40B4-BE49-F238E27FC236}">
                <a16:creationId xmlns:a16="http://schemas.microsoft.com/office/drawing/2014/main" id="{9B009442-093B-4D7C-B804-22ECF547D5AC}"/>
              </a:ext>
            </a:extLst>
          </p:cNvPr>
          <p:cNvSpPr>
            <a:spLocks noGrp="1"/>
          </p:cNvSpPr>
          <p:nvPr/>
        </p:nvSpPr>
        <p:spPr>
          <a:xfrm>
            <a:off x="5238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FFF0E6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LLM</a:t>
            </a:r>
          </a:p>
        </p:txBody>
      </p:sp>
      <p:sp>
        <p:nvSpPr>
          <p:cNvPr id="9" name="Flow arrow">
            <a:extLst>
              <a:ext uri="{FF2B5EF4-FFF2-40B4-BE49-F238E27FC236}">
                <a16:creationId xmlns:a16="http://schemas.microsoft.com/office/drawing/2014/main" id="{4B9105BF-5A5E-4439-B333-70A29515290E}"/>
              </a:ext>
            </a:extLst>
          </p:cNvPr>
          <p:cNvSpPr>
            <a:spLocks noGrp="1"/>
          </p:cNvSpPr>
          <p:nvPr/>
        </p:nvSpPr>
        <p:spPr>
          <a:xfrm>
            <a:off x="6953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0" name="Node Parse + validate">
            <a:extLst>
              <a:ext uri="{FF2B5EF4-FFF2-40B4-BE49-F238E27FC236}">
                <a16:creationId xmlns:a16="http://schemas.microsoft.com/office/drawing/2014/main" id="{D54FEE30-58AB-47EA-B19D-B7BFA2A2C2AA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Parse + validate</a:t>
            </a:r>
          </a:p>
        </p:txBody>
      </p:sp>
      <p:sp>
        <p:nvSpPr>
          <p:cNvPr id="11" name="Flow arrow">
            <a:extLst>
              <a:ext uri="{FF2B5EF4-FFF2-40B4-BE49-F238E27FC236}">
                <a16:creationId xmlns:a16="http://schemas.microsoft.com/office/drawing/2014/main" id="{63F643EE-00F0-45B4-B531-01E55B6614A3}"/>
              </a:ext>
            </a:extLst>
          </p:cNvPr>
          <p:cNvSpPr>
            <a:spLocks noGrp="1"/>
          </p:cNvSpPr>
          <p:nvPr/>
        </p:nvSpPr>
        <p:spPr>
          <a:xfrm>
            <a:off x="9239250" y="3257550"/>
            <a:ext cx="457200" cy="361950"/>
          </a:xfrm>
          <a:prstGeom prst="rightArrow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2" name="Node Execute">
            <a:extLst>
              <a:ext uri="{FF2B5EF4-FFF2-40B4-BE49-F238E27FC236}">
                <a16:creationId xmlns:a16="http://schemas.microsoft.com/office/drawing/2014/main" id="{B1382152-11DA-4E83-86CF-D816721D184E}"/>
              </a:ext>
            </a:extLst>
          </p:cNvPr>
          <p:cNvSpPr>
            <a:spLocks noGrp="1"/>
          </p:cNvSpPr>
          <p:nvPr/>
        </p:nvSpPr>
        <p:spPr>
          <a:xfrm>
            <a:off x="9810750" y="3000375"/>
            <a:ext cx="1666875" cy="876300"/>
          </a:xfrm>
          <a:prstGeom prst="roundRect">
            <a:avLst>
              <a:gd name="adj" fmla="val 8696"/>
            </a:avLst>
          </a:prstGeom>
          <a:solidFill>
            <a:srgbClr val="EAF0FA"/>
          </a:solidFill>
          <a:ln w="14288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0324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24D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13" name="Footer rule">
            <a:extLst>
              <a:ext uri="{FF2B5EF4-FFF2-40B4-BE49-F238E27FC236}">
                <a16:creationId xmlns:a16="http://schemas.microsoft.com/office/drawing/2014/main" id="{CF741868-625B-434D-AF9A-BF2BB61A95C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92EDE167-A015-4D64-8492-0C13C4917A73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54EC07D9-264E-4A60-AD83-D624EABE9DF9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Why grounding matters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Linguistically plausible outputs may still be physically invalid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Environment-defined action IDs establish an execution boundary</a:t>
            </a:r>
          </a:p>
          <a:p>
            <a:pPr marL="26" indent="-14">
              <a:spcAft>
                <a:spcPts val="8"/>
              </a:spcAft>
              <a:buChar char="•"/>
              <a:defRPr sz="20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Validation improves feasibility, but does not guarantee optimality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6FF5C103-0CB6-489D-BE62-8CD08616C4A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AEB5A95-EDA6-4AE9-B68D-9B740CEDB18F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9B9C2C2-7E9F-4375-9DD5-0A862DA74DA8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What this study does not establish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Simulation does not capture physical sensing and hardware uncertainty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Symbolic state is not raw perception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No conventional-planner or reinforcement-learning baseline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Limited runs and coupled prompt-format differences constrain inference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554B4BDB-F84E-46FF-9DED-8CD5AC3F7F4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4D3445F-8EB1-44C6-8071-D630EE83E98E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7552C8E-C8B0-4DCD-80FE-D936A135A54B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Future work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Increase runs, initialisations and scenario coverage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Add non-LLM planning baselines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Explore retrieval and Model Context Protocol tools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Study explicit inter-agent communication and its cost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C632EB75-2DDA-422D-A312-947D06A2439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FA7F457-335A-4BAC-BC55-F55C570CE25D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67CDADC-9FF2-4ABE-99C8-8C6A3BBE6BDB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B1AB-F172-9915-0C24-D2A97A3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"/>
            <a:ext cx="10820400" cy="1066800"/>
          </a:xfrm>
        </p:spPr>
        <p:txBody>
          <a:bodyPr anchor="ctr"/>
          <a:lstStyle/>
          <a:p>
            <a:pPr algn="l">
              <a:def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172033"/>
                </a:solidFill>
                <a:latin typeface="Calibri Light"/>
                <a:ea typeface="Calibri Light"/>
                <a:cs typeface="Calibri Light"/>
              </a:rPr>
              <a:t>Conclusions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922-F909-9990-5A60-46AA9AA9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666875"/>
            <a:ext cx="10172700" cy="4286250"/>
          </a:xfrm>
        </p:spPr>
        <p:txBody>
          <a:bodyPr anchor="ctr"/>
          <a:lstStyle/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Prompted LLMs produced grounded, executable collaborative decisions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Effectiveness depended on model, planning architecture and prompt design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The environment must retain authority over feasibility</a:t>
            </a:r>
          </a:p>
          <a:p>
            <a:pPr marL="26" indent="-14">
              <a:spcAft>
                <a:spcPts val="8"/>
              </a:spcAft>
              <a:buChar char="•"/>
              <a:defRPr sz="1725">
                <a:solidFill>
                  <a:srgbClr val="243247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243247"/>
                </a:solidFill>
                <a:latin typeface="Calibri"/>
                <a:ea typeface="Calibri"/>
                <a:cs typeface="Calibri"/>
              </a:rPr>
              <a:t>  A promising research direction, with reliability still unresolved</a:t>
            </a:r>
          </a:p>
        </p:txBody>
      </p:sp>
      <p:sp>
        <p:nvSpPr>
          <p:cNvPr id="4" name="Footer rule">
            <a:extLst>
              <a:ext uri="{FF2B5EF4-FFF2-40B4-BE49-F238E27FC236}">
                <a16:creationId xmlns:a16="http://schemas.microsoft.com/office/drawing/2014/main" id="{5AB24E45-1953-4684-BBC3-F9B4E6B9DD4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1905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AF606F7-C39A-4459-BF30-D5A22E36FD62}"/>
              </a:ext>
            </a:extLst>
          </p:cNvPr>
          <p:cNvSpPr>
            <a:spLocks noGrp="1"/>
          </p:cNvSpPr>
          <p:nvPr/>
        </p:nvSpPr>
        <p:spPr>
          <a:xfrm>
            <a:off x="723900" y="65341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Master’s thesis · Uppsala University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A203B51A-C725-4B53-8DFF-64A0734DEF84}"/>
              </a:ext>
            </a:extLst>
          </p:cNvPr>
          <p:cNvSpPr>
            <a:spLocks noGrp="1"/>
          </p:cNvSpPr>
          <p:nvPr/>
        </p:nvSpPr>
        <p:spPr>
          <a:xfrm>
            <a:off x="10668000" y="65341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825">
                <a:solidFill>
                  <a:srgbClr val="687386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87386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53091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8526</Words>
  <Application>Microsoft Office PowerPoint</Application>
  <DocSecurity>0</DocSecurity>
  <PresentationFormat>Widescreen</PresentationFormat>
  <Paragraphs>1639</Paragraphs>
  <Slides>36</Slides>
  <Notes>36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2013 - 2022 Theme</vt:lpstr>
      <vt:lpstr>Heterogeneous Multi-Robot Collaboration Using Language Models</vt:lpstr>
      <vt:lpstr>Why multi-robot collaboration?</vt:lpstr>
      <vt:lpstr>What does collaboration mean here?</vt:lpstr>
      <vt:lpstr>Why language models?</vt:lpstr>
      <vt:lpstr>From the problem to the research question</vt:lpstr>
      <vt:lpstr>Main research question</vt:lpstr>
      <vt:lpstr>RQ1 — Which model?</vt:lpstr>
      <vt:lpstr>RQ2 — Who should plan?</vt:lpstr>
      <vt:lpstr>RQ3 — How should the world be represented?</vt:lpstr>
      <vt:lpstr>Experimental approach</vt:lpstr>
      <vt:lpstr>Battery-TA-RWARE</vt:lpstr>
      <vt:lpstr>What does the LLM actually control?</vt:lpstr>
      <vt:lpstr>Grounding: the LLM proposes; the environment validates</vt:lpstr>
      <vt:lpstr>Prompt construction</vt:lpstr>
      <vt:lpstr>Centralised and shared-context planning</vt:lpstr>
      <vt:lpstr>Natural language and JSON</vt:lpstr>
      <vt:lpstr>Models</vt:lpstr>
      <vt:lpstr>Scenarios</vt:lpstr>
      <vt:lpstr>Metrics</vt:lpstr>
      <vt:lpstr>Experimental control</vt:lpstr>
      <vt:lpstr>Results overview</vt:lpstr>
      <vt:lpstr>RQ1 — Larger did not consistently mean better</vt:lpstr>
      <vt:lpstr>RQ1 — Model choice matters, but scale is insufficient</vt:lpstr>
      <vt:lpstr>RQ2 — Shared context usually improved delivery</vt:lpstr>
      <vt:lpstr>RQ2 — The architecture creates a trade-off</vt:lpstr>
      <vt:lpstr>RQ3 — Natural language was stronger overall</vt:lpstr>
      <vt:lpstr>RQ3 — The advantage held within both architectures</vt:lpstr>
      <vt:lpstr>RQ3 — The effect remained model-dependent</vt:lpstr>
      <vt:lpstr>Objective sensitivity was limited</vt:lpstr>
      <vt:lpstr>Battery productivity also varied by model</vt:lpstr>
      <vt:lpstr>What did the three questions tell us?</vt:lpstr>
      <vt:lpstr>The LLM is one component of a larger planning system</vt:lpstr>
      <vt:lpstr>Why grounding matters</vt:lpstr>
      <vt:lpstr>What this study does not establish</vt:lpstr>
      <vt:lpstr>Future work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Rohit Joseph Mamutil</cp:lastModifiedBy>
  <cp:revision>1</cp:revision>
  <dcterms:created xsi:type="dcterms:W3CDTF">2026-08-12T19:42:24Z</dcterms:created>
  <dcterms:modified xsi:type="dcterms:W3CDTF">2026-08-13T08:15:44Z</dcterms:modified>
</cp:coreProperties>
</file>