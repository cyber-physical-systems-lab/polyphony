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notesSlides/_rels/notesSlide2.xml.rels" ContentType="application/vnd.openxmlformats-package.relationships+xml"/>
  <Override PartName="/ppt/notesSlides/_rels/notesSlide26.xml.rels" ContentType="application/vnd.openxmlformats-package.relationships+xml"/>
  <Override PartName="/ppt/notesSlides/_rels/notesSlide11.xml.rels" ContentType="application/vnd.openxmlformats-package.relationships+xml"/>
  <Override PartName="/ppt/notesSlides/_rels/notesSlide14.xml.rels" ContentType="application/vnd.openxmlformats-package.relationships+xml"/>
  <Override PartName="/ppt/notesSlides/_rels/notesSlide1.xml.rels" ContentType="application/vnd.openxmlformats-package.relationships+xml"/>
  <Override PartName="/ppt/notesSlides/_rels/notesSlide10.xml.rels" ContentType="application/vnd.openxmlformats-package.relationships+xml"/>
  <Override PartName="/ppt/notesSlides/_rels/notesSlide25.xml.rels" ContentType="application/vnd.openxmlformats-package.relationships+xml"/>
  <Override PartName="/ppt/notesSlides/_rels/notesSlide22.xml.rels" ContentType="application/vnd.openxmlformats-package.relationships+xml"/>
  <Override PartName="/ppt/notesSlides/_rels/notesSlide23.xml.rels" ContentType="application/vnd.openxmlformats-package.relationships+xml"/>
  <Override PartName="/ppt/notesSlides/_rels/notesSlide24.xml.rels" ContentType="application/vnd.openxmlformats-package.relationships+xml"/>
  <Override PartName="/ppt/notesSlides/_rels/notesSlide5.xml.rels" ContentType="application/vnd.openxmlformats-package.relationships+xml"/>
  <Override PartName="/ppt/notesSlides/_rels/notesSlide19.xml.rels" ContentType="application/vnd.openxmlformats-package.relationships+xml"/>
  <Override PartName="/ppt/notesSlides/_rels/notesSlide20.xml.rels" ContentType="application/vnd.openxmlformats-package.relationships+xml"/>
  <Override PartName="/ppt/notesSlides/_rels/notesSlide21.xml.rels" ContentType="application/vnd.openxmlformats-package.relationships+xml"/>
  <Override PartName="/ppt/notesSlides/_rels/notesSlide9.xml.rels" ContentType="application/vnd.openxmlformats-package.relationships+xml"/>
  <Override PartName="/ppt/notesSlides/_rels/notesSlide13.xml.rels" ContentType="application/vnd.openxmlformats-package.relationships+xml"/>
  <Override PartName="/ppt/notesSlides/_rels/notesSlide18.xml.rels" ContentType="application/vnd.openxmlformats-package.relationships+xml"/>
  <Override PartName="/ppt/notesSlides/_rels/notesSlide12.xml.rels" ContentType="application/vnd.openxmlformats-package.relationships+xml"/>
  <Override PartName="/ppt/notesSlides/_rels/notesSlide8.xml.rels" ContentType="application/vnd.openxmlformats-package.relationships+xml"/>
  <Override PartName="/ppt/notesSlides/_rels/notesSlide17.xml.rels" ContentType="application/vnd.openxmlformats-package.relationships+xml"/>
  <Override PartName="/ppt/notesSlides/_rels/notesSlide4.xml.rels" ContentType="application/vnd.openxmlformats-package.relationships+xml"/>
  <Override PartName="/ppt/notesSlides/_rels/notesSlide7.xml.rels" ContentType="application/vnd.openxmlformats-package.relationships+xml"/>
  <Override PartName="/ppt/notesSlides/_rels/notesSlide16.xml.rels" ContentType="application/vnd.openxmlformats-package.relationships+xml"/>
  <Override PartName="/ppt/notesSlides/_rels/notesSlide6.xml.rels" ContentType="application/vnd.openxmlformats-package.relationships+xml"/>
  <Override PartName="/ppt/notesSlides/_rels/notesSlide15.xml.rels" ContentType="application/vnd.openxmlformats-package.relationships+xml"/>
  <Override PartName="/ppt/notesSlides/_rels/notesSlide3.xml.rels" ContentType="application/vnd.openxmlformats-package.relationships+xml"/>
  <Override PartName="/ppt/notesSlides/_rels/notesSlide27.xml.rels" ContentType="application/vnd.openxmlformats-package.relationships+xml"/>
  <Override PartName="/ppt/notesSlides/notesSlide9.xml" ContentType="application/vnd.openxmlformats-officedocument.presentationml.notesSlide+xml"/>
  <Override PartName="/ppt/notesSlides/notesSlide18.xml" ContentType="application/vnd.openxmlformats-officedocument.presentationml.notesSlide+xml"/>
  <Override PartName="/ppt/notesSlides/notesSlide20.xml" ContentType="application/vnd.openxmlformats-officedocument.presentationml.notesSlide+xml"/>
  <Override PartName="/ppt/notesSlides/notesSlide8.xml" ContentType="application/vnd.openxmlformats-officedocument.presentationml.notesSlide+xml"/>
  <Override PartName="/ppt/notesSlides/notesSlide17.xml" ContentType="application/vnd.openxmlformats-officedocument.presentationml.notesSlide+xml"/>
  <Override PartName="/ppt/notesSlides/notesSlide13.xml" ContentType="application/vnd.openxmlformats-officedocument.presentationml.notesSlide+xml"/>
  <Override PartName="/ppt/notesSlides/notesSlide4.xml" ContentType="application/vnd.openxmlformats-officedocument.presentationml.notesSlide+xml"/>
  <Override PartName="/ppt/notesSlides/notesSlide7.xml" ContentType="application/vnd.openxmlformats-officedocument.presentationml.notesSlide+xml"/>
  <Override PartName="/ppt/notesSlides/notesSlide16.xml" ContentType="application/vnd.openxmlformats-officedocument.presentationml.notesSlide+xml"/>
  <Override PartName="/ppt/notesSlides/notesSlide12.xml" ContentType="application/vnd.openxmlformats-officedocument.presentationml.notesSlide+xml"/>
  <Override PartName="/ppt/notesSlides/notesSlide3.xml" ContentType="application/vnd.openxmlformats-officedocument.presentationml.notesSlide+xml"/>
  <Override PartName="/ppt/notesSlides/notesSlide6.xml" ContentType="application/vnd.openxmlformats-officedocument.presentationml.notesSlide+xml"/>
  <Override PartName="/ppt/notesSlides/notesSlide15.xml" ContentType="application/vnd.openxmlformats-officedocument.presentationml.notesSlide+xml"/>
  <Override PartName="/ppt/notesSlides/notesSlide27.xml" ContentType="application/vnd.openxmlformats-officedocument.presentationml.notesSlide+xml"/>
  <Override PartName="/ppt/notesSlides/notesSlide26.xml" ContentType="application/vnd.openxmlformats-officedocument.presentationml.notesSlide+xml"/>
  <Override PartName="/ppt/notesSlides/notesSlide25.xml" ContentType="application/vnd.openxmlformats-officedocument.presentationml.notesSlide+xml"/>
  <Override PartName="/ppt/notesSlides/notesSlide24.xml" ContentType="application/vnd.openxmlformats-officedocument.presentationml.notesSlide+xml"/>
  <Override PartName="/ppt/notesSlides/notesSlide23.xml" ContentType="application/vnd.openxmlformats-officedocument.presentationml.notesSlide+xml"/>
  <Override PartName="/ppt/notesSlides/notesSlide14.xml" ContentType="application/vnd.openxmlformats-officedocument.presentationml.notesSlide+xml"/>
  <Override PartName="/ppt/notesSlides/notesSlide5.xml" ContentType="application/vnd.openxmlformats-officedocument.presentationml.notesSlide+xml"/>
  <Override PartName="/ppt/notesSlides/notesSlide22.xml" ContentType="application/vnd.openxmlformats-officedocument.presentationml.notesSlide+xml"/>
  <Override PartName="/ppt/notesSlides/notesSlide21.xml" ContentType="application/vnd.openxmlformats-officedocument.presentationml.notesSlide+xml"/>
  <Override PartName="/ppt/notesSlides/notesSlide19.xml" ContentType="application/vnd.openxmlformats-officedocument.presentationml.notesSlide+xml"/>
  <Override PartName="/ppt/notesSlides/notesSlide10.xml" ContentType="application/vnd.openxmlformats-officedocument.presentationml.notesSlide+xml"/>
  <Override PartName="/ppt/notesSlides/notesSlide1.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_rels/presentation.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8.xml.rels" ContentType="application/vnd.openxmlformats-package.relationships+xml"/>
  <Override PartName="/ppt/slideLayouts/_rels/slideLayout5.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6.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10.png" ContentType="image/png"/>
  <Override PartName="/ppt/media/image6.png" ContentType="image/png"/>
  <Override PartName="/ppt/media/image7.png" ContentType="image/png"/>
  <Override PartName="/ppt/media/image8.png" ContentType="image/png"/>
  <Override PartName="/ppt/media/image9.png" ContentType="image/png"/>
  <Override PartName="/ppt/presProps.xml" ContentType="application/vnd.openxmlformats-officedocument.presentationml.presPro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14.xml" ContentType="application/vnd.openxmlformats-officedocument.presentationml.slide+xml"/>
  <Override PartName="/ppt/slides/slide27.xml" ContentType="application/vnd.openxmlformats-officedocument.presentationml.slide+xml"/>
  <Override PartName="/ppt/slides/slide15.xml" ContentType="application/vnd.openxmlformats-officedocument.presentationml.slide+xml"/>
  <Override PartName="/ppt/slides/slide26.xml" ContentType="application/vnd.openxmlformats-officedocument.presentationml.slide+xml"/>
  <Override PartName="/ppt/slides/slide25.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_rels/slide17.xml.rels" ContentType="application/vnd.openxmlformats-package.relationships+xml"/>
  <Override PartName="/ppt/slides/_rels/slide18.xml.rels" ContentType="application/vnd.openxmlformats-package.relationships+xml"/>
  <Override PartName="/ppt/slides/_rels/slide20.xml.rels" ContentType="application/vnd.openxmlformats-package.relationships+xml"/>
  <Override PartName="/ppt/slides/_rels/slide2.xml.rels" ContentType="application/vnd.openxmlformats-package.relationships+xml"/>
  <Override PartName="/ppt/slides/_rels/slide19.xml.rels" ContentType="application/vnd.openxmlformats-package.relationships+xml"/>
  <Override PartName="/ppt/slides/_rels/slide21.xml.rels" ContentType="application/vnd.openxmlformats-package.relationships+xml"/>
  <Override PartName="/ppt/slides/_rels/slide3.xml.rels" ContentType="application/vnd.openxmlformats-package.relationships+xml"/>
  <Override PartName="/ppt/slides/_rels/slide22.xml.rels" ContentType="application/vnd.openxmlformats-package.relationships+xml"/>
  <Override PartName="/ppt/slides/_rels/slide23.xml.rels" ContentType="application/vnd.openxmlformats-package.relationships+xml"/>
  <Override PartName="/ppt/slides/_rels/slide15.xml.rels" ContentType="application/vnd.openxmlformats-package.relationships+xml"/>
  <Override PartName="/ppt/slides/_rels/slide25.xml.rels" ContentType="application/vnd.openxmlformats-package.relationships+xml"/>
  <Override PartName="/ppt/slides/_rels/slide10.xml.rels" ContentType="application/vnd.openxmlformats-package.relationships+xml"/>
  <Override PartName="/ppt/slides/_rels/slide16.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1.xml.rels" ContentType="application/vnd.openxmlformats-package.relationships+xml"/>
  <Override PartName="/ppt/slides/_rels/slide14.xml.rels" ContentType="application/vnd.openxmlformats-package.relationships+xml"/>
  <Override PartName="/ppt/slides/_rels/slide24.xml.rels" ContentType="application/vnd.openxmlformats-package.relationships+xml"/>
  <Override PartName="/ppt/slides/_rels/slide26.xml.rels" ContentType="application/vnd.openxmlformats-package.relationships+xml"/>
  <Override PartName="/ppt/slides/_rels/slide11.xml.rels" ContentType="application/vnd.openxmlformats-package.relationships+xml"/>
  <Override PartName="/ppt/slides/_rels/slide27.xml.rels" ContentType="application/vnd.openxmlformats-package.relationships+xml"/>
  <Override PartName="/ppt/slides/_rels/slide9.xml.rels" ContentType="application/vnd.openxmlformats-package.relationships+xml"/>
  <Override PartName="/ppt/slides/slide16.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Lst>
  <p:sldSz cx="12192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gn="ctr">
              <a:buNone/>
            </a:pPr>
            <a:r>
              <a:rPr b="0" lang="en-US" sz="4400" spc="-1" strike="noStrike">
                <a:latin typeface="Arial"/>
              </a:rPr>
              <a:t>Click to move the slide</a:t>
            </a:r>
            <a:endParaRPr b="0" lang="en-US" sz="4400" spc="-1" strike="noStrike">
              <a:latin typeface="Arial"/>
            </a:endParaRPr>
          </a:p>
        </p:txBody>
      </p:sp>
      <p:sp>
        <p:nvSpPr>
          <p:cNvPr id="42"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US" sz="2000" spc="-1" strike="noStrike">
                <a:latin typeface="Arial"/>
              </a:rPr>
              <a:t>Click to edit the notes format</a:t>
            </a:r>
            <a:endParaRPr b="0" lang="en-US" sz="2000" spc="-1" strike="noStrike">
              <a:latin typeface="Arial"/>
            </a:endParaRPr>
          </a:p>
        </p:txBody>
      </p:sp>
      <p:sp>
        <p:nvSpPr>
          <p:cNvPr id="43" name="PlaceHolder 3"/>
          <p:cNvSpPr>
            <a:spLocks noGrp="1"/>
          </p:cNvSpPr>
          <p:nvPr>
            <p:ph type="hdr"/>
          </p:nvPr>
        </p:nvSpPr>
        <p:spPr>
          <a:xfrm>
            <a:off x="0" y="0"/>
            <a:ext cx="3280680" cy="534240"/>
          </a:xfrm>
          <a:prstGeom prst="rect">
            <a:avLst/>
          </a:prstGeom>
          <a:noFill/>
          <a:ln w="0">
            <a:noFill/>
          </a:ln>
        </p:spPr>
        <p:txBody>
          <a:bodyPr lIns="0" rIns="0" tIns="0" bIns="0" anchor="t">
            <a:noAutofit/>
          </a:bodyPr>
          <a:p>
            <a:r>
              <a:rPr b="0" lang="en-US" sz="1400" spc="-1" strike="noStrike">
                <a:latin typeface="Times New Roman"/>
              </a:rPr>
              <a:t>&lt;header&gt;</a:t>
            </a:r>
            <a:endParaRPr b="0" lang="en-US" sz="1400" spc="-1" strike="noStrike">
              <a:latin typeface="Times New Roman"/>
            </a:endParaRPr>
          </a:p>
        </p:txBody>
      </p:sp>
      <p:sp>
        <p:nvSpPr>
          <p:cNvPr id="44" name="PlaceHolder 4"/>
          <p:cNvSpPr>
            <a:spLocks noGrp="1"/>
          </p:cNvSpPr>
          <p:nvPr>
            <p:ph type="dt" idx="4"/>
          </p:nvPr>
        </p:nvSpPr>
        <p:spPr>
          <a:xfrm>
            <a:off x="4278960" y="0"/>
            <a:ext cx="3280680" cy="534240"/>
          </a:xfrm>
          <a:prstGeom prst="rect">
            <a:avLst/>
          </a:prstGeom>
          <a:noFill/>
          <a:ln w="0">
            <a:noFill/>
          </a:ln>
        </p:spPr>
        <p:txBody>
          <a:bodyPr lIns="0" rIns="0" tIns="0" bIns="0" anchor="t">
            <a:noAutofit/>
          </a:bodyPr>
          <a:lstStyle>
            <a:lvl1pPr algn="r">
              <a:buNone/>
              <a:defRPr b="0" lang="en-US" sz="1400" spc="-1" strike="noStrike">
                <a:latin typeface="Times New Roman"/>
              </a:defRPr>
            </a:lvl1pPr>
          </a:lstStyle>
          <a:p>
            <a:pPr algn="r">
              <a:buNone/>
            </a:pPr>
            <a:r>
              <a:rPr b="0" lang="en-US" sz="1400" spc="-1" strike="noStrike">
                <a:latin typeface="Times New Roman"/>
              </a:rPr>
              <a:t>&lt;date/time&gt;</a:t>
            </a:r>
            <a:endParaRPr b="0" lang="en-US" sz="1400" spc="-1" strike="noStrike">
              <a:latin typeface="Times New Roman"/>
            </a:endParaRPr>
          </a:p>
        </p:txBody>
      </p:sp>
      <p:sp>
        <p:nvSpPr>
          <p:cNvPr id="45" name="PlaceHolder 5"/>
          <p:cNvSpPr>
            <a:spLocks noGrp="1"/>
          </p:cNvSpPr>
          <p:nvPr>
            <p:ph type="ftr" idx="5"/>
          </p:nvPr>
        </p:nvSpPr>
        <p:spPr>
          <a:xfrm>
            <a:off x="0" y="10157400"/>
            <a:ext cx="3280680" cy="534240"/>
          </a:xfrm>
          <a:prstGeom prst="rect">
            <a:avLst/>
          </a:prstGeom>
          <a:noFill/>
          <a:ln w="0">
            <a:noFill/>
          </a:ln>
        </p:spPr>
        <p:txBody>
          <a:bodyPr lIns="0" rIns="0" tIns="0" bIns="0" anchor="b">
            <a:noAutofit/>
          </a:bodyPr>
          <a:lstStyle>
            <a:lvl1pPr>
              <a:defRPr b="0" lang="en-US" sz="1400" spc="-1" strike="noStrike">
                <a:latin typeface="Times New Roman"/>
              </a:defRPr>
            </a:lvl1pPr>
          </a:lstStyle>
          <a:p>
            <a:r>
              <a:rPr b="0" lang="en-US" sz="1400" spc="-1" strike="noStrike">
                <a:latin typeface="Times New Roman"/>
              </a:rPr>
              <a:t>&lt;footer&gt;</a:t>
            </a:r>
            <a:endParaRPr b="0" lang="en-US" sz="1400" spc="-1" strike="noStrike">
              <a:latin typeface="Times New Roman"/>
            </a:endParaRPr>
          </a:p>
        </p:txBody>
      </p:sp>
      <p:sp>
        <p:nvSpPr>
          <p:cNvPr id="46" name="PlaceHolder 6"/>
          <p:cNvSpPr>
            <a:spLocks noGrp="1"/>
          </p:cNvSpPr>
          <p:nvPr>
            <p:ph type="sldNum" idx="6"/>
          </p:nvPr>
        </p:nvSpPr>
        <p:spPr>
          <a:xfrm>
            <a:off x="4278960" y="10157400"/>
            <a:ext cx="3280680" cy="534240"/>
          </a:xfrm>
          <a:prstGeom prst="rect">
            <a:avLst/>
          </a:prstGeom>
          <a:noFill/>
          <a:ln w="0">
            <a:noFill/>
          </a:ln>
        </p:spPr>
        <p:txBody>
          <a:bodyPr lIns="0" rIns="0" tIns="0" bIns="0" anchor="b">
            <a:noAutofit/>
          </a:bodyPr>
          <a:lstStyle>
            <a:lvl1pPr algn="r">
              <a:buNone/>
              <a:defRPr b="0" lang="en-US" sz="1400" spc="-1" strike="noStrike">
                <a:latin typeface="Times New Roman"/>
              </a:defRPr>
            </a:lvl1pPr>
          </a:lstStyle>
          <a:p>
            <a:pPr algn="r">
              <a:buNone/>
            </a:pPr>
            <a:fld id="{E07F9E60-E957-4A6E-B2E2-FA4AE753C99D}" type="slidenum">
              <a:rPr b="0" lang="en-US" sz="1400" spc="-1" strike="noStrike">
                <a:latin typeface="Times New Roman"/>
              </a:rPr>
              <a:t>&lt;number&gt;</a:t>
            </a:fld>
            <a:endParaRPr b="0" lang="en-US"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7" name="PlaceHolder 1"/>
          <p:cNvSpPr>
            <a:spLocks noGrp="1"/>
          </p:cNvSpPr>
          <p:nvPr>
            <p:ph type="sldImg"/>
          </p:nvPr>
        </p:nvSpPr>
        <p:spPr>
          <a:xfrm>
            <a:off x="216000" y="812520"/>
            <a:ext cx="7127280" cy="4008960"/>
          </a:xfrm>
          <a:prstGeom prst="rect">
            <a:avLst/>
          </a:prstGeom>
          <a:ln w="0">
            <a:noFill/>
          </a:ln>
        </p:spPr>
      </p:sp>
      <p:sp>
        <p:nvSpPr>
          <p:cNvPr id="498"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US" sz="1200" spc="-1" strike="noStrike">
                <a:latin typeface="Lato"/>
              </a:rPr>
              <a:t>Good morning. I am Rohit Joseph Mamutil, and this thesis asks a focused question: can locally deployable language models support high-level decisions when robots with different roles must work together? I study that question in a controlled warehouse simulator. The language model chooses task-level actions; the simulator retains navigation and execution. I will first define the collaboration problem, then show the experimental system and scenarios, and finally present the three main comparisons and their limits.</a:t>
            </a:r>
            <a:endParaRPr b="0" lang="en-US" sz="1200" spc="-1" strike="noStrike">
              <a:latin typeface="Lato"/>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9" name="PlaceHolder 1"/>
          <p:cNvSpPr>
            <a:spLocks noGrp="1"/>
          </p:cNvSpPr>
          <p:nvPr>
            <p:ph type="sldImg"/>
          </p:nvPr>
        </p:nvSpPr>
        <p:spPr>
          <a:xfrm>
            <a:off x="216000" y="812520"/>
            <a:ext cx="7127280" cy="4008960"/>
          </a:xfrm>
          <a:prstGeom prst="rect">
            <a:avLst/>
          </a:prstGeom>
          <a:ln w="0">
            <a:noFill/>
          </a:ln>
        </p:spPr>
      </p:sp>
      <p:sp>
        <p:nvSpPr>
          <p:cNvPr id="500"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US" sz="1200" spc="-1" strike="noStrike">
                <a:latin typeface="Lato"/>
              </a:rPr>
              <a:t>A warehouse makes interdependence visible. An AGV can move a shelf, while a Picker provides support at shelf interaction points. Neither role completes the full cycle alone. At the same time, robots share paths, shelves, goals, and charging stations. The research problem is therefore not simply which action is best for one robot, but whether a language model can choose high-level actions that let complementary roles make progress together.</a:t>
            </a:r>
            <a:endParaRPr b="0" lang="en-US" sz="1200" spc="-1" strike="noStrike">
              <a:latin typeface="Lato"/>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1" name="PlaceHolder 1"/>
          <p:cNvSpPr>
            <a:spLocks noGrp="1"/>
          </p:cNvSpPr>
          <p:nvPr>
            <p:ph type="sldImg"/>
          </p:nvPr>
        </p:nvSpPr>
        <p:spPr>
          <a:xfrm>
            <a:off x="216000" y="812520"/>
            <a:ext cx="7127280" cy="4008960"/>
          </a:xfrm>
          <a:prstGeom prst="rect">
            <a:avLst/>
          </a:prstGeom>
          <a:ln w="0">
            <a:noFill/>
          </a:ln>
        </p:spPr>
      </p:sp>
      <p:sp>
        <p:nvSpPr>
          <p:cNvPr id="502"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US" sz="1200" spc="-1" strike="noStrike">
                <a:latin typeface="Lato"/>
              </a:rPr>
              <a:t>This cycle defines collaboration in the simulator. An AGV first travels to a requested shelf. A Picker must meet it at the same shelf action so loading can occur. The AGV then delivers the shelf to a goal; no Picker is needed there. Finally, the AGV returns the shelf to an empty storage location, where Picker support is required again. The key experimental dependency is the two support events: pickup and return.</a:t>
            </a:r>
            <a:endParaRPr b="0" lang="en-US" sz="1200" spc="-1" strike="noStrike">
              <a:latin typeface="Lato"/>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3" name="PlaceHolder 1"/>
          <p:cNvSpPr>
            <a:spLocks noGrp="1"/>
          </p:cNvSpPr>
          <p:nvPr>
            <p:ph type="sldImg"/>
          </p:nvPr>
        </p:nvSpPr>
        <p:spPr>
          <a:xfrm>
            <a:off x="216000" y="812520"/>
            <a:ext cx="7127280" cy="4008960"/>
          </a:xfrm>
          <a:prstGeom prst="rect">
            <a:avLst/>
          </a:prstGeom>
          <a:ln w="0">
            <a:noFill/>
          </a:ln>
        </p:spPr>
      </p:sp>
      <p:sp>
        <p:nvSpPr>
          <p:cNvPr id="504"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US" sz="1200" spc="-1" strike="noStrike">
                <a:latin typeface="Lato"/>
              </a:rPr>
              <a:t>The thesis evaluates LLMs as high-level decision components, not as end-to-end robot controllers. The model sees a symbolic snapshot and candidate actions, then selects what an agent should pursue. The simulator handles how that action is executed. The main question is whether prompted LLMs can produce executable decisions that lead to successful heterogeneous collaboration in this constrained setting.</a:t>
            </a:r>
            <a:endParaRPr b="0" lang="en-US" sz="1200" spc="-1" strike="noStrike">
              <a:latin typeface="Lato"/>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5" name="PlaceHolder 1"/>
          <p:cNvSpPr>
            <a:spLocks noGrp="1"/>
          </p:cNvSpPr>
          <p:nvPr>
            <p:ph type="sldImg"/>
          </p:nvPr>
        </p:nvSpPr>
        <p:spPr>
          <a:xfrm>
            <a:off x="216000" y="812520"/>
            <a:ext cx="7127280" cy="4008960"/>
          </a:xfrm>
          <a:prstGeom prst="rect">
            <a:avLst/>
          </a:prstGeom>
          <a:ln w="0">
            <a:noFill/>
          </a:ln>
        </p:spPr>
      </p:sp>
      <p:sp>
        <p:nvSpPr>
          <p:cNvPr id="506"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US" sz="1200" spc="-1" strike="noStrike">
                <a:latin typeface="Lato"/>
              </a:rPr>
              <a:t>The broad question becomes three controlled comparisons. RQ1 varies the selected local model and asks whether performance rises consistently with nominal parameter size. RQ2 compares one joint planning call with separate per-agent decisions informed by shared context. RQ3 compares the complete natural-language and JSON prompt interfaces. These are system-design questions about how an LLM is used, not only which model is used.</a:t>
            </a:r>
            <a:endParaRPr b="0" lang="en-US" sz="1200" spc="-1" strike="noStrike">
              <a:latin typeface="Lato"/>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7" name="PlaceHolder 1"/>
          <p:cNvSpPr>
            <a:spLocks noGrp="1"/>
          </p:cNvSpPr>
          <p:nvPr>
            <p:ph type="sldImg"/>
          </p:nvPr>
        </p:nvSpPr>
        <p:spPr>
          <a:xfrm>
            <a:off x="216000" y="812520"/>
            <a:ext cx="7127280" cy="4008960"/>
          </a:xfrm>
          <a:prstGeom prst="rect">
            <a:avLst/>
          </a:prstGeom>
          <a:ln w="0">
            <a:noFill/>
          </a:ln>
        </p:spPr>
      </p:sp>
      <p:sp>
        <p:nvSpPr>
          <p:cNvPr id="508"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US" sz="1200" spc="-1" strike="noStrike">
                <a:latin typeface="Lato"/>
              </a:rPr>
              <a:t>Battery-TA-RWARE is a discrete-time grid warehouse derived from TA-RWARE. Purple cells are shelf positions, green cells mark requested shelves, the lower edge contains delivery goals, and the top edge contains charging stations. AGVs and Pickers move through shared lanes. The environment supplies a global symbolic state for these experiments and handles A-star paths, collision resolution, battery updates, and shelf mechanics.</a:t>
            </a:r>
            <a:endParaRPr b="0" lang="en-US" sz="1200" spc="-1" strike="noStrike">
              <a:latin typeface="Lato"/>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9" name="PlaceHolder 1"/>
          <p:cNvSpPr>
            <a:spLocks noGrp="1"/>
          </p:cNvSpPr>
          <p:nvPr>
            <p:ph type="sldImg"/>
          </p:nvPr>
        </p:nvSpPr>
        <p:spPr>
          <a:xfrm>
            <a:off x="216000" y="812520"/>
            <a:ext cx="7127280" cy="4008960"/>
          </a:xfrm>
          <a:prstGeom prst="rect">
            <a:avLst/>
          </a:prstGeom>
          <a:ln w="0">
            <a:noFill/>
          </a:ln>
        </p:spPr>
      </p:sp>
      <p:sp>
        <p:nvSpPr>
          <p:cNvPr id="510"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US" sz="1200" spc="-1" strike="noStrike">
                <a:latin typeface="Lato"/>
              </a:rPr>
              <a:t>The scenario set varies spatial scale as well as team composition. The tiny layout is a 15 by 14 grid with one shelf row. The small layout extends this to 25 by 14 with two shelf rows. The medium layout is also 25 cells high but widens to 22 cells and five shelf columns. Larger layouts increase path length, shelf positions, and the number of simultaneous decisions.</a:t>
            </a:r>
            <a:endParaRPr b="0" lang="en-US" sz="1200" spc="-1" strike="noStrike">
              <a:latin typeface="Lato"/>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1" name="PlaceHolder 1"/>
          <p:cNvSpPr>
            <a:spLocks noGrp="1"/>
          </p:cNvSpPr>
          <p:nvPr>
            <p:ph type="sldImg"/>
          </p:nvPr>
        </p:nvSpPr>
        <p:spPr>
          <a:xfrm>
            <a:off x="216000" y="812520"/>
            <a:ext cx="7127280" cy="4008960"/>
          </a:xfrm>
          <a:prstGeom prst="rect">
            <a:avLst/>
          </a:prstGeom>
          <a:ln w="0">
            <a:noFill/>
          </a:ln>
        </p:spPr>
      </p:sp>
      <p:sp>
        <p:nvSpPr>
          <p:cNvPr id="512"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US" sz="1200" spc="-1" strike="noStrike">
                <a:latin typeface="Lato"/>
              </a:rPr>
              <a:t>The six scenarios are not six arbitrary maps. They vary two sources of difficulty. Spatial scale changes from tiny to small to medium. Role balance changes from balanced teams to AGV-heavy or Picker-heavy teams. AGV-heavy cases make Picker support scarce; the Picker-heavy case tests whether surplus support capacity is used productively. This design lets the results be compared across distinct collaboration demands.</a:t>
            </a:r>
            <a:endParaRPr b="0" lang="en-US" sz="1200" spc="-1" strike="noStrike">
              <a:latin typeface="Lato"/>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3" name="PlaceHolder 1"/>
          <p:cNvSpPr>
            <a:spLocks noGrp="1"/>
          </p:cNvSpPr>
          <p:nvPr>
            <p:ph type="sldImg"/>
          </p:nvPr>
        </p:nvSpPr>
        <p:spPr>
          <a:xfrm>
            <a:off x="216000" y="812520"/>
            <a:ext cx="7127280" cy="4008960"/>
          </a:xfrm>
          <a:prstGeom prst="rect">
            <a:avLst/>
          </a:prstGeom>
          <a:ln w="0">
            <a:noFill/>
          </a:ln>
        </p:spPr>
      </p:sp>
      <p:sp>
        <p:nvSpPr>
          <p:cNvPr id="514"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US" sz="1200" spc="-1" strike="noStrike">
                <a:latin typeface="Lato"/>
              </a:rPr>
              <a:t>The model operates only at the task-assignment level. Its output is an integer action ID and a short persistence duration. Depending on role and state, that ID may refer to a requested shelf, a goal, an empty return location, a charging station, or no-op. The simulator translates that target into motion and physical interaction. This boundary keeps the experiment focused on high-level decisions rather than navigation quality.</a:t>
            </a:r>
            <a:endParaRPr b="0" lang="en-US" sz="1200" spc="-1" strike="noStrike">
              <a:latin typeface="Lato"/>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5" name="PlaceHolder 1"/>
          <p:cNvSpPr>
            <a:spLocks noGrp="1"/>
          </p:cNvSpPr>
          <p:nvPr>
            <p:ph type="sldImg"/>
          </p:nvPr>
        </p:nvSpPr>
        <p:spPr>
          <a:xfrm>
            <a:off x="216000" y="812520"/>
            <a:ext cx="7127280" cy="4008960"/>
          </a:xfrm>
          <a:prstGeom prst="rect">
            <a:avLst/>
          </a:prstGeom>
          <a:ln w="0">
            <a:noFill/>
          </a:ln>
        </p:spPr>
      </p:sp>
      <p:sp>
        <p:nvSpPr>
          <p:cNvPr id="516"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US" sz="1200" spc="-1" strike="noStrike">
                <a:latin typeface="Lato"/>
              </a:rPr>
              <a:t>At a planning event, the controller reads the current simulator state and builds a symbolic snapshot. It then computes currently allowed actions and shapes a compact role-specific candidate set. A prompt is sent to a locally hosted Ollama model. The response is parsed, checked against the current action set, and either accepted or replaced by a fallback. The simulator executes the macro action, while selective replanning is triggered by completion, expiry, invalidation, or coordination needs.</a:t>
            </a:r>
            <a:endParaRPr b="0" lang="en-US" sz="1200" spc="-1" strike="noStrike">
              <a:latin typeface="Lato"/>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7" name="PlaceHolder 1"/>
          <p:cNvSpPr>
            <a:spLocks noGrp="1"/>
          </p:cNvSpPr>
          <p:nvPr>
            <p:ph type="sldImg"/>
          </p:nvPr>
        </p:nvSpPr>
        <p:spPr>
          <a:xfrm>
            <a:off x="216000" y="812520"/>
            <a:ext cx="7127280" cy="4008960"/>
          </a:xfrm>
          <a:prstGeom prst="rect">
            <a:avLst/>
          </a:prstGeom>
          <a:ln w="0">
            <a:noFill/>
          </a:ln>
        </p:spPr>
      </p:sp>
      <p:sp>
        <p:nvSpPr>
          <p:cNvPr id="518"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US" sz="1200" spc="-1" strike="noStrike">
                <a:latin typeface="Lato"/>
              </a:rPr>
              <a:t>The prompt does not expose the entire raw grid. It provides task semantics, the current agent state, relevant shared context, candidate actions, warnings, and a precise output contract. This example from the thesis shows the same choice in both prompt configurations. The experiment therefore compares complete interfaces: descriptive text and text parsing versus structured JSON and structured-output mode.</a:t>
            </a:r>
            <a:endParaRPr b="0" lang="en-US" sz="1200" spc="-1" strike="noStrike">
              <a:latin typeface="Lato"/>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9" name="PlaceHolder 1"/>
          <p:cNvSpPr>
            <a:spLocks noGrp="1"/>
          </p:cNvSpPr>
          <p:nvPr>
            <p:ph type="sldImg"/>
          </p:nvPr>
        </p:nvSpPr>
        <p:spPr>
          <a:xfrm>
            <a:off x="216000" y="812520"/>
            <a:ext cx="7127280" cy="4008960"/>
          </a:xfrm>
          <a:prstGeom prst="rect">
            <a:avLst/>
          </a:prstGeom>
          <a:ln w="0">
            <a:noFill/>
          </a:ln>
        </p:spPr>
      </p:sp>
      <p:sp>
        <p:nvSpPr>
          <p:cNvPr id="520"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US" sz="1200" spc="-1" strike="noStrike">
                <a:latin typeface="Lato"/>
              </a:rPr>
              <a:t>RQ2 changes who receives each planning problem. Centralized planning sends one global prompt containing a block for every agent needing a decision, and asks for a joint action list. Shared-context planning queries agents one at a time. Each query receives the current agent’s state plus relevant shared information and prior accepted commitments. The state is executed only after the required decisions are collected.</a:t>
            </a:r>
            <a:endParaRPr b="0" lang="en-US" sz="1200" spc="-1" strike="noStrike">
              <a:latin typeface="Lato"/>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1" name="PlaceHolder 1"/>
          <p:cNvSpPr>
            <a:spLocks noGrp="1"/>
          </p:cNvSpPr>
          <p:nvPr>
            <p:ph type="sldImg"/>
          </p:nvPr>
        </p:nvSpPr>
        <p:spPr>
          <a:xfrm>
            <a:off x="216000" y="812520"/>
            <a:ext cx="7127280" cy="4008960"/>
          </a:xfrm>
          <a:prstGeom prst="rect">
            <a:avLst/>
          </a:prstGeom>
          <a:ln w="0">
            <a:noFill/>
          </a:ln>
        </p:spPr>
      </p:sp>
      <p:sp>
        <p:nvSpPr>
          <p:cNvPr id="522"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US" sz="1200" spc="-1" strike="noStrike">
                <a:latin typeface="Lato"/>
              </a:rPr>
              <a:t>Six released, locally deployable models were evaluated without task-specific fine-tuning. They span multiple families, so parameter count is not isolated as a causal variable. All models used the same fixed hardware platform, an NVIDIA RTX A4000, and were served locally through Ollama. Prompt templates, state abstraction, parsing, action checks, and metrics were held constant for each matched comparison.</a:t>
            </a:r>
            <a:endParaRPr b="0" lang="en-US" sz="1200" spc="-1" strike="noStrike">
              <a:latin typeface="Lato"/>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3" name="PlaceHolder 1"/>
          <p:cNvSpPr>
            <a:spLocks noGrp="1"/>
          </p:cNvSpPr>
          <p:nvPr>
            <p:ph type="sldImg"/>
          </p:nvPr>
        </p:nvSpPr>
        <p:spPr>
          <a:xfrm>
            <a:off x="216000" y="812520"/>
            <a:ext cx="7127280" cy="4008960"/>
          </a:xfrm>
          <a:prstGeom prst="rect">
            <a:avLst/>
          </a:prstGeom>
          <a:ln w="0">
            <a:noFill/>
          </a:ln>
        </p:spPr>
      </p:sp>
      <p:sp>
        <p:nvSpPr>
          <p:cNvPr id="524"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US" sz="1200" spc="-1" strike="noStrike">
                <a:latin typeface="Lato"/>
              </a:rPr>
              <a:t>The experiment varies five factors: model, planning architecture, prompt configuration, scenario, and objective wording. The main RQ comparisons use matched configuration-level observations; repeated executions with the same configuration identifiers are averaged before matching. Mean completed shelf deliveries is the primary outcome. LLM calls and deliveries per one thousand calls are secondary measures of interaction frequency, not compute cost.</a:t>
            </a:r>
            <a:endParaRPr b="0" lang="en-US" sz="1200" spc="-1" strike="noStrike">
              <a:latin typeface="Lato"/>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5" name="PlaceHolder 1"/>
          <p:cNvSpPr>
            <a:spLocks noGrp="1"/>
          </p:cNvSpPr>
          <p:nvPr>
            <p:ph type="sldImg"/>
          </p:nvPr>
        </p:nvSpPr>
        <p:spPr>
          <a:xfrm>
            <a:off x="216000" y="812520"/>
            <a:ext cx="7127280" cy="4008960"/>
          </a:xfrm>
          <a:prstGeom prst="rect">
            <a:avLst/>
          </a:prstGeom>
          <a:ln w="0">
            <a:noFill/>
          </a:ln>
        </p:spPr>
      </p:sp>
      <p:sp>
        <p:nvSpPr>
          <p:cNvPr id="526"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US" sz="1200" spc="-1" strike="noStrike">
                <a:latin typeface="Lato"/>
              </a:rPr>
              <a:t>The three comparisons produce a coherent answer. First, model choice matters, but the ranking does not rise consistently with nominal size. Second, shared-context planning produced more deliveries across all six scenarios, while centralized planning used fewer calls. Third, the complete natural-language prompt configuration outperformed the JSON configuration in all six scenarios. These findings demonstrate feasibility within the simulator, not superiority over non-LLM planners.</a:t>
            </a:r>
            <a:endParaRPr b="0" lang="en-US" sz="1200" spc="-1" strike="noStrike">
              <a:latin typeface="Lato"/>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7" name="PlaceHolder 1"/>
          <p:cNvSpPr>
            <a:spLocks noGrp="1"/>
          </p:cNvSpPr>
          <p:nvPr>
            <p:ph type="sldImg"/>
          </p:nvPr>
        </p:nvSpPr>
        <p:spPr>
          <a:xfrm>
            <a:off x="216000" y="812520"/>
            <a:ext cx="7127280" cy="4008960"/>
          </a:xfrm>
          <a:prstGeom prst="rect">
            <a:avLst/>
          </a:prstGeom>
          <a:ln w="0">
            <a:noFill/>
          </a:ln>
        </p:spPr>
      </p:sp>
      <p:sp>
        <p:nvSpPr>
          <p:cNvPr id="528"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US" sz="1200" spc="-1" strike="noStrike">
                <a:latin typeface="Lato"/>
              </a:rPr>
              <a:t>This balanced comparison uses the same 48 matched configurations for every model: 24 natural-language and 24 JSON configurations. Llama 3B achieved the highest mean delivery count at 7.21. Phi-4 achieved the highest call-normalised value at 7.86 deliveries per thousand calls. Larger selected models did not uniformly dominate, so nominal parameter size alone did not predict collaborative task performance among these model artefacts.</a:t>
            </a:r>
            <a:endParaRPr b="0" lang="en-US" sz="1200" spc="-1" strike="noStrike">
              <a:latin typeface="Lato"/>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9" name="PlaceHolder 1"/>
          <p:cNvSpPr>
            <a:spLocks noGrp="1"/>
          </p:cNvSpPr>
          <p:nvPr>
            <p:ph type="sldImg"/>
          </p:nvPr>
        </p:nvSpPr>
        <p:spPr>
          <a:xfrm>
            <a:off x="216000" y="812520"/>
            <a:ext cx="7127280" cy="4008960"/>
          </a:xfrm>
          <a:prstGeom prst="rect">
            <a:avLst/>
          </a:prstGeom>
          <a:ln w="0">
            <a:noFill/>
          </a:ln>
        </p:spPr>
      </p:sp>
      <p:sp>
        <p:nvSpPr>
          <p:cNvPr id="530"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US" sz="1200" spc="-1" strike="noStrike">
                <a:latin typeface="Lato"/>
              </a:rPr>
              <a:t>The result is not that larger models are worse. These are cross-family comparisons involving different training and post-training choices, so parameter count is not a causal variable. The useful conclusion is narrower: selecting a planner by nominal size alone would have missed strong smaller-model performance. Smaller locally deployable models therefore remain viable candidates, although this study did not directly measure latency, energy, or memory use.</a:t>
            </a:r>
            <a:endParaRPr b="0" lang="en-US" sz="1200" spc="-1" strike="noStrike">
              <a:latin typeface="Lato"/>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1" name="PlaceHolder 1"/>
          <p:cNvSpPr>
            <a:spLocks noGrp="1"/>
          </p:cNvSpPr>
          <p:nvPr>
            <p:ph type="sldImg"/>
          </p:nvPr>
        </p:nvSpPr>
        <p:spPr>
          <a:xfrm>
            <a:off x="216000" y="812520"/>
            <a:ext cx="7127280" cy="4008960"/>
          </a:xfrm>
          <a:prstGeom prst="rect">
            <a:avLst/>
          </a:prstGeom>
          <a:ln w="0">
            <a:noFill/>
          </a:ln>
        </p:spPr>
      </p:sp>
      <p:sp>
        <p:nvSpPr>
          <p:cNvPr id="532"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US" sz="1200" spc="-1" strike="noStrike">
                <a:latin typeface="Lato"/>
              </a:rPr>
              <a:t>Across 16 matched configuration-level observations per architecture and scenario, shared-context planning produced higher mean deliveries in all six scenario groups. The advantage therefore was not restricted to a single warehouse size or role balance. However, shared-context planning structurally makes separate per-agent calls, so raw deliveries—not call-normalised efficiency—is the primary architecture measure.</a:t>
            </a:r>
            <a:endParaRPr b="0" lang="en-US" sz="1200" spc="-1" strike="noStrike">
              <a:latin typeface="Lato"/>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3" name="PlaceHolder 1"/>
          <p:cNvSpPr>
            <a:spLocks noGrp="1"/>
          </p:cNvSpPr>
          <p:nvPr>
            <p:ph type="sldImg"/>
          </p:nvPr>
        </p:nvSpPr>
        <p:spPr>
          <a:xfrm>
            <a:off x="216000" y="812520"/>
            <a:ext cx="7127280" cy="4008960"/>
          </a:xfrm>
          <a:prstGeom prst="rect">
            <a:avLst/>
          </a:prstGeom>
          <a:ln w="0">
            <a:noFill/>
          </a:ln>
        </p:spPr>
      </p:sp>
      <p:sp>
        <p:nvSpPr>
          <p:cNvPr id="534"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US" sz="1200" spc="-1" strike="noStrike">
                <a:latin typeface="Lato"/>
              </a:rPr>
              <a:t>At model level, shared-context planning produced more deliveries for five models. Qwen was the exception and produced more under centralized planning. A plausible interpretation is that single-agent outputs simplify each decision, while centralized planning asks the model to construct a compatible joint action. This mechanism was not isolated experimentally. The safe conclusion is a trade-off: shared context generally improved delivery, while centralized planning required fewer model interactions.</a:t>
            </a:r>
            <a:endParaRPr b="0" lang="en-US" sz="1200" spc="-1" strike="noStrike">
              <a:latin typeface="Lato"/>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5" name="PlaceHolder 1"/>
          <p:cNvSpPr>
            <a:spLocks noGrp="1"/>
          </p:cNvSpPr>
          <p:nvPr>
            <p:ph type="sldImg"/>
          </p:nvPr>
        </p:nvSpPr>
        <p:spPr>
          <a:xfrm>
            <a:off x="216000" y="812520"/>
            <a:ext cx="7127280" cy="4008960"/>
          </a:xfrm>
          <a:prstGeom prst="rect">
            <a:avLst/>
          </a:prstGeom>
          <a:ln w="0">
            <a:noFill/>
          </a:ln>
        </p:spPr>
      </p:sp>
      <p:sp>
        <p:nvSpPr>
          <p:cNvPr id="536"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US" sz="1200" spc="-1" strike="noStrike">
                <a:latin typeface="Lato"/>
              </a:rPr>
              <a:t>For each scenario, 24 matched configurations were compared per prompt condition. The complete natural-language configuration produced both higher mean deliveries and higher deliveries per one thousand calls in all six scenarios. The same underlying state variables were available in both conditions. The result concerns the complete interface, including response constraints and parsing, rather than input syntax alone.</a:t>
            </a:r>
            <a:endParaRPr b="0" lang="en-US" sz="1200" spc="-1" strike="noStrike">
              <a:latin typeface="Lato"/>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7" name="PlaceHolder 1"/>
          <p:cNvSpPr>
            <a:spLocks noGrp="1"/>
          </p:cNvSpPr>
          <p:nvPr>
            <p:ph type="sldImg"/>
          </p:nvPr>
        </p:nvSpPr>
        <p:spPr>
          <a:xfrm>
            <a:off x="216000" y="812520"/>
            <a:ext cx="7127280" cy="4008960"/>
          </a:xfrm>
          <a:prstGeom prst="rect">
            <a:avLst/>
          </a:prstGeom>
          <a:ln w="0">
            <a:noFill/>
          </a:ln>
        </p:spPr>
      </p:sp>
      <p:sp>
        <p:nvSpPr>
          <p:cNvPr id="538"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US" sz="1200" spc="-1" strike="noStrike">
                <a:latin typeface="Lato"/>
              </a:rPr>
              <a:t>Natural language also led within both planning architectures and for five of the six models. Phi-4 showed a small JSON advantage. This exception matters because it prevents a universal claim that natural language is inherently better. A reasonable interpretation is that the descriptive prompt made roles, dependencies, and candidate meanings explicit for most models, but the experiment did not isolate input representation from output format.</a:t>
            </a:r>
            <a:endParaRPr b="0" lang="en-US" sz="1200" spc="-1" strike="noStrike">
              <a:latin typeface="Lato"/>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9" name="PlaceHolder 1"/>
          <p:cNvSpPr>
            <a:spLocks noGrp="1"/>
          </p:cNvSpPr>
          <p:nvPr>
            <p:ph type="sldImg"/>
          </p:nvPr>
        </p:nvSpPr>
        <p:spPr>
          <a:xfrm>
            <a:off x="216000" y="812520"/>
            <a:ext cx="7127280" cy="4008960"/>
          </a:xfrm>
          <a:prstGeom prst="rect">
            <a:avLst/>
          </a:prstGeom>
          <a:ln w="0">
            <a:noFill/>
          </a:ln>
        </p:spPr>
      </p:sp>
      <p:sp>
        <p:nvSpPr>
          <p:cNvPr id="540"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US" sz="1200" spc="-1" strike="noStrike">
                <a:latin typeface="Lato"/>
              </a:rPr>
              <a:t>Objective wording was an exploratory analysis, not one of the three main research questions. Four models reduced calls when asked to do so, but Mistral and Gemma increased them. Battery-focused prompting also produced small, mixed changes across battery indicators and deliveries. The models were sensitive to wording, but they did not consistently optimize the requested objective. I therefore treat this as limited objective sensitivity rather than strong adaptation.</a:t>
            </a:r>
            <a:endParaRPr b="0" lang="en-US" sz="1200" spc="-1" strike="noStrike">
              <a:latin typeface="Lato"/>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1" name="PlaceHolder 1"/>
          <p:cNvSpPr>
            <a:spLocks noGrp="1"/>
          </p:cNvSpPr>
          <p:nvPr>
            <p:ph type="sldImg"/>
          </p:nvPr>
        </p:nvSpPr>
        <p:spPr>
          <a:xfrm>
            <a:off x="216000" y="812520"/>
            <a:ext cx="7127280" cy="4008960"/>
          </a:xfrm>
          <a:prstGeom prst="rect">
            <a:avLst/>
          </a:prstGeom>
          <a:ln w="0">
            <a:noFill/>
          </a:ln>
        </p:spPr>
      </p:sp>
      <p:sp>
        <p:nvSpPr>
          <p:cNvPr id="542"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US" sz="1200" spc="-1" strike="noStrike">
                <a:latin typeface="Lato"/>
              </a:rPr>
              <a:t>Within Battery-TA-RWARE, the answer is yes. Successful shelf deliveries occurred across the evaluated models, architectures, prompt configurations, and scenarios. That shows that prompted language models can participate in a constrained high-level decision loop for heterogeneous robot collaboration. The claim is feasibility within this simulator. Because there is no non-LLM baseline, it is not a claim of superiority over conventional planning or reinforcement learning.</a:t>
            </a:r>
            <a:endParaRPr b="0" lang="en-US" sz="1200" spc="-1" strike="noStrike">
              <a:latin typeface="Lato"/>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3" name="PlaceHolder 1"/>
          <p:cNvSpPr>
            <a:spLocks noGrp="1"/>
          </p:cNvSpPr>
          <p:nvPr>
            <p:ph type="sldImg"/>
          </p:nvPr>
        </p:nvSpPr>
        <p:spPr>
          <a:xfrm>
            <a:off x="216000" y="812520"/>
            <a:ext cx="7127280" cy="4008960"/>
          </a:xfrm>
          <a:prstGeom prst="rect">
            <a:avLst/>
          </a:prstGeom>
          <a:ln w="0">
            <a:noFill/>
          </a:ln>
        </p:spPr>
      </p:sp>
      <p:sp>
        <p:nvSpPr>
          <p:cNvPr id="544"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US" sz="1200" spc="-1" strike="noStrike">
                <a:latin typeface="Lato"/>
              </a:rPr>
              <a:t>The results should not be attributed to the language model alone. The controller decides what state to expose, which candidate actions to show, how planning is distributed, how outputs are parsed, and when replanning occurs. The model contributes the high-level selection within that system. This system-level view explains why prompt configuration and planning architecture had large effects and is the main engineering lesson of the thesis.</a:t>
            </a:r>
            <a:endParaRPr b="0" lang="en-US" sz="1200" spc="-1" strike="noStrike">
              <a:latin typeface="Lato"/>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5" name="PlaceHolder 1"/>
          <p:cNvSpPr>
            <a:spLocks noGrp="1"/>
          </p:cNvSpPr>
          <p:nvPr>
            <p:ph type="sldImg"/>
          </p:nvPr>
        </p:nvSpPr>
        <p:spPr>
          <a:xfrm>
            <a:off x="216000" y="812520"/>
            <a:ext cx="7127280" cy="4008960"/>
          </a:xfrm>
          <a:prstGeom prst="rect">
            <a:avLst/>
          </a:prstGeom>
          <a:ln w="0">
            <a:noFill/>
          </a:ln>
        </p:spPr>
      </p:sp>
      <p:sp>
        <p:nvSpPr>
          <p:cNvPr id="546"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US" sz="1200" spc="-1" strike="noStrike">
                <a:latin typeface="Lato"/>
              </a:rPr>
              <a:t>The evaluation is simulation-based and receives symbolic state rather than raw perception. There is no conventional planning or reinforcement-learning baseline. The number of completed runs and simulator initialisations limits statistical strength. The natural-language and JSON conditions differ in both representation and response path. Finally, results belong to the modified Battery-TA-RWARE system and should not be treated as a direct benchmark comparison with published TA-RWARE results.</a:t>
            </a:r>
            <a:endParaRPr b="0" lang="en-US" sz="1200" spc="-1" strike="noStrike">
              <a:latin typeface="Lato"/>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7" name="PlaceHolder 1"/>
          <p:cNvSpPr>
            <a:spLocks noGrp="1"/>
          </p:cNvSpPr>
          <p:nvPr>
            <p:ph type="sldImg"/>
          </p:nvPr>
        </p:nvSpPr>
        <p:spPr>
          <a:xfrm>
            <a:off x="216000" y="812520"/>
            <a:ext cx="7127280" cy="4008960"/>
          </a:xfrm>
          <a:prstGeom prst="rect">
            <a:avLst/>
          </a:prstGeom>
          <a:ln w="0">
            <a:noFill/>
          </a:ln>
        </p:spPr>
      </p:sp>
      <p:sp>
        <p:nvSpPr>
          <p:cNvPr id="548"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US" sz="1200" spc="-1" strike="noStrike">
                <a:latin typeface="Lato"/>
              </a:rPr>
              <a:t>The next step is stronger comparative evidence: more seeds, more runs, broader scenarios, and explicit non-LLM baselines. The interface can also be studied more carefully by separating input representation from output constraints. Additional directions include explicit inter-agent communication, retrieval or tool use when external knowledge is actually needed, and eventual validation with physical robots and uncertain sensing.</a:t>
            </a:r>
            <a:endParaRPr b="0" lang="en-US" sz="1200" spc="-1" strike="noStrike">
              <a:latin typeface="Lato"/>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9" name="PlaceHolder 1"/>
          <p:cNvSpPr>
            <a:spLocks noGrp="1"/>
          </p:cNvSpPr>
          <p:nvPr>
            <p:ph type="sldImg"/>
          </p:nvPr>
        </p:nvSpPr>
        <p:spPr>
          <a:xfrm>
            <a:off x="216000" y="812520"/>
            <a:ext cx="7127280" cy="4008960"/>
          </a:xfrm>
          <a:prstGeom prst="rect">
            <a:avLst/>
          </a:prstGeom>
          <a:ln w="0">
            <a:noFill/>
          </a:ln>
        </p:spPr>
      </p:sp>
      <p:sp>
        <p:nvSpPr>
          <p:cNvPr id="550"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US" sz="1200" spc="-1" strike="noStrike">
                <a:latin typeface="Lato"/>
              </a:rPr>
              <a:t>To conclude, prompted language models supported executable high-level decisions for heterogeneous collaboration in the tested warehouse simulator. Performance depended strongly on the selected model, the planning architecture, and the complete prompt interface. Smaller models remained competitive; shared context generally improved deliveries; and natural language performed best overall. The contribution is a controlled framework and evidence of feasibility. Reliability and superiority over established methods remain open questions. Thank you.</a:t>
            </a:r>
            <a:endParaRPr b="0" lang="en-US" sz="1200" spc="-1" strike="noStrike">
              <a:latin typeface="Lato"/>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EEBA30F9-B8E5-4ADC-BCC5-7D4332ED6786}" type="slidenum">
              <a:t>&lt;#&gt;</a:t>
            </a:fld>
          </a:p>
        </p:txBody>
      </p:sp>
      <p:sp>
        <p:nvSpPr>
          <p:cNvPr id="4" name="PlaceHolder 3"/>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6" name="PlaceHolder 2"/>
          <p:cNvSpPr>
            <a:spLocks noGrp="1"/>
          </p:cNvSpPr>
          <p:nvPr>
            <p:ph type="subTitle"/>
          </p:nvPr>
        </p:nvSpPr>
        <p:spPr>
          <a:xfrm>
            <a:off x="504000" y="1326600"/>
            <a:ext cx="9071640" cy="328824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D6C39F67-FDB6-4466-9FFF-BA4579621D60}"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8" name="PlaceHolder 2"/>
          <p:cNvSpPr>
            <a:spLocks noGrp="1"/>
          </p:cNvSpPr>
          <p:nvPr>
            <p:ph/>
          </p:nvPr>
        </p:nvSpPr>
        <p:spPr>
          <a:xfrm>
            <a:off x="504000" y="1326600"/>
            <a:ext cx="9071640" cy="3288240"/>
          </a:xfrm>
          <a:prstGeom prst="rect">
            <a:avLst/>
          </a:prstGeom>
          <a:noFill/>
          <a:ln w="0">
            <a:noFill/>
          </a:ln>
        </p:spPr>
        <p:txBody>
          <a:bodyPr lIns="0" rIns="0" tIns="0" bIns="0" anchor="t">
            <a:normAutofit/>
          </a:bodyPr>
          <a:p>
            <a:endParaRPr b="0" lang="en-US" sz="3200" spc="-1" strike="noStrike">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48A1CA41-1527-436C-9465-25A708141AD3}"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0" name="PlaceHolder 2"/>
          <p:cNvSpPr>
            <a:spLocks noGrp="1"/>
          </p:cNvSpPr>
          <p:nvPr>
            <p:ph/>
          </p:nvPr>
        </p:nvSpPr>
        <p:spPr>
          <a:xfrm>
            <a:off x="504000" y="1326600"/>
            <a:ext cx="4426920" cy="3288240"/>
          </a:xfrm>
          <a:prstGeom prst="rect">
            <a:avLst/>
          </a:prstGeom>
          <a:noFill/>
          <a:ln w="0">
            <a:noFill/>
          </a:ln>
        </p:spPr>
        <p:txBody>
          <a:bodyPr lIns="0" rIns="0" tIns="0" bIns="0" anchor="t">
            <a:normAutofit/>
          </a:bodyPr>
          <a:p>
            <a:endParaRPr b="0" lang="en-US" sz="3200" spc="-1" strike="noStrike">
              <a:latin typeface="Arial"/>
            </a:endParaRPr>
          </a:p>
        </p:txBody>
      </p:sp>
      <p:sp>
        <p:nvSpPr>
          <p:cNvPr id="11" name="PlaceHolder 3"/>
          <p:cNvSpPr>
            <a:spLocks noGrp="1"/>
          </p:cNvSpPr>
          <p:nvPr>
            <p:ph/>
          </p:nvPr>
        </p:nvSpPr>
        <p:spPr>
          <a:xfrm>
            <a:off x="5152680" y="1326600"/>
            <a:ext cx="4426920" cy="3288240"/>
          </a:xfrm>
          <a:prstGeom prst="rect">
            <a:avLst/>
          </a:prstGeom>
          <a:noFill/>
          <a:ln w="0">
            <a:noFill/>
          </a:ln>
        </p:spPr>
        <p:txBody>
          <a:bodyPr lIns="0" rIns="0" tIns="0" bIns="0" anchor="t">
            <a:normAutofit/>
          </a:bodyPr>
          <a:p>
            <a:endParaRPr b="0" lang="en-US" sz="3200" spc="-1" strike="noStrike">
              <a:latin typeface="Arial"/>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0C016E12-BACD-4564-9712-B4DA459B4CF0}" type="slidenum">
              <a:t>&lt;#&gt;</a:t>
            </a:fld>
          </a:p>
        </p:txBody>
      </p:sp>
      <p:sp>
        <p:nvSpPr>
          <p:cNvPr id="7" name="PlaceHolder 6"/>
          <p:cNvSpPr>
            <a:spLocks noGrp="1"/>
          </p:cNvSpPr>
          <p:nvPr>
            <p:ph type="dt" idx="1"/>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D823B3E3-9E7C-409C-9C99-3F8CF06E0B8C}" type="slidenum">
              <a:t>&lt;#&gt;</a:t>
            </a:fld>
          </a:p>
        </p:txBody>
      </p:sp>
      <p:sp>
        <p:nvSpPr>
          <p:cNvPr id="5" name="PlaceHolder 4"/>
          <p:cNvSpPr>
            <a:spLocks noGrp="1"/>
          </p:cNvSpPr>
          <p:nvPr>
            <p:ph type="dt" idx="1"/>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504000" y="226080"/>
            <a:ext cx="9071640" cy="438840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C84D5A08-92A4-428E-9E5D-DCBB47B70A9A}" type="slidenum">
              <a:t>&lt;#&gt;</a:t>
            </a:fld>
          </a:p>
        </p:txBody>
      </p:sp>
      <p:sp>
        <p:nvSpPr>
          <p:cNvPr id="5" name="PlaceHolder 4"/>
          <p:cNvSpPr>
            <a:spLocks noGrp="1"/>
          </p:cNvSpPr>
          <p:nvPr>
            <p:ph type="dt" idx="1"/>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5" name="PlaceHolder 2"/>
          <p:cNvSpPr>
            <a:spLocks noGrp="1"/>
          </p:cNvSpPr>
          <p:nvPr>
            <p:ph/>
          </p:nvPr>
        </p:nvSpPr>
        <p:spPr>
          <a:xfrm>
            <a:off x="504000" y="1326600"/>
            <a:ext cx="4426920" cy="1568160"/>
          </a:xfrm>
          <a:prstGeom prst="rect">
            <a:avLst/>
          </a:prstGeom>
          <a:noFill/>
          <a:ln w="0">
            <a:noFill/>
          </a:ln>
        </p:spPr>
        <p:txBody>
          <a:bodyPr lIns="0" rIns="0" tIns="0" bIns="0" anchor="t">
            <a:normAutofit/>
          </a:bodyPr>
          <a:p>
            <a:endParaRPr b="0" lang="en-US" sz="3200" spc="-1" strike="noStrike">
              <a:latin typeface="Arial"/>
            </a:endParaRPr>
          </a:p>
        </p:txBody>
      </p:sp>
      <p:sp>
        <p:nvSpPr>
          <p:cNvPr id="16" name="PlaceHolder 3"/>
          <p:cNvSpPr>
            <a:spLocks noGrp="1"/>
          </p:cNvSpPr>
          <p:nvPr>
            <p:ph/>
          </p:nvPr>
        </p:nvSpPr>
        <p:spPr>
          <a:xfrm>
            <a:off x="5152680" y="1326600"/>
            <a:ext cx="4426920" cy="3288240"/>
          </a:xfrm>
          <a:prstGeom prst="rect">
            <a:avLst/>
          </a:prstGeom>
          <a:noFill/>
          <a:ln w="0">
            <a:noFill/>
          </a:ln>
        </p:spPr>
        <p:txBody>
          <a:bodyPr lIns="0" rIns="0" tIns="0" bIns="0" anchor="t">
            <a:normAutofit/>
          </a:bodyPr>
          <a:p>
            <a:endParaRPr b="0" lang="en-US" sz="3200" spc="-1" strike="noStrike">
              <a:latin typeface="Arial"/>
            </a:endParaRPr>
          </a:p>
        </p:txBody>
      </p:sp>
      <p:sp>
        <p:nvSpPr>
          <p:cNvPr id="17" name="PlaceHolder 4"/>
          <p:cNvSpPr>
            <a:spLocks noGrp="1"/>
          </p:cNvSpPr>
          <p:nvPr>
            <p:ph/>
          </p:nvPr>
        </p:nvSpPr>
        <p:spPr>
          <a:xfrm>
            <a:off x="504000" y="3044160"/>
            <a:ext cx="4426920" cy="156816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A784BE6C-2BDC-44A8-95DA-CB1D98C20706}" type="slidenum">
              <a:t>&lt;#&gt;</a:t>
            </a:fld>
          </a:p>
        </p:txBody>
      </p:sp>
      <p:sp>
        <p:nvSpPr>
          <p:cNvPr id="8" name="PlaceHolder 7"/>
          <p:cNvSpPr>
            <a:spLocks noGrp="1"/>
          </p:cNvSpPr>
          <p:nvPr>
            <p:ph type="dt" idx="1"/>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9" name="PlaceHolder 2"/>
          <p:cNvSpPr>
            <a:spLocks noGrp="1"/>
          </p:cNvSpPr>
          <p:nvPr>
            <p:ph/>
          </p:nvPr>
        </p:nvSpPr>
        <p:spPr>
          <a:xfrm>
            <a:off x="504000" y="1326600"/>
            <a:ext cx="4426920" cy="3288240"/>
          </a:xfrm>
          <a:prstGeom prst="rect">
            <a:avLst/>
          </a:prstGeom>
          <a:noFill/>
          <a:ln w="0">
            <a:noFill/>
          </a:ln>
        </p:spPr>
        <p:txBody>
          <a:bodyPr lIns="0" rIns="0" tIns="0" bIns="0" anchor="t">
            <a:normAutofit/>
          </a:bodyPr>
          <a:p>
            <a:endParaRPr b="0" lang="en-US" sz="3200" spc="-1" strike="noStrike">
              <a:latin typeface="Arial"/>
            </a:endParaRPr>
          </a:p>
        </p:txBody>
      </p:sp>
      <p:sp>
        <p:nvSpPr>
          <p:cNvPr id="20" name="PlaceHolder 3"/>
          <p:cNvSpPr>
            <a:spLocks noGrp="1"/>
          </p:cNvSpPr>
          <p:nvPr>
            <p:ph/>
          </p:nvPr>
        </p:nvSpPr>
        <p:spPr>
          <a:xfrm>
            <a:off x="5152680" y="1326600"/>
            <a:ext cx="4426920" cy="1568160"/>
          </a:xfrm>
          <a:prstGeom prst="rect">
            <a:avLst/>
          </a:prstGeom>
          <a:noFill/>
          <a:ln w="0">
            <a:noFill/>
          </a:ln>
        </p:spPr>
        <p:txBody>
          <a:bodyPr lIns="0" rIns="0" tIns="0" bIns="0" anchor="t">
            <a:normAutofit/>
          </a:bodyPr>
          <a:p>
            <a:endParaRPr b="0" lang="en-US" sz="3200" spc="-1" strike="noStrike">
              <a:latin typeface="Arial"/>
            </a:endParaRPr>
          </a:p>
        </p:txBody>
      </p:sp>
      <p:sp>
        <p:nvSpPr>
          <p:cNvPr id="21" name="PlaceHolder 4"/>
          <p:cNvSpPr>
            <a:spLocks noGrp="1"/>
          </p:cNvSpPr>
          <p:nvPr>
            <p:ph/>
          </p:nvPr>
        </p:nvSpPr>
        <p:spPr>
          <a:xfrm>
            <a:off x="5152680" y="3044160"/>
            <a:ext cx="4426920" cy="156816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E9E3DBC1-7996-4521-8B16-CB526D6EA327}" type="slidenum">
              <a:t>&lt;#&gt;</a:t>
            </a:fld>
          </a:p>
        </p:txBody>
      </p:sp>
      <p:sp>
        <p:nvSpPr>
          <p:cNvPr id="8" name="PlaceHolder 7"/>
          <p:cNvSpPr>
            <a:spLocks noGrp="1"/>
          </p:cNvSpPr>
          <p:nvPr>
            <p:ph type="dt" idx="1"/>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23" name="PlaceHolder 2"/>
          <p:cNvSpPr>
            <a:spLocks noGrp="1"/>
          </p:cNvSpPr>
          <p:nvPr>
            <p:ph/>
          </p:nvPr>
        </p:nvSpPr>
        <p:spPr>
          <a:xfrm>
            <a:off x="504000" y="1326600"/>
            <a:ext cx="4426920" cy="1568160"/>
          </a:xfrm>
          <a:prstGeom prst="rect">
            <a:avLst/>
          </a:prstGeom>
          <a:noFill/>
          <a:ln w="0">
            <a:noFill/>
          </a:ln>
        </p:spPr>
        <p:txBody>
          <a:bodyPr lIns="0" rIns="0" tIns="0" bIns="0" anchor="t">
            <a:normAutofit/>
          </a:bodyPr>
          <a:p>
            <a:endParaRPr b="0" lang="en-US" sz="3200" spc="-1" strike="noStrike">
              <a:latin typeface="Arial"/>
            </a:endParaRPr>
          </a:p>
        </p:txBody>
      </p:sp>
      <p:sp>
        <p:nvSpPr>
          <p:cNvPr id="24" name="PlaceHolder 3"/>
          <p:cNvSpPr>
            <a:spLocks noGrp="1"/>
          </p:cNvSpPr>
          <p:nvPr>
            <p:ph/>
          </p:nvPr>
        </p:nvSpPr>
        <p:spPr>
          <a:xfrm>
            <a:off x="5152680" y="1326600"/>
            <a:ext cx="4426920" cy="1568160"/>
          </a:xfrm>
          <a:prstGeom prst="rect">
            <a:avLst/>
          </a:prstGeom>
          <a:noFill/>
          <a:ln w="0">
            <a:noFill/>
          </a:ln>
        </p:spPr>
        <p:txBody>
          <a:bodyPr lIns="0" rIns="0" tIns="0" bIns="0" anchor="t">
            <a:normAutofit/>
          </a:bodyPr>
          <a:p>
            <a:endParaRPr b="0" lang="en-US" sz="3200" spc="-1" strike="noStrike">
              <a:latin typeface="Arial"/>
            </a:endParaRPr>
          </a:p>
        </p:txBody>
      </p:sp>
      <p:sp>
        <p:nvSpPr>
          <p:cNvPr id="25" name="PlaceHolder 4"/>
          <p:cNvSpPr>
            <a:spLocks noGrp="1"/>
          </p:cNvSpPr>
          <p:nvPr>
            <p:ph/>
          </p:nvPr>
        </p:nvSpPr>
        <p:spPr>
          <a:xfrm>
            <a:off x="504000" y="3044160"/>
            <a:ext cx="9071640" cy="156816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A860A74E-C803-4DCD-9506-40D6E18EA179}" type="slidenum">
              <a:t>&lt;#&gt;</a:t>
            </a:fld>
          </a:p>
        </p:txBody>
      </p:sp>
      <p:sp>
        <p:nvSpPr>
          <p:cNvPr id="8" name="PlaceHolder 7"/>
          <p:cNvSpPr>
            <a:spLocks noGrp="1"/>
          </p:cNvSpPr>
          <p:nvPr>
            <p:ph type="dt" idx="1"/>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27" name="PlaceHolder 2"/>
          <p:cNvSpPr>
            <a:spLocks noGrp="1"/>
          </p:cNvSpPr>
          <p:nvPr>
            <p:ph/>
          </p:nvPr>
        </p:nvSpPr>
        <p:spPr>
          <a:xfrm>
            <a:off x="504000" y="1326600"/>
            <a:ext cx="9071640" cy="1568160"/>
          </a:xfrm>
          <a:prstGeom prst="rect">
            <a:avLst/>
          </a:prstGeom>
          <a:noFill/>
          <a:ln w="0">
            <a:noFill/>
          </a:ln>
        </p:spPr>
        <p:txBody>
          <a:bodyPr lIns="0" rIns="0" tIns="0" bIns="0" anchor="t">
            <a:normAutofit/>
          </a:bodyPr>
          <a:p>
            <a:endParaRPr b="0" lang="en-US" sz="3200" spc="-1" strike="noStrike">
              <a:latin typeface="Arial"/>
            </a:endParaRPr>
          </a:p>
        </p:txBody>
      </p:sp>
      <p:sp>
        <p:nvSpPr>
          <p:cNvPr id="28" name="PlaceHolder 3"/>
          <p:cNvSpPr>
            <a:spLocks noGrp="1"/>
          </p:cNvSpPr>
          <p:nvPr>
            <p:ph/>
          </p:nvPr>
        </p:nvSpPr>
        <p:spPr>
          <a:xfrm>
            <a:off x="504000" y="3044160"/>
            <a:ext cx="9071640" cy="1568160"/>
          </a:xfrm>
          <a:prstGeom prst="rect">
            <a:avLst/>
          </a:prstGeom>
          <a:noFill/>
          <a:ln w="0">
            <a:noFill/>
          </a:ln>
        </p:spPr>
        <p:txBody>
          <a:bodyPr lIns="0" rIns="0" tIns="0" bIns="0" anchor="t">
            <a:normAutofit/>
          </a:bodyPr>
          <a:p>
            <a:endParaRPr b="0" lang="en-US" sz="3200" spc="-1" strike="noStrike">
              <a:latin typeface="Arial"/>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8AF51233-1CC9-456D-AB03-3E2C478E51B0}" type="slidenum">
              <a:t>&lt;#&gt;</a:t>
            </a:fld>
          </a:p>
        </p:txBody>
      </p:sp>
      <p:sp>
        <p:nvSpPr>
          <p:cNvPr id="7" name="PlaceHolder 6"/>
          <p:cNvSpPr>
            <a:spLocks noGrp="1"/>
          </p:cNvSpPr>
          <p:nvPr>
            <p:ph type="dt" idx="1"/>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0" name="PlaceHolder 2"/>
          <p:cNvSpPr>
            <a:spLocks noGrp="1"/>
          </p:cNvSpPr>
          <p:nvPr>
            <p:ph/>
          </p:nvPr>
        </p:nvSpPr>
        <p:spPr>
          <a:xfrm>
            <a:off x="504000" y="1326600"/>
            <a:ext cx="4426920" cy="1568160"/>
          </a:xfrm>
          <a:prstGeom prst="rect">
            <a:avLst/>
          </a:prstGeom>
          <a:noFill/>
          <a:ln w="0">
            <a:noFill/>
          </a:ln>
        </p:spPr>
        <p:txBody>
          <a:bodyPr lIns="0" rIns="0" tIns="0" bIns="0" anchor="t">
            <a:normAutofit/>
          </a:bodyPr>
          <a:p>
            <a:endParaRPr b="0" lang="en-US" sz="3200" spc="-1" strike="noStrike">
              <a:latin typeface="Arial"/>
            </a:endParaRPr>
          </a:p>
        </p:txBody>
      </p:sp>
      <p:sp>
        <p:nvSpPr>
          <p:cNvPr id="31" name="PlaceHolder 3"/>
          <p:cNvSpPr>
            <a:spLocks noGrp="1"/>
          </p:cNvSpPr>
          <p:nvPr>
            <p:ph/>
          </p:nvPr>
        </p:nvSpPr>
        <p:spPr>
          <a:xfrm>
            <a:off x="5152680" y="1326600"/>
            <a:ext cx="4426920" cy="1568160"/>
          </a:xfrm>
          <a:prstGeom prst="rect">
            <a:avLst/>
          </a:prstGeom>
          <a:noFill/>
          <a:ln w="0">
            <a:noFill/>
          </a:ln>
        </p:spPr>
        <p:txBody>
          <a:bodyPr lIns="0" rIns="0" tIns="0" bIns="0" anchor="t">
            <a:normAutofit/>
          </a:bodyPr>
          <a:p>
            <a:endParaRPr b="0" lang="en-US" sz="3200" spc="-1" strike="noStrike">
              <a:latin typeface="Arial"/>
            </a:endParaRPr>
          </a:p>
        </p:txBody>
      </p:sp>
      <p:sp>
        <p:nvSpPr>
          <p:cNvPr id="32" name="PlaceHolder 4"/>
          <p:cNvSpPr>
            <a:spLocks noGrp="1"/>
          </p:cNvSpPr>
          <p:nvPr>
            <p:ph/>
          </p:nvPr>
        </p:nvSpPr>
        <p:spPr>
          <a:xfrm>
            <a:off x="504000" y="3044160"/>
            <a:ext cx="4426920" cy="1568160"/>
          </a:xfrm>
          <a:prstGeom prst="rect">
            <a:avLst/>
          </a:prstGeom>
          <a:noFill/>
          <a:ln w="0">
            <a:noFill/>
          </a:ln>
        </p:spPr>
        <p:txBody>
          <a:bodyPr lIns="0" rIns="0" tIns="0" bIns="0" anchor="t">
            <a:normAutofit/>
          </a:bodyPr>
          <a:p>
            <a:endParaRPr b="0" lang="en-US" sz="3200" spc="-1" strike="noStrike">
              <a:latin typeface="Arial"/>
            </a:endParaRPr>
          </a:p>
        </p:txBody>
      </p:sp>
      <p:sp>
        <p:nvSpPr>
          <p:cNvPr id="33" name="PlaceHolder 5"/>
          <p:cNvSpPr>
            <a:spLocks noGrp="1"/>
          </p:cNvSpPr>
          <p:nvPr>
            <p:ph/>
          </p:nvPr>
        </p:nvSpPr>
        <p:spPr>
          <a:xfrm>
            <a:off x="5152680" y="3044160"/>
            <a:ext cx="4426920" cy="1568160"/>
          </a:xfrm>
          <a:prstGeom prst="rect">
            <a:avLst/>
          </a:prstGeom>
          <a:noFill/>
          <a:ln w="0">
            <a:noFill/>
          </a:ln>
        </p:spPr>
        <p:txBody>
          <a:bodyPr lIns="0" rIns="0" tIns="0" bIns="0" anchor="t">
            <a:normAutofit/>
          </a:bodyPr>
          <a:p>
            <a:endParaRPr b="0" lang="en-US" sz="3200" spc="-1" strike="noStrike">
              <a:latin typeface="Arial"/>
            </a:endParaRPr>
          </a:p>
        </p:txBody>
      </p:sp>
      <p:sp>
        <p:nvSpPr>
          <p:cNvPr id="7" name="PlaceHolder 6"/>
          <p:cNvSpPr>
            <a:spLocks noGrp="1"/>
          </p:cNvSpPr>
          <p:nvPr>
            <p:ph type="ftr" idx="2"/>
          </p:nvPr>
        </p:nvSpPr>
        <p:spPr/>
        <p:txBody>
          <a:bodyPr/>
          <a:p>
            <a:r>
              <a:t>Footer</a:t>
            </a:r>
          </a:p>
        </p:txBody>
      </p:sp>
      <p:sp>
        <p:nvSpPr>
          <p:cNvPr id="8" name="PlaceHolder 7"/>
          <p:cNvSpPr>
            <a:spLocks noGrp="1"/>
          </p:cNvSpPr>
          <p:nvPr>
            <p:ph type="sldNum" idx="3"/>
          </p:nvPr>
        </p:nvSpPr>
        <p:spPr/>
        <p:txBody>
          <a:bodyPr/>
          <a:p>
            <a:fld id="{8B61F738-98A8-469E-A8BA-2E245FA29606}" type="slidenum">
              <a:t>&lt;#&gt;</a:t>
            </a:fld>
          </a:p>
        </p:txBody>
      </p:sp>
      <p:sp>
        <p:nvSpPr>
          <p:cNvPr id="9" name="PlaceHolder 8"/>
          <p:cNvSpPr>
            <a:spLocks noGrp="1"/>
          </p:cNvSpPr>
          <p:nvPr>
            <p:ph type="dt" idx="1"/>
          </p:nvPr>
        </p:nvSpPr>
        <p:spPr/>
        <p:txBody>
          <a:bodyPr/>
          <a:p>
            <a:r>
              <a:rPr lang="en-US"/>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5" name="PlaceHolder 2"/>
          <p:cNvSpPr>
            <a:spLocks noGrp="1"/>
          </p:cNvSpPr>
          <p:nvPr>
            <p:ph/>
          </p:nvPr>
        </p:nvSpPr>
        <p:spPr>
          <a:xfrm>
            <a:off x="504000" y="1326600"/>
            <a:ext cx="2920680" cy="1568160"/>
          </a:xfrm>
          <a:prstGeom prst="rect">
            <a:avLst/>
          </a:prstGeom>
          <a:noFill/>
          <a:ln w="0">
            <a:noFill/>
          </a:ln>
        </p:spPr>
        <p:txBody>
          <a:bodyPr lIns="0" rIns="0" tIns="0" bIns="0" anchor="t">
            <a:normAutofit/>
          </a:bodyPr>
          <a:p>
            <a:endParaRPr b="0" lang="en-US" sz="3200" spc="-1" strike="noStrike">
              <a:latin typeface="Arial"/>
            </a:endParaRPr>
          </a:p>
        </p:txBody>
      </p:sp>
      <p:sp>
        <p:nvSpPr>
          <p:cNvPr id="36" name="PlaceHolder 3"/>
          <p:cNvSpPr>
            <a:spLocks noGrp="1"/>
          </p:cNvSpPr>
          <p:nvPr>
            <p:ph/>
          </p:nvPr>
        </p:nvSpPr>
        <p:spPr>
          <a:xfrm>
            <a:off x="3571200" y="1326600"/>
            <a:ext cx="2920680" cy="1568160"/>
          </a:xfrm>
          <a:prstGeom prst="rect">
            <a:avLst/>
          </a:prstGeom>
          <a:noFill/>
          <a:ln w="0">
            <a:noFill/>
          </a:ln>
        </p:spPr>
        <p:txBody>
          <a:bodyPr lIns="0" rIns="0" tIns="0" bIns="0" anchor="t">
            <a:normAutofit/>
          </a:bodyPr>
          <a:p>
            <a:endParaRPr b="0" lang="en-US" sz="3200" spc="-1" strike="noStrike">
              <a:latin typeface="Arial"/>
            </a:endParaRPr>
          </a:p>
        </p:txBody>
      </p:sp>
      <p:sp>
        <p:nvSpPr>
          <p:cNvPr id="37" name="PlaceHolder 4"/>
          <p:cNvSpPr>
            <a:spLocks noGrp="1"/>
          </p:cNvSpPr>
          <p:nvPr>
            <p:ph/>
          </p:nvPr>
        </p:nvSpPr>
        <p:spPr>
          <a:xfrm>
            <a:off x="6638040" y="1326600"/>
            <a:ext cx="2920680" cy="1568160"/>
          </a:xfrm>
          <a:prstGeom prst="rect">
            <a:avLst/>
          </a:prstGeom>
          <a:noFill/>
          <a:ln w="0">
            <a:noFill/>
          </a:ln>
        </p:spPr>
        <p:txBody>
          <a:bodyPr lIns="0" rIns="0" tIns="0" bIns="0" anchor="t">
            <a:normAutofit/>
          </a:bodyPr>
          <a:p>
            <a:endParaRPr b="0" lang="en-US" sz="3200" spc="-1" strike="noStrike">
              <a:latin typeface="Arial"/>
            </a:endParaRPr>
          </a:p>
        </p:txBody>
      </p:sp>
      <p:sp>
        <p:nvSpPr>
          <p:cNvPr id="38" name="PlaceHolder 5"/>
          <p:cNvSpPr>
            <a:spLocks noGrp="1"/>
          </p:cNvSpPr>
          <p:nvPr>
            <p:ph/>
          </p:nvPr>
        </p:nvSpPr>
        <p:spPr>
          <a:xfrm>
            <a:off x="504000" y="3044160"/>
            <a:ext cx="2920680" cy="1568160"/>
          </a:xfrm>
          <a:prstGeom prst="rect">
            <a:avLst/>
          </a:prstGeom>
          <a:noFill/>
          <a:ln w="0">
            <a:noFill/>
          </a:ln>
        </p:spPr>
        <p:txBody>
          <a:bodyPr lIns="0" rIns="0" tIns="0" bIns="0" anchor="t">
            <a:normAutofit/>
          </a:bodyPr>
          <a:p>
            <a:endParaRPr b="0" lang="en-US" sz="3200" spc="-1" strike="noStrike">
              <a:latin typeface="Arial"/>
            </a:endParaRPr>
          </a:p>
        </p:txBody>
      </p:sp>
      <p:sp>
        <p:nvSpPr>
          <p:cNvPr id="39" name="PlaceHolder 6"/>
          <p:cNvSpPr>
            <a:spLocks noGrp="1"/>
          </p:cNvSpPr>
          <p:nvPr>
            <p:ph/>
          </p:nvPr>
        </p:nvSpPr>
        <p:spPr>
          <a:xfrm>
            <a:off x="3571200" y="3044160"/>
            <a:ext cx="2920680" cy="1568160"/>
          </a:xfrm>
          <a:prstGeom prst="rect">
            <a:avLst/>
          </a:prstGeom>
          <a:noFill/>
          <a:ln w="0">
            <a:noFill/>
          </a:ln>
        </p:spPr>
        <p:txBody>
          <a:bodyPr lIns="0" rIns="0" tIns="0" bIns="0" anchor="t">
            <a:normAutofit/>
          </a:bodyPr>
          <a:p>
            <a:endParaRPr b="0" lang="en-US" sz="3200" spc="-1" strike="noStrike">
              <a:latin typeface="Arial"/>
            </a:endParaRPr>
          </a:p>
        </p:txBody>
      </p:sp>
      <p:sp>
        <p:nvSpPr>
          <p:cNvPr id="40" name="PlaceHolder 7"/>
          <p:cNvSpPr>
            <a:spLocks noGrp="1"/>
          </p:cNvSpPr>
          <p:nvPr>
            <p:ph/>
          </p:nvPr>
        </p:nvSpPr>
        <p:spPr>
          <a:xfrm>
            <a:off x="6638040" y="3044160"/>
            <a:ext cx="2920680" cy="1568160"/>
          </a:xfrm>
          <a:prstGeom prst="rect">
            <a:avLst/>
          </a:prstGeom>
          <a:noFill/>
          <a:ln w="0">
            <a:noFill/>
          </a:ln>
        </p:spPr>
        <p:txBody>
          <a:bodyPr lIns="0" rIns="0" tIns="0" bIns="0" anchor="t">
            <a:normAutofit/>
          </a:bodyPr>
          <a:p>
            <a:endParaRPr b="0" lang="en-US" sz="3200" spc="-1" strike="noStrike">
              <a:latin typeface="Arial"/>
            </a:endParaRPr>
          </a:p>
        </p:txBody>
      </p:sp>
      <p:sp>
        <p:nvSpPr>
          <p:cNvPr id="9" name="PlaceHolder 8"/>
          <p:cNvSpPr>
            <a:spLocks noGrp="1"/>
          </p:cNvSpPr>
          <p:nvPr>
            <p:ph type="ftr" idx="2"/>
          </p:nvPr>
        </p:nvSpPr>
        <p:spPr/>
        <p:txBody>
          <a:bodyPr/>
          <a:p>
            <a:r>
              <a:t>Footer</a:t>
            </a:r>
          </a:p>
        </p:txBody>
      </p:sp>
      <p:sp>
        <p:nvSpPr>
          <p:cNvPr id="10" name="PlaceHolder 9"/>
          <p:cNvSpPr>
            <a:spLocks noGrp="1"/>
          </p:cNvSpPr>
          <p:nvPr>
            <p:ph type="sldNum" idx="3"/>
          </p:nvPr>
        </p:nvSpPr>
        <p:spPr/>
        <p:txBody>
          <a:bodyPr/>
          <a:p>
            <a:fld id="{9075582D-E312-43D2-8F66-A3DE25897870}" type="slidenum">
              <a:t>&lt;#&gt;</a:t>
            </a:fld>
          </a:p>
        </p:txBody>
      </p:sp>
      <p:sp>
        <p:nvSpPr>
          <p:cNvPr id="11" name="PlaceHolder 10"/>
          <p:cNvSpPr>
            <a:spLocks noGrp="1"/>
          </p:cNvSpPr>
          <p:nvPr>
            <p:ph type="dt" idx="1"/>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0"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algn="ctr">
              <a:buNone/>
            </a:pPr>
            <a:r>
              <a:rPr b="0" lang="en-US" sz="4400" spc="-1" strike="noStrike">
                <a:latin typeface="Arial"/>
              </a:rPr>
              <a:t>Click to edit the title text format</a:t>
            </a:r>
            <a:endParaRPr b="0" lang="en-US" sz="4400" spc="-1" strike="noStrike">
              <a:latin typeface="Arial"/>
            </a:endParaRPr>
          </a:p>
        </p:txBody>
      </p:sp>
      <p:sp>
        <p:nvSpPr>
          <p:cNvPr id="1" name="PlaceHolder 2"/>
          <p:cNvSpPr>
            <a:spLocks noGrp="1"/>
          </p:cNvSpPr>
          <p:nvPr>
            <p:ph type="body"/>
          </p:nvPr>
        </p:nvSpPr>
        <p:spPr>
          <a:xfrm>
            <a:off x="504000" y="1326600"/>
            <a:ext cx="907164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
        <p:nvSpPr>
          <p:cNvPr id="2" name="PlaceHolder 3"/>
          <p:cNvSpPr>
            <a:spLocks noGrp="1"/>
          </p:cNvSpPr>
          <p:nvPr>
            <p:ph type="dt" idx="1"/>
          </p:nvPr>
        </p:nvSpPr>
        <p:spPr>
          <a:xfrm>
            <a:off x="504000" y="5165280"/>
            <a:ext cx="2348280" cy="390600"/>
          </a:xfrm>
          <a:prstGeom prst="rect">
            <a:avLst/>
          </a:prstGeom>
          <a:noFill/>
          <a:ln w="0">
            <a:noFill/>
          </a:ln>
        </p:spPr>
        <p:txBody>
          <a:bodyPr lIns="0" rIns="0" tIns="0" bIns="0" anchor="t">
            <a:noAutofit/>
          </a:bodyPr>
          <a:lstStyle>
            <a:lvl1pPr>
              <a:defRPr b="0" lang="en-US" sz="1400" spc="-1" strike="noStrike">
                <a:latin typeface="Times New Roman"/>
              </a:defRPr>
            </a:lvl1pPr>
          </a:lstStyle>
          <a:p>
            <a:r>
              <a:rPr b="0" lang="en-US" sz="1400" spc="-1" strike="noStrike">
                <a:latin typeface="Times New Roman"/>
              </a:rPr>
              <a:t>&lt;date/time&gt;</a:t>
            </a:r>
            <a:endParaRPr b="0" lang="en-US" sz="1400" spc="-1" strike="noStrike">
              <a:latin typeface="Times New Roman"/>
            </a:endParaRPr>
          </a:p>
        </p:txBody>
      </p:sp>
      <p:sp>
        <p:nvSpPr>
          <p:cNvPr id="3" name="PlaceHolder 4"/>
          <p:cNvSpPr>
            <a:spLocks noGrp="1"/>
          </p:cNvSpPr>
          <p:nvPr>
            <p:ph type="ftr" idx="2"/>
          </p:nvPr>
        </p:nvSpPr>
        <p:spPr>
          <a:xfrm>
            <a:off x="3447360" y="5165280"/>
            <a:ext cx="3195000" cy="390600"/>
          </a:xfrm>
          <a:prstGeom prst="rect">
            <a:avLst/>
          </a:prstGeom>
          <a:noFill/>
          <a:ln w="0">
            <a:noFill/>
          </a:ln>
        </p:spPr>
        <p:txBody>
          <a:bodyPr lIns="0" rIns="0" tIns="0" bIns="0" anchor="t">
            <a:noAutofit/>
          </a:bodyPr>
          <a:lstStyle>
            <a:lvl1pPr algn="ctr">
              <a:buNone/>
              <a:defRPr b="0" lang="en-US" sz="1400" spc="-1" strike="noStrike">
                <a:latin typeface="Times New Roman"/>
              </a:defRPr>
            </a:lvl1pPr>
          </a:lstStyle>
          <a:p>
            <a:pPr algn="ctr">
              <a:buNone/>
            </a:pPr>
            <a:r>
              <a:rPr b="0" lang="en-US" sz="1400" spc="-1" strike="noStrike">
                <a:latin typeface="Times New Roman"/>
              </a:rPr>
              <a:t>&lt;footer&gt;</a:t>
            </a:r>
            <a:endParaRPr b="0" lang="en-US" sz="1400" spc="-1" strike="noStrike">
              <a:latin typeface="Times New Roman"/>
            </a:endParaRPr>
          </a:p>
        </p:txBody>
      </p:sp>
      <p:sp>
        <p:nvSpPr>
          <p:cNvPr id="4" name="PlaceHolder 5"/>
          <p:cNvSpPr>
            <a:spLocks noGrp="1"/>
          </p:cNvSpPr>
          <p:nvPr>
            <p:ph type="sldNum" idx="3"/>
          </p:nvPr>
        </p:nvSpPr>
        <p:spPr>
          <a:xfrm>
            <a:off x="7227360" y="5165280"/>
            <a:ext cx="2348280" cy="390600"/>
          </a:xfrm>
          <a:prstGeom prst="rect">
            <a:avLst/>
          </a:prstGeom>
          <a:noFill/>
          <a:ln w="0">
            <a:noFill/>
          </a:ln>
        </p:spPr>
        <p:txBody>
          <a:bodyPr lIns="0" rIns="0" tIns="0" bIns="0" anchor="t">
            <a:noAutofit/>
          </a:bodyPr>
          <a:lstStyle>
            <a:lvl1pPr algn="r">
              <a:buNone/>
              <a:defRPr b="0" lang="en-US" sz="1400" spc="-1" strike="noStrike">
                <a:latin typeface="Times New Roman"/>
              </a:defRPr>
            </a:lvl1pPr>
          </a:lstStyle>
          <a:p>
            <a:pPr algn="r">
              <a:buNone/>
            </a:pPr>
            <a:fld id="{D0595F77-3A5D-4A34-A66E-9A0B61D2A179}" type="slidenum">
              <a:rPr b="0" lang="en-US" sz="1400" spc="-1" strike="noStrike">
                <a:latin typeface="Times New Roman"/>
              </a:rPr>
              <a:t>&lt;number&gt;</a:t>
            </a:fld>
            <a:endParaRPr b="0" lang="en-US" sz="14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xml"/><Relationship Id="rId3"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xml"/><Relationship Id="rId3"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9.png"/><Relationship Id="rId3" Type="http://schemas.openxmlformats.org/officeDocument/2006/relationships/slideLayout" Target="../slideLayouts/slideLayout1.xml"/><Relationship Id="rId4"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1.xml"/><Relationship Id="rId3"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 name=""/>
          <p:cNvSpPr/>
          <p:nvPr/>
        </p:nvSpPr>
        <p:spPr>
          <a:xfrm>
            <a:off x="0" y="0"/>
            <a:ext cx="12192120" cy="6858000"/>
          </a:xfrm>
          <a:prstGeom prst="rect">
            <a:avLst/>
          </a:prstGeom>
          <a:solidFill>
            <a:srgbClr val="f7f9fa"/>
          </a:solidFill>
          <a:ln w="0">
            <a:noFill/>
          </a:ln>
        </p:spPr>
      </p:sp>
      <p:sp>
        <p:nvSpPr>
          <p:cNvPr id="48" name=""/>
          <p:cNvSpPr/>
          <p:nvPr/>
        </p:nvSpPr>
        <p:spPr>
          <a:xfrm>
            <a:off x="0" y="0"/>
            <a:ext cx="342000" cy="6858000"/>
          </a:xfrm>
          <a:prstGeom prst="rect">
            <a:avLst/>
          </a:prstGeom>
          <a:solidFill>
            <a:srgbClr val="1f7188"/>
          </a:solidFill>
          <a:ln w="0">
            <a:noFill/>
          </a:ln>
        </p:spPr>
      </p:sp>
      <p:sp>
        <p:nvSpPr>
          <p:cNvPr id="49" name=""/>
          <p:cNvSpPr txBox="1"/>
          <p:nvPr/>
        </p:nvSpPr>
        <p:spPr>
          <a:xfrm>
            <a:off x="900000" y="1206000"/>
            <a:ext cx="9900000" cy="1004400"/>
          </a:xfrm>
          <a:prstGeom prst="rect">
            <a:avLst/>
          </a:prstGeom>
          <a:noFill/>
          <a:ln w="0">
            <a:noFill/>
          </a:ln>
        </p:spPr>
        <p:txBody>
          <a:bodyPr lIns="43200" rIns="43200" tIns="43200" bIns="43200" anchor="t">
            <a:noAutofit/>
          </a:bodyPr>
          <a:p>
            <a:r>
              <a:rPr b="1" lang="en-US" sz="3400" spc="-1" strike="noStrike">
                <a:solidFill>
                  <a:srgbClr val="102b3f"/>
                </a:solidFill>
                <a:latin typeface="Lato"/>
              </a:rPr>
              <a:t>Heterogeneous Multi-Robot Collaboration</a:t>
            </a:r>
            <a:endParaRPr b="1" lang="en-US" sz="3400" spc="-1" strike="noStrike">
              <a:solidFill>
                <a:srgbClr val="102b3f"/>
              </a:solidFill>
              <a:latin typeface="Lato"/>
            </a:endParaRPr>
          </a:p>
          <a:p>
            <a:r>
              <a:rPr b="1" lang="en-US" sz="3400" spc="-1" strike="noStrike">
                <a:solidFill>
                  <a:srgbClr val="102b3f"/>
                </a:solidFill>
                <a:latin typeface="Lato"/>
              </a:rPr>
              <a:t>Using Language Models</a:t>
            </a:r>
            <a:endParaRPr b="1" lang="en-US" sz="3400" spc="-1" strike="noStrike">
              <a:solidFill>
                <a:srgbClr val="102b3f"/>
              </a:solidFill>
              <a:latin typeface="Lato"/>
            </a:endParaRPr>
          </a:p>
        </p:txBody>
      </p:sp>
      <p:sp>
        <p:nvSpPr>
          <p:cNvPr id="50" name=""/>
          <p:cNvSpPr txBox="1"/>
          <p:nvPr/>
        </p:nvSpPr>
        <p:spPr>
          <a:xfrm>
            <a:off x="918000" y="2556000"/>
            <a:ext cx="6480000" cy="887040"/>
          </a:xfrm>
          <a:prstGeom prst="rect">
            <a:avLst/>
          </a:prstGeom>
          <a:noFill/>
          <a:ln w="0">
            <a:noFill/>
          </a:ln>
        </p:spPr>
        <p:txBody>
          <a:bodyPr lIns="43200" rIns="43200" tIns="43200" bIns="43200" anchor="t">
            <a:noAutofit/>
          </a:bodyPr>
          <a:p>
            <a:r>
              <a:rPr b="0" lang="en-US" sz="2100" spc="-1" strike="noStrike">
                <a:solidFill>
                  <a:srgbClr val="5d6b75"/>
                </a:solidFill>
                <a:latin typeface="Lato"/>
              </a:rPr>
              <a:t>Can locally deployable language models support</a:t>
            </a:r>
            <a:endParaRPr b="0" lang="en-US" sz="2100" spc="-1" strike="noStrike">
              <a:solidFill>
                <a:srgbClr val="5d6b75"/>
              </a:solidFill>
              <a:latin typeface="Lato"/>
            </a:endParaRPr>
          </a:p>
          <a:p>
            <a:r>
              <a:rPr b="0" lang="en-US" sz="2100" spc="-1" strike="noStrike">
                <a:solidFill>
                  <a:srgbClr val="5d6b75"/>
                </a:solidFill>
                <a:latin typeface="Lato"/>
              </a:rPr>
              <a:t>collaborative high-level decisions in a warehouse simulator?</a:t>
            </a:r>
            <a:endParaRPr b="0" lang="en-US" sz="2100" spc="-1" strike="noStrike">
              <a:solidFill>
                <a:srgbClr val="5d6b75"/>
              </a:solidFill>
              <a:latin typeface="Lato"/>
            </a:endParaRPr>
          </a:p>
        </p:txBody>
      </p:sp>
      <p:sp>
        <p:nvSpPr>
          <p:cNvPr id="51" name=""/>
          <p:cNvSpPr/>
          <p:nvPr/>
        </p:nvSpPr>
        <p:spPr>
          <a:xfrm>
            <a:off x="828000" y="3816000"/>
            <a:ext cx="4500000" cy="900000"/>
          </a:xfrm>
          <a:prstGeom prst="roundRect">
            <a:avLst/>
          </a:prstGeom>
          <a:solidFill>
            <a:srgbClr val="ffffff"/>
          </a:solidFill>
          <a:ln w="12600">
            <a:solidFill>
              <a:srgbClr val="d8e0e5"/>
            </a:solidFill>
            <a:round/>
          </a:ln>
        </p:spPr>
      </p:sp>
      <p:sp>
        <p:nvSpPr>
          <p:cNvPr id="52" name=""/>
          <p:cNvSpPr txBox="1"/>
          <p:nvPr/>
        </p:nvSpPr>
        <p:spPr>
          <a:xfrm>
            <a:off x="1008000" y="3960000"/>
            <a:ext cx="4068000" cy="736920"/>
          </a:xfrm>
          <a:prstGeom prst="rect">
            <a:avLst/>
          </a:prstGeom>
          <a:noFill/>
          <a:ln w="0">
            <a:noFill/>
          </a:ln>
        </p:spPr>
        <p:txBody>
          <a:bodyPr lIns="43200" rIns="43200" tIns="43200" bIns="43200" anchor="t">
            <a:noAutofit/>
          </a:bodyPr>
          <a:p>
            <a:r>
              <a:rPr b="0" lang="en-US" sz="1700" spc="-1" strike="noStrike">
                <a:solidFill>
                  <a:srgbClr val="23313b"/>
                </a:solidFill>
                <a:latin typeface="Lato"/>
              </a:rPr>
              <a:t>Rohit Joseph Mamutil</a:t>
            </a:r>
            <a:endParaRPr b="0" lang="en-US" sz="1700" spc="-1" strike="noStrike">
              <a:solidFill>
                <a:srgbClr val="23313b"/>
              </a:solidFill>
              <a:latin typeface="Lato"/>
            </a:endParaRPr>
          </a:p>
          <a:p>
            <a:r>
              <a:rPr b="0" lang="en-US" sz="1700" spc="-1" strike="noStrike">
                <a:solidFill>
                  <a:srgbClr val="23313b"/>
                </a:solidFill>
                <a:latin typeface="Lato"/>
              </a:rPr>
              <a:t>Master’s Thesis · Embedded Systems</a:t>
            </a:r>
            <a:endParaRPr b="0" lang="en-US" sz="1700" spc="-1" strike="noStrike">
              <a:solidFill>
                <a:srgbClr val="23313b"/>
              </a:solidFill>
              <a:latin typeface="Lato"/>
            </a:endParaRPr>
          </a:p>
          <a:p>
            <a:r>
              <a:rPr b="0" lang="en-US" sz="1700" spc="-1" strike="noStrike">
                <a:solidFill>
                  <a:srgbClr val="23313b"/>
                </a:solidFill>
                <a:latin typeface="Lato"/>
              </a:rPr>
              <a:t>Uppsala University</a:t>
            </a:r>
            <a:endParaRPr b="0" lang="en-US" sz="1700" spc="-1" strike="noStrike">
              <a:solidFill>
                <a:srgbClr val="23313b"/>
              </a:solidFill>
              <a:latin typeface="Lato"/>
            </a:endParaRPr>
          </a:p>
        </p:txBody>
      </p:sp>
      <p:sp>
        <p:nvSpPr>
          <p:cNvPr id="53" name=""/>
          <p:cNvSpPr/>
          <p:nvPr/>
        </p:nvSpPr>
        <p:spPr>
          <a:xfrm>
            <a:off x="8568000" y="3816000"/>
            <a:ext cx="2232000" cy="900000"/>
          </a:xfrm>
          <a:prstGeom prst="roundRect">
            <a:avLst/>
          </a:prstGeom>
          <a:solidFill>
            <a:srgbClr val="102b3f"/>
          </a:solidFill>
          <a:ln w="12600">
            <a:solidFill>
              <a:srgbClr val="102b3f"/>
            </a:solidFill>
            <a:round/>
          </a:ln>
        </p:spPr>
        <p:txBody>
          <a:bodyPr lIns="64800" rIns="64800" tIns="43200" bIns="43200" anchor="b" anchorCtr="1">
            <a:noAutofit/>
          </a:bodyPr>
          <a:p>
            <a:pPr algn="ctr">
              <a:buNone/>
            </a:pPr>
            <a:r>
              <a:rPr b="1" lang="en-US" sz="2000" spc="-1" strike="noStrike">
                <a:solidFill>
                  <a:srgbClr val="ffffff"/>
                </a:solidFill>
                <a:latin typeface="Lato"/>
              </a:rPr>
              <a:t>LLM</a:t>
            </a:r>
            <a:endParaRPr b="1" lang="en-US" sz="2000" spc="-1" strike="noStrike">
              <a:solidFill>
                <a:srgbClr val="ffffff"/>
              </a:solidFill>
              <a:latin typeface="Lato"/>
            </a:endParaRPr>
          </a:p>
          <a:p>
            <a:pPr algn="ctr">
              <a:buNone/>
            </a:pPr>
            <a:r>
              <a:rPr b="1" lang="en-US" sz="2000" spc="-1" strike="noStrike">
                <a:solidFill>
                  <a:srgbClr val="ffffff"/>
                </a:solidFill>
                <a:latin typeface="Lato"/>
              </a:rPr>
              <a:t>→</a:t>
            </a:r>
            <a:endParaRPr b="1" lang="en-US" sz="2000" spc="-1" strike="noStrike">
              <a:solidFill>
                <a:srgbClr val="ffffff"/>
              </a:solidFill>
              <a:latin typeface="Lato"/>
            </a:endParaRPr>
          </a:p>
          <a:p>
            <a:pPr algn="ctr">
              <a:buNone/>
            </a:pPr>
            <a:r>
              <a:rPr b="1" lang="en-US" sz="2000" spc="-1" strike="noStrike">
                <a:solidFill>
                  <a:srgbClr val="ffffff"/>
                </a:solidFill>
                <a:latin typeface="Lato"/>
              </a:rPr>
              <a:t>team decision</a:t>
            </a:r>
            <a:endParaRPr b="1" lang="en-US" sz="2000" spc="-1" strike="noStrike">
              <a:solidFill>
                <a:srgbClr val="ffffff"/>
              </a:solidFill>
              <a:latin typeface="Lato"/>
            </a:endParaRPr>
          </a:p>
        </p:txBody>
      </p:sp>
      <p:sp>
        <p:nvSpPr>
          <p:cNvPr id="54" name=""/>
          <p:cNvSpPr txBox="1"/>
          <p:nvPr/>
        </p:nvSpPr>
        <p:spPr>
          <a:xfrm>
            <a:off x="918000" y="6282000"/>
            <a:ext cx="9900000" cy="226800"/>
          </a:xfrm>
          <a:prstGeom prst="rect">
            <a:avLst/>
          </a:prstGeom>
          <a:noFill/>
          <a:ln w="0">
            <a:noFill/>
          </a:ln>
        </p:spPr>
        <p:txBody>
          <a:bodyPr lIns="43200" rIns="43200" tIns="43200" bIns="43200" anchor="t">
            <a:noAutofit/>
          </a:bodyPr>
          <a:p>
            <a:r>
              <a:rPr b="1" lang="en-US" sz="1100" spc="-1" strike="noStrike">
                <a:solidFill>
                  <a:srgbClr val="1f7188"/>
                </a:solidFill>
                <a:latin typeface="Lato"/>
              </a:rPr>
              <a:t>Battery-TA-RWARE · local inference · controlled simulation</a:t>
            </a:r>
            <a:endParaRPr b="1" lang="en-US" sz="1100" spc="-1" strike="noStrike">
              <a:solidFill>
                <a:srgbClr val="1f7188"/>
              </a:solidFill>
              <a:latin typeface="Lato"/>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 name=""/>
          <p:cNvSpPr txBox="1"/>
          <p:nvPr/>
        </p:nvSpPr>
        <p:spPr>
          <a:xfrm>
            <a:off x="540000" y="252000"/>
            <a:ext cx="10800000" cy="464400"/>
          </a:xfrm>
          <a:prstGeom prst="rect">
            <a:avLst/>
          </a:prstGeom>
          <a:noFill/>
          <a:ln w="0">
            <a:noFill/>
          </a:ln>
        </p:spPr>
        <p:txBody>
          <a:bodyPr lIns="43200" rIns="43200" tIns="43200" bIns="43200" anchor="t">
            <a:noAutofit/>
          </a:bodyPr>
          <a:p>
            <a:r>
              <a:rPr b="1" lang="en-US" sz="2900" spc="-1" strike="noStrike">
                <a:solidFill>
                  <a:srgbClr val="102b3f"/>
                </a:solidFill>
                <a:latin typeface="Lato"/>
              </a:rPr>
              <a:t>Why heterogeneous robot collaboration?</a:t>
            </a:r>
            <a:endParaRPr b="1" lang="en-US" sz="2900" spc="-1" strike="noStrike">
              <a:solidFill>
                <a:srgbClr val="102b3f"/>
              </a:solidFill>
              <a:latin typeface="Lato"/>
            </a:endParaRPr>
          </a:p>
        </p:txBody>
      </p:sp>
      <p:sp>
        <p:nvSpPr>
          <p:cNvPr id="56" name=""/>
          <p:cNvSpPr/>
          <p:nvPr/>
        </p:nvSpPr>
        <p:spPr>
          <a:xfrm>
            <a:off x="540000" y="6354000"/>
            <a:ext cx="11088000" cy="7200"/>
          </a:xfrm>
          <a:prstGeom prst="rect">
            <a:avLst/>
          </a:prstGeom>
          <a:solidFill>
            <a:srgbClr val="1f7188"/>
          </a:solidFill>
          <a:ln w="0">
            <a:noFill/>
          </a:ln>
        </p:spPr>
      </p:sp>
      <p:sp>
        <p:nvSpPr>
          <p:cNvPr id="57" name=""/>
          <p:cNvSpPr txBox="1"/>
          <p:nvPr/>
        </p:nvSpPr>
        <p:spPr>
          <a:xfrm>
            <a:off x="540000" y="6415200"/>
            <a:ext cx="7200000" cy="201240"/>
          </a:xfrm>
          <a:prstGeom prst="rect">
            <a:avLst/>
          </a:prstGeom>
          <a:noFill/>
          <a:ln w="0">
            <a:noFill/>
          </a:ln>
        </p:spPr>
        <p:txBody>
          <a:bodyPr lIns="43200" rIns="43200" tIns="43200" bIns="43200" anchor="t">
            <a:noAutofit/>
          </a:bodyPr>
          <a:p>
            <a:r>
              <a:rPr b="0" lang="en-US" sz="900" spc="-1" strike="noStrike">
                <a:solidFill>
                  <a:srgbClr val="5d6b75"/>
                </a:solidFill>
                <a:latin typeface="Lato"/>
              </a:rPr>
              <a:t>Master’s thesis · Uppsala University</a:t>
            </a:r>
            <a:endParaRPr b="0" lang="en-US" sz="900" spc="-1" strike="noStrike">
              <a:solidFill>
                <a:srgbClr val="5d6b75"/>
              </a:solidFill>
              <a:latin typeface="Lato"/>
            </a:endParaRPr>
          </a:p>
        </p:txBody>
      </p:sp>
      <p:sp>
        <p:nvSpPr>
          <p:cNvPr id="58" name=""/>
          <p:cNvSpPr txBox="1"/>
          <p:nvPr/>
        </p:nvSpPr>
        <p:spPr>
          <a:xfrm>
            <a:off x="9612000" y="6415200"/>
            <a:ext cx="2016000" cy="189000"/>
          </a:xfrm>
          <a:prstGeom prst="rect">
            <a:avLst/>
          </a:prstGeom>
          <a:noFill/>
          <a:ln w="0">
            <a:noFill/>
          </a:ln>
        </p:spPr>
        <p:txBody>
          <a:bodyPr lIns="43200" rIns="43200" tIns="43200" bIns="43200" anchor="t">
            <a:noAutofit/>
          </a:bodyPr>
          <a:p>
            <a:pPr algn="r">
              <a:buNone/>
            </a:pPr>
            <a:r>
              <a:rPr b="1" lang="en-US" sz="800" spc="-1" strike="noStrike">
                <a:solidFill>
                  <a:srgbClr val="1f7188"/>
                </a:solidFill>
                <a:latin typeface="Lato"/>
              </a:rPr>
              <a:t>MOTIVATION</a:t>
            </a:r>
            <a:endParaRPr b="1" lang="en-US" sz="800" spc="-1" strike="noStrike">
              <a:solidFill>
                <a:srgbClr val="1f7188"/>
              </a:solidFill>
              <a:latin typeface="Lato"/>
            </a:endParaRPr>
          </a:p>
        </p:txBody>
      </p:sp>
      <p:pic>
        <p:nvPicPr>
          <p:cNvPr id="59" name="" descr=""/>
          <p:cNvPicPr/>
          <p:nvPr/>
        </p:nvPicPr>
        <p:blipFill>
          <a:blip r:embed="rId1"/>
          <a:stretch/>
        </p:blipFill>
        <p:spPr>
          <a:xfrm>
            <a:off x="558000" y="954000"/>
            <a:ext cx="4788000" cy="4212000"/>
          </a:xfrm>
          <a:prstGeom prst="rect">
            <a:avLst/>
          </a:prstGeom>
          <a:ln w="0">
            <a:noFill/>
          </a:ln>
        </p:spPr>
      </p:pic>
      <p:sp>
        <p:nvSpPr>
          <p:cNvPr id="60" name=""/>
          <p:cNvSpPr txBox="1"/>
          <p:nvPr/>
        </p:nvSpPr>
        <p:spPr>
          <a:xfrm>
            <a:off x="5940000" y="1188000"/>
            <a:ext cx="5220000" cy="672120"/>
          </a:xfrm>
          <a:prstGeom prst="rect">
            <a:avLst/>
          </a:prstGeom>
          <a:noFill/>
          <a:ln w="0">
            <a:noFill/>
          </a:ln>
        </p:spPr>
        <p:txBody>
          <a:bodyPr lIns="43200" rIns="43200" tIns="43200" bIns="43200" anchor="t">
            <a:noAutofit/>
          </a:bodyPr>
          <a:p>
            <a:r>
              <a:rPr b="1" lang="en-US" sz="2300" spc="-1" strike="noStrike">
                <a:solidFill>
                  <a:srgbClr val="102b3f"/>
                </a:solidFill>
                <a:latin typeface="Lato"/>
              </a:rPr>
              <a:t>The decision problem becomes interdependent</a:t>
            </a:r>
            <a:endParaRPr b="1" lang="en-US" sz="2300" spc="-1" strike="noStrike">
              <a:solidFill>
                <a:srgbClr val="102b3f"/>
              </a:solidFill>
              <a:latin typeface="Lato"/>
            </a:endParaRPr>
          </a:p>
        </p:txBody>
      </p:sp>
      <p:sp>
        <p:nvSpPr>
          <p:cNvPr id="61" name=""/>
          <p:cNvSpPr txBox="1"/>
          <p:nvPr/>
        </p:nvSpPr>
        <p:spPr>
          <a:xfrm>
            <a:off x="5940000" y="1656000"/>
            <a:ext cx="5112000" cy="1868400"/>
          </a:xfrm>
          <a:prstGeom prst="rect">
            <a:avLst/>
          </a:prstGeom>
          <a:noFill/>
          <a:ln w="0">
            <a:noFill/>
          </a:ln>
        </p:spPr>
        <p:txBody>
          <a:bodyPr lIns="43200" rIns="43200" tIns="43200" bIns="43200" anchor="t">
            <a:noAutofit/>
          </a:bodyPr>
          <a:p>
            <a:r>
              <a:rPr b="0" lang="en-US" sz="1900" spc="-1" strike="noStrike">
                <a:solidFill>
                  <a:srgbClr val="23313b"/>
                </a:solidFill>
                <a:latin typeface="Lato"/>
              </a:rPr>
              <a:t>• </a:t>
            </a:r>
            <a:r>
              <a:rPr b="0" lang="en-US" sz="1900" spc="-1" strike="noStrike">
                <a:solidFill>
                  <a:srgbClr val="23313b"/>
                </a:solidFill>
                <a:latin typeface="Lato"/>
              </a:rPr>
              <a:t>AGVs transport movable shelves</a:t>
            </a:r>
            <a:endParaRPr b="0" lang="en-US" sz="1900" spc="-1" strike="noStrike">
              <a:solidFill>
                <a:srgbClr val="23313b"/>
              </a:solidFill>
              <a:latin typeface="Lato"/>
            </a:endParaRPr>
          </a:p>
          <a:p>
            <a:endParaRPr b="0" lang="en-US" sz="1900" spc="-1" strike="noStrike">
              <a:solidFill>
                <a:srgbClr val="23313b"/>
              </a:solidFill>
              <a:latin typeface="Lato"/>
            </a:endParaRPr>
          </a:p>
          <a:p>
            <a:r>
              <a:rPr b="0" lang="en-US" sz="1900" spc="-1" strike="noStrike">
                <a:solidFill>
                  <a:srgbClr val="23313b"/>
                </a:solidFill>
                <a:latin typeface="Lato"/>
              </a:rPr>
              <a:t>• </a:t>
            </a:r>
            <a:r>
              <a:rPr b="0" lang="en-US" sz="1900" spc="-1" strike="noStrike">
                <a:solidFill>
                  <a:srgbClr val="23313b"/>
                </a:solidFill>
                <a:latin typeface="Lato"/>
              </a:rPr>
              <a:t>Pickers support loading and unloading</a:t>
            </a:r>
            <a:endParaRPr b="0" lang="en-US" sz="1900" spc="-1" strike="noStrike">
              <a:solidFill>
                <a:srgbClr val="23313b"/>
              </a:solidFill>
              <a:latin typeface="Lato"/>
            </a:endParaRPr>
          </a:p>
          <a:p>
            <a:endParaRPr b="0" lang="en-US" sz="1900" spc="-1" strike="noStrike">
              <a:solidFill>
                <a:srgbClr val="23313b"/>
              </a:solidFill>
              <a:latin typeface="Lato"/>
            </a:endParaRPr>
          </a:p>
          <a:p>
            <a:r>
              <a:rPr b="0" lang="en-US" sz="1900" spc="-1" strike="noStrike">
                <a:solidFill>
                  <a:srgbClr val="23313b"/>
                </a:solidFill>
                <a:latin typeface="Lato"/>
              </a:rPr>
              <a:t>• </a:t>
            </a:r>
            <a:r>
              <a:rPr b="0" lang="en-US" sz="1900" spc="-1" strike="noStrike">
                <a:solidFill>
                  <a:srgbClr val="23313b"/>
                </a:solidFill>
                <a:latin typeface="Lato"/>
              </a:rPr>
              <a:t>Roles share paths, goals, and chargers</a:t>
            </a:r>
            <a:endParaRPr b="0" lang="en-US" sz="1900" spc="-1" strike="noStrike">
              <a:solidFill>
                <a:srgbClr val="23313b"/>
              </a:solidFill>
              <a:latin typeface="Lato"/>
            </a:endParaRPr>
          </a:p>
          <a:p>
            <a:endParaRPr b="0" lang="en-US" sz="1900" spc="-1" strike="noStrike">
              <a:solidFill>
                <a:srgbClr val="23313b"/>
              </a:solidFill>
              <a:latin typeface="Lato"/>
            </a:endParaRPr>
          </a:p>
          <a:p>
            <a:r>
              <a:rPr b="0" lang="en-US" sz="1900" spc="-1" strike="noStrike">
                <a:solidFill>
                  <a:srgbClr val="23313b"/>
                </a:solidFill>
                <a:latin typeface="Lato"/>
              </a:rPr>
              <a:t>• </a:t>
            </a:r>
            <a:r>
              <a:rPr b="0" lang="en-US" sz="1900" spc="-1" strike="noStrike">
                <a:solidFill>
                  <a:srgbClr val="23313b"/>
                </a:solidFill>
                <a:latin typeface="Lato"/>
              </a:rPr>
              <a:t>One robot’s choice creates work for another</a:t>
            </a:r>
            <a:endParaRPr b="0" lang="en-US" sz="1900" spc="-1" strike="noStrike">
              <a:solidFill>
                <a:srgbClr val="23313b"/>
              </a:solidFill>
              <a:latin typeface="Lato"/>
            </a:endParaRPr>
          </a:p>
        </p:txBody>
      </p:sp>
      <p:sp>
        <p:nvSpPr>
          <p:cNvPr id="62" name=""/>
          <p:cNvSpPr/>
          <p:nvPr/>
        </p:nvSpPr>
        <p:spPr>
          <a:xfrm>
            <a:off x="5940000" y="3996000"/>
            <a:ext cx="5112000" cy="900000"/>
          </a:xfrm>
          <a:prstGeom prst="roundRect">
            <a:avLst/>
          </a:prstGeom>
          <a:solidFill>
            <a:srgbClr val="eaf2f5"/>
          </a:solidFill>
          <a:ln w="12600">
            <a:solidFill>
              <a:srgbClr val="1f7188"/>
            </a:solidFill>
            <a:round/>
          </a:ln>
        </p:spPr>
        <p:txBody>
          <a:bodyPr lIns="64800" rIns="64800" tIns="43200" bIns="43200" anchor="b" anchorCtr="1">
            <a:noAutofit/>
          </a:bodyPr>
          <a:p>
            <a:pPr algn="ctr">
              <a:buNone/>
            </a:pPr>
            <a:r>
              <a:rPr b="1" lang="en-US" sz="2100" spc="-1" strike="noStrike">
                <a:solidFill>
                  <a:srgbClr val="102b3f"/>
                </a:solidFill>
                <a:latin typeface="Lato"/>
              </a:rPr>
              <a:t>Question: can an LLM choose useful task-level actions for the team?</a:t>
            </a:r>
            <a:endParaRPr b="1" lang="en-US" sz="2100" spc="-1" strike="noStrike">
              <a:solidFill>
                <a:srgbClr val="102b3f"/>
              </a:solidFill>
              <a:latin typeface="Lato"/>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 name=""/>
          <p:cNvSpPr txBox="1"/>
          <p:nvPr/>
        </p:nvSpPr>
        <p:spPr>
          <a:xfrm>
            <a:off x="540000" y="252000"/>
            <a:ext cx="10800000" cy="464400"/>
          </a:xfrm>
          <a:prstGeom prst="rect">
            <a:avLst/>
          </a:prstGeom>
          <a:noFill/>
          <a:ln w="0">
            <a:noFill/>
          </a:ln>
        </p:spPr>
        <p:txBody>
          <a:bodyPr lIns="43200" rIns="43200" tIns="43200" bIns="43200" anchor="t">
            <a:noAutofit/>
          </a:bodyPr>
          <a:p>
            <a:r>
              <a:rPr b="1" lang="en-US" sz="2900" spc="-1" strike="noStrike">
                <a:solidFill>
                  <a:srgbClr val="102b3f"/>
                </a:solidFill>
                <a:latin typeface="Lato"/>
              </a:rPr>
              <a:t>The collaboration cycle</a:t>
            </a:r>
            <a:endParaRPr b="1" lang="en-US" sz="2900" spc="-1" strike="noStrike">
              <a:solidFill>
                <a:srgbClr val="102b3f"/>
              </a:solidFill>
              <a:latin typeface="Lato"/>
            </a:endParaRPr>
          </a:p>
        </p:txBody>
      </p:sp>
      <p:sp>
        <p:nvSpPr>
          <p:cNvPr id="64" name=""/>
          <p:cNvSpPr/>
          <p:nvPr/>
        </p:nvSpPr>
        <p:spPr>
          <a:xfrm>
            <a:off x="540000" y="6354000"/>
            <a:ext cx="11088000" cy="7200"/>
          </a:xfrm>
          <a:prstGeom prst="rect">
            <a:avLst/>
          </a:prstGeom>
          <a:solidFill>
            <a:srgbClr val="1f7188"/>
          </a:solidFill>
          <a:ln w="0">
            <a:noFill/>
          </a:ln>
        </p:spPr>
      </p:sp>
      <p:sp>
        <p:nvSpPr>
          <p:cNvPr id="65" name=""/>
          <p:cNvSpPr txBox="1"/>
          <p:nvPr/>
        </p:nvSpPr>
        <p:spPr>
          <a:xfrm>
            <a:off x="540000" y="6415200"/>
            <a:ext cx="7200000" cy="201240"/>
          </a:xfrm>
          <a:prstGeom prst="rect">
            <a:avLst/>
          </a:prstGeom>
          <a:noFill/>
          <a:ln w="0">
            <a:noFill/>
          </a:ln>
        </p:spPr>
        <p:txBody>
          <a:bodyPr lIns="43200" rIns="43200" tIns="43200" bIns="43200" anchor="t">
            <a:noAutofit/>
          </a:bodyPr>
          <a:p>
            <a:r>
              <a:rPr b="0" lang="en-US" sz="900" spc="-1" strike="noStrike">
                <a:solidFill>
                  <a:srgbClr val="5d6b75"/>
                </a:solidFill>
                <a:latin typeface="Lato"/>
              </a:rPr>
              <a:t>Master’s thesis · Uppsala University</a:t>
            </a:r>
            <a:endParaRPr b="0" lang="en-US" sz="900" spc="-1" strike="noStrike">
              <a:solidFill>
                <a:srgbClr val="5d6b75"/>
              </a:solidFill>
              <a:latin typeface="Lato"/>
            </a:endParaRPr>
          </a:p>
        </p:txBody>
      </p:sp>
      <p:sp>
        <p:nvSpPr>
          <p:cNvPr id="66" name=""/>
          <p:cNvSpPr txBox="1"/>
          <p:nvPr/>
        </p:nvSpPr>
        <p:spPr>
          <a:xfrm>
            <a:off x="9612000" y="6415200"/>
            <a:ext cx="2016000" cy="189000"/>
          </a:xfrm>
          <a:prstGeom prst="rect">
            <a:avLst/>
          </a:prstGeom>
          <a:noFill/>
          <a:ln w="0">
            <a:noFill/>
          </a:ln>
        </p:spPr>
        <p:txBody>
          <a:bodyPr lIns="43200" rIns="43200" tIns="43200" bIns="43200" anchor="t">
            <a:noAutofit/>
          </a:bodyPr>
          <a:p>
            <a:pPr algn="r">
              <a:buNone/>
            </a:pPr>
            <a:r>
              <a:rPr b="1" lang="en-US" sz="800" spc="-1" strike="noStrike">
                <a:solidFill>
                  <a:srgbClr val="1f7188"/>
                </a:solidFill>
                <a:latin typeface="Lato"/>
              </a:rPr>
              <a:t>PROBLEM</a:t>
            </a:r>
            <a:endParaRPr b="1" lang="en-US" sz="800" spc="-1" strike="noStrike">
              <a:solidFill>
                <a:srgbClr val="1f7188"/>
              </a:solidFill>
              <a:latin typeface="Lato"/>
            </a:endParaRPr>
          </a:p>
        </p:txBody>
      </p:sp>
      <p:sp>
        <p:nvSpPr>
          <p:cNvPr id="67" name=""/>
          <p:cNvSpPr/>
          <p:nvPr/>
        </p:nvSpPr>
        <p:spPr>
          <a:xfrm>
            <a:off x="432000" y="1800000"/>
            <a:ext cx="1836000" cy="1872000"/>
          </a:xfrm>
          <a:prstGeom prst="roundRect">
            <a:avLst/>
          </a:prstGeom>
          <a:solidFill>
            <a:srgbClr val="ffffff"/>
          </a:solidFill>
          <a:ln w="12600">
            <a:solidFill>
              <a:srgbClr val="3e78b2"/>
            </a:solidFill>
            <a:round/>
          </a:ln>
        </p:spPr>
      </p:sp>
      <p:sp>
        <p:nvSpPr>
          <p:cNvPr id="68" name=""/>
          <p:cNvSpPr/>
          <p:nvPr/>
        </p:nvSpPr>
        <p:spPr>
          <a:xfrm>
            <a:off x="1098000" y="1512000"/>
            <a:ext cx="504000" cy="504000"/>
          </a:xfrm>
          <a:prstGeom prst="roundRect">
            <a:avLst/>
          </a:prstGeom>
          <a:solidFill>
            <a:srgbClr val="3e78b2"/>
          </a:solidFill>
          <a:ln w="12600">
            <a:solidFill>
              <a:srgbClr val="3e78b2"/>
            </a:solidFill>
            <a:round/>
          </a:ln>
        </p:spPr>
        <p:txBody>
          <a:bodyPr lIns="64800" rIns="64800" tIns="43200" bIns="43200" anchor="b" anchorCtr="1">
            <a:noAutofit/>
          </a:bodyPr>
          <a:p>
            <a:pPr algn="ctr">
              <a:buNone/>
            </a:pPr>
            <a:r>
              <a:rPr b="1" lang="en-US" sz="2400" spc="-1" strike="noStrike">
                <a:solidFill>
                  <a:srgbClr val="ffffff"/>
                </a:solidFill>
                <a:latin typeface="Lato"/>
              </a:rPr>
              <a:t>1</a:t>
            </a:r>
            <a:endParaRPr b="1" lang="en-US" sz="2400" spc="-1" strike="noStrike">
              <a:solidFill>
                <a:srgbClr val="ffffff"/>
              </a:solidFill>
              <a:latin typeface="Lato"/>
            </a:endParaRPr>
          </a:p>
        </p:txBody>
      </p:sp>
      <p:sp>
        <p:nvSpPr>
          <p:cNvPr id="69" name=""/>
          <p:cNvSpPr txBox="1"/>
          <p:nvPr/>
        </p:nvSpPr>
        <p:spPr>
          <a:xfrm>
            <a:off x="558000" y="2268000"/>
            <a:ext cx="1584000" cy="595800"/>
          </a:xfrm>
          <a:prstGeom prst="rect">
            <a:avLst/>
          </a:prstGeom>
          <a:noFill/>
          <a:ln w="0">
            <a:noFill/>
          </a:ln>
        </p:spPr>
        <p:txBody>
          <a:bodyPr lIns="43200" rIns="43200" tIns="43200" bIns="43200" anchor="t">
            <a:noAutofit/>
          </a:bodyPr>
          <a:p>
            <a:pPr algn="ctr">
              <a:buNone/>
            </a:pPr>
            <a:r>
              <a:rPr b="1" lang="en-US" sz="2000" spc="-1" strike="noStrike">
                <a:solidFill>
                  <a:srgbClr val="102b3f"/>
                </a:solidFill>
                <a:latin typeface="Lato"/>
              </a:rPr>
              <a:t>Requested shelf</a:t>
            </a:r>
            <a:endParaRPr b="1" lang="en-US" sz="2000" spc="-1" strike="noStrike">
              <a:solidFill>
                <a:srgbClr val="102b3f"/>
              </a:solidFill>
              <a:latin typeface="Lato"/>
            </a:endParaRPr>
          </a:p>
        </p:txBody>
      </p:sp>
      <p:sp>
        <p:nvSpPr>
          <p:cNvPr id="70" name=""/>
          <p:cNvSpPr txBox="1"/>
          <p:nvPr/>
        </p:nvSpPr>
        <p:spPr>
          <a:xfrm>
            <a:off x="594000" y="2736000"/>
            <a:ext cx="1512000" cy="492120"/>
          </a:xfrm>
          <a:prstGeom prst="rect">
            <a:avLst/>
          </a:prstGeom>
          <a:noFill/>
          <a:ln w="0">
            <a:noFill/>
          </a:ln>
        </p:spPr>
        <p:txBody>
          <a:bodyPr lIns="43200" rIns="43200" tIns="43200" bIns="43200" anchor="t">
            <a:noAutofit/>
          </a:bodyPr>
          <a:p>
            <a:pPr algn="ctr">
              <a:buNone/>
            </a:pPr>
            <a:r>
              <a:rPr b="0" lang="en-US" sz="1600" spc="-1" strike="noStrike">
                <a:solidFill>
                  <a:srgbClr val="23313b"/>
                </a:solidFill>
                <a:latin typeface="Lato"/>
              </a:rPr>
              <a:t>AGV selects and travels</a:t>
            </a:r>
            <a:endParaRPr b="0" lang="en-US" sz="1600" spc="-1" strike="noStrike">
              <a:solidFill>
                <a:srgbClr val="23313b"/>
              </a:solidFill>
              <a:latin typeface="Lato"/>
            </a:endParaRPr>
          </a:p>
        </p:txBody>
      </p:sp>
      <p:sp>
        <p:nvSpPr>
          <p:cNvPr id="71" name=""/>
          <p:cNvSpPr/>
          <p:nvPr/>
        </p:nvSpPr>
        <p:spPr>
          <a:xfrm>
            <a:off x="2304000" y="2718000"/>
            <a:ext cx="396000" cy="0"/>
          </a:xfrm>
          <a:prstGeom prst="line">
            <a:avLst/>
          </a:prstGeom>
          <a:ln w="19800">
            <a:solidFill>
              <a:srgbClr val="5d6b75"/>
            </a:solidFill>
            <a:round/>
          </a:ln>
        </p:spPr>
        <p:style>
          <a:lnRef idx="0"/>
          <a:fillRef idx="0"/>
          <a:effectRef idx="0"/>
          <a:fontRef idx="minor"/>
        </p:style>
      </p:sp>
      <p:sp>
        <p:nvSpPr>
          <p:cNvPr id="72" name=""/>
          <p:cNvSpPr/>
          <p:nvPr/>
        </p:nvSpPr>
        <p:spPr>
          <a:xfrm>
            <a:off x="2736000" y="1800000"/>
            <a:ext cx="1836000" cy="1872000"/>
          </a:xfrm>
          <a:prstGeom prst="roundRect">
            <a:avLst/>
          </a:prstGeom>
          <a:solidFill>
            <a:srgbClr val="ffffff"/>
          </a:solidFill>
          <a:ln w="12600">
            <a:solidFill>
              <a:srgbClr val="f28c28"/>
            </a:solidFill>
            <a:round/>
          </a:ln>
        </p:spPr>
      </p:sp>
      <p:sp>
        <p:nvSpPr>
          <p:cNvPr id="73" name=""/>
          <p:cNvSpPr/>
          <p:nvPr/>
        </p:nvSpPr>
        <p:spPr>
          <a:xfrm>
            <a:off x="3402000" y="1512000"/>
            <a:ext cx="504000" cy="504000"/>
          </a:xfrm>
          <a:prstGeom prst="roundRect">
            <a:avLst/>
          </a:prstGeom>
          <a:solidFill>
            <a:srgbClr val="f28c28"/>
          </a:solidFill>
          <a:ln w="12600">
            <a:solidFill>
              <a:srgbClr val="f28c28"/>
            </a:solidFill>
            <a:round/>
          </a:ln>
        </p:spPr>
        <p:txBody>
          <a:bodyPr lIns="64800" rIns="64800" tIns="43200" bIns="43200" anchor="b" anchorCtr="1">
            <a:noAutofit/>
          </a:bodyPr>
          <a:p>
            <a:pPr algn="ctr">
              <a:buNone/>
            </a:pPr>
            <a:r>
              <a:rPr b="1" lang="en-US" sz="2400" spc="-1" strike="noStrike">
                <a:solidFill>
                  <a:srgbClr val="ffffff"/>
                </a:solidFill>
                <a:latin typeface="Lato"/>
              </a:rPr>
              <a:t>2</a:t>
            </a:r>
            <a:endParaRPr b="1" lang="en-US" sz="2400" spc="-1" strike="noStrike">
              <a:solidFill>
                <a:srgbClr val="ffffff"/>
              </a:solidFill>
              <a:latin typeface="Lato"/>
            </a:endParaRPr>
          </a:p>
        </p:txBody>
      </p:sp>
      <p:sp>
        <p:nvSpPr>
          <p:cNvPr id="74" name=""/>
          <p:cNvSpPr txBox="1"/>
          <p:nvPr/>
        </p:nvSpPr>
        <p:spPr>
          <a:xfrm>
            <a:off x="2862000" y="2268000"/>
            <a:ext cx="1584000" cy="595800"/>
          </a:xfrm>
          <a:prstGeom prst="rect">
            <a:avLst/>
          </a:prstGeom>
          <a:noFill/>
          <a:ln w="0">
            <a:noFill/>
          </a:ln>
        </p:spPr>
        <p:txBody>
          <a:bodyPr lIns="43200" rIns="43200" tIns="43200" bIns="43200" anchor="t">
            <a:noAutofit/>
          </a:bodyPr>
          <a:p>
            <a:pPr algn="ctr">
              <a:buNone/>
            </a:pPr>
            <a:r>
              <a:rPr b="1" lang="en-US" sz="2000" spc="-1" strike="noStrike">
                <a:solidFill>
                  <a:srgbClr val="102b3f"/>
                </a:solidFill>
                <a:latin typeface="Lato"/>
              </a:rPr>
              <a:t>Load together</a:t>
            </a:r>
            <a:endParaRPr b="1" lang="en-US" sz="2000" spc="-1" strike="noStrike">
              <a:solidFill>
                <a:srgbClr val="102b3f"/>
              </a:solidFill>
              <a:latin typeface="Lato"/>
            </a:endParaRPr>
          </a:p>
        </p:txBody>
      </p:sp>
      <p:sp>
        <p:nvSpPr>
          <p:cNvPr id="75" name=""/>
          <p:cNvSpPr txBox="1"/>
          <p:nvPr/>
        </p:nvSpPr>
        <p:spPr>
          <a:xfrm>
            <a:off x="2898000" y="2736000"/>
            <a:ext cx="1512000" cy="492120"/>
          </a:xfrm>
          <a:prstGeom prst="rect">
            <a:avLst/>
          </a:prstGeom>
          <a:noFill/>
          <a:ln w="0">
            <a:noFill/>
          </a:ln>
        </p:spPr>
        <p:txBody>
          <a:bodyPr lIns="43200" rIns="43200" tIns="43200" bIns="43200" anchor="t">
            <a:noAutofit/>
          </a:bodyPr>
          <a:p>
            <a:pPr algn="ctr">
              <a:buNone/>
            </a:pPr>
            <a:r>
              <a:rPr b="0" lang="en-US" sz="1600" spc="-1" strike="noStrike">
                <a:solidFill>
                  <a:srgbClr val="23313b"/>
                </a:solidFill>
                <a:latin typeface="Lato"/>
              </a:rPr>
              <a:t>Picker meets the AGV</a:t>
            </a:r>
            <a:endParaRPr b="0" lang="en-US" sz="1600" spc="-1" strike="noStrike">
              <a:solidFill>
                <a:srgbClr val="23313b"/>
              </a:solidFill>
              <a:latin typeface="Lato"/>
            </a:endParaRPr>
          </a:p>
        </p:txBody>
      </p:sp>
      <p:sp>
        <p:nvSpPr>
          <p:cNvPr id="76" name=""/>
          <p:cNvSpPr/>
          <p:nvPr/>
        </p:nvSpPr>
        <p:spPr>
          <a:xfrm>
            <a:off x="4608000" y="2718000"/>
            <a:ext cx="396000" cy="0"/>
          </a:xfrm>
          <a:prstGeom prst="line">
            <a:avLst/>
          </a:prstGeom>
          <a:ln w="19800">
            <a:solidFill>
              <a:srgbClr val="5d6b75"/>
            </a:solidFill>
            <a:round/>
          </a:ln>
        </p:spPr>
        <p:style>
          <a:lnRef idx="0"/>
          <a:fillRef idx="0"/>
          <a:effectRef idx="0"/>
          <a:fontRef idx="minor"/>
        </p:style>
      </p:sp>
      <p:sp>
        <p:nvSpPr>
          <p:cNvPr id="77" name=""/>
          <p:cNvSpPr/>
          <p:nvPr/>
        </p:nvSpPr>
        <p:spPr>
          <a:xfrm>
            <a:off x="5040000" y="1800000"/>
            <a:ext cx="1836000" cy="1872000"/>
          </a:xfrm>
          <a:prstGeom prst="roundRect">
            <a:avLst/>
          </a:prstGeom>
          <a:solidFill>
            <a:srgbClr val="ffffff"/>
          </a:solidFill>
          <a:ln w="12600">
            <a:solidFill>
              <a:srgbClr val="1f8a70"/>
            </a:solidFill>
            <a:round/>
          </a:ln>
        </p:spPr>
      </p:sp>
      <p:sp>
        <p:nvSpPr>
          <p:cNvPr id="78" name=""/>
          <p:cNvSpPr/>
          <p:nvPr/>
        </p:nvSpPr>
        <p:spPr>
          <a:xfrm>
            <a:off x="5706000" y="1512000"/>
            <a:ext cx="504000" cy="504000"/>
          </a:xfrm>
          <a:prstGeom prst="roundRect">
            <a:avLst/>
          </a:prstGeom>
          <a:solidFill>
            <a:srgbClr val="1f8a70"/>
          </a:solidFill>
          <a:ln w="12600">
            <a:solidFill>
              <a:srgbClr val="1f8a70"/>
            </a:solidFill>
            <a:round/>
          </a:ln>
        </p:spPr>
        <p:txBody>
          <a:bodyPr lIns="64800" rIns="64800" tIns="43200" bIns="43200" anchor="b" anchorCtr="1">
            <a:noAutofit/>
          </a:bodyPr>
          <a:p>
            <a:pPr algn="ctr">
              <a:buNone/>
            </a:pPr>
            <a:r>
              <a:rPr b="1" lang="en-US" sz="2400" spc="-1" strike="noStrike">
                <a:solidFill>
                  <a:srgbClr val="ffffff"/>
                </a:solidFill>
                <a:latin typeface="Lato"/>
              </a:rPr>
              <a:t>3</a:t>
            </a:r>
            <a:endParaRPr b="1" lang="en-US" sz="2400" spc="-1" strike="noStrike">
              <a:solidFill>
                <a:srgbClr val="ffffff"/>
              </a:solidFill>
              <a:latin typeface="Lato"/>
            </a:endParaRPr>
          </a:p>
        </p:txBody>
      </p:sp>
      <p:sp>
        <p:nvSpPr>
          <p:cNvPr id="79" name=""/>
          <p:cNvSpPr txBox="1"/>
          <p:nvPr/>
        </p:nvSpPr>
        <p:spPr>
          <a:xfrm>
            <a:off x="5166000" y="2268000"/>
            <a:ext cx="1584000" cy="341280"/>
          </a:xfrm>
          <a:prstGeom prst="rect">
            <a:avLst/>
          </a:prstGeom>
          <a:noFill/>
          <a:ln w="0">
            <a:noFill/>
          </a:ln>
        </p:spPr>
        <p:txBody>
          <a:bodyPr lIns="43200" rIns="43200" tIns="43200" bIns="43200" anchor="t">
            <a:noAutofit/>
          </a:bodyPr>
          <a:p>
            <a:pPr algn="ctr">
              <a:buNone/>
            </a:pPr>
            <a:r>
              <a:rPr b="1" lang="en-US" sz="2000" spc="-1" strike="noStrike">
                <a:solidFill>
                  <a:srgbClr val="102b3f"/>
                </a:solidFill>
                <a:latin typeface="Lato"/>
              </a:rPr>
              <a:t>Deliver</a:t>
            </a:r>
            <a:endParaRPr b="1" lang="en-US" sz="2000" spc="-1" strike="noStrike">
              <a:solidFill>
                <a:srgbClr val="102b3f"/>
              </a:solidFill>
              <a:latin typeface="Lato"/>
            </a:endParaRPr>
          </a:p>
        </p:txBody>
      </p:sp>
      <p:sp>
        <p:nvSpPr>
          <p:cNvPr id="80" name=""/>
          <p:cNvSpPr txBox="1"/>
          <p:nvPr/>
        </p:nvSpPr>
        <p:spPr>
          <a:xfrm>
            <a:off x="5202000" y="2736000"/>
            <a:ext cx="1512000" cy="492120"/>
          </a:xfrm>
          <a:prstGeom prst="rect">
            <a:avLst/>
          </a:prstGeom>
          <a:noFill/>
          <a:ln w="0">
            <a:noFill/>
          </a:ln>
        </p:spPr>
        <p:txBody>
          <a:bodyPr lIns="43200" rIns="43200" tIns="43200" bIns="43200" anchor="t">
            <a:noAutofit/>
          </a:bodyPr>
          <a:p>
            <a:pPr algn="ctr">
              <a:buNone/>
            </a:pPr>
            <a:r>
              <a:rPr b="0" lang="en-US" sz="1600" spc="-1" strike="noStrike">
                <a:solidFill>
                  <a:srgbClr val="23313b"/>
                </a:solidFill>
                <a:latin typeface="Lato"/>
              </a:rPr>
              <a:t>AGV moves shelf to goal</a:t>
            </a:r>
            <a:endParaRPr b="0" lang="en-US" sz="1600" spc="-1" strike="noStrike">
              <a:solidFill>
                <a:srgbClr val="23313b"/>
              </a:solidFill>
              <a:latin typeface="Lato"/>
            </a:endParaRPr>
          </a:p>
        </p:txBody>
      </p:sp>
      <p:sp>
        <p:nvSpPr>
          <p:cNvPr id="81" name=""/>
          <p:cNvSpPr/>
          <p:nvPr/>
        </p:nvSpPr>
        <p:spPr>
          <a:xfrm>
            <a:off x="6912000" y="2718000"/>
            <a:ext cx="396000" cy="0"/>
          </a:xfrm>
          <a:prstGeom prst="line">
            <a:avLst/>
          </a:prstGeom>
          <a:ln w="19800">
            <a:solidFill>
              <a:srgbClr val="5d6b75"/>
            </a:solidFill>
            <a:round/>
          </a:ln>
        </p:spPr>
        <p:style>
          <a:lnRef idx="0"/>
          <a:fillRef idx="0"/>
          <a:effectRef idx="0"/>
          <a:fontRef idx="minor"/>
        </p:style>
      </p:sp>
      <p:sp>
        <p:nvSpPr>
          <p:cNvPr id="82" name=""/>
          <p:cNvSpPr/>
          <p:nvPr/>
        </p:nvSpPr>
        <p:spPr>
          <a:xfrm>
            <a:off x="7344000" y="1800000"/>
            <a:ext cx="1836000" cy="1872000"/>
          </a:xfrm>
          <a:prstGeom prst="roundRect">
            <a:avLst/>
          </a:prstGeom>
          <a:solidFill>
            <a:srgbClr val="ffffff"/>
          </a:solidFill>
          <a:ln w="12600">
            <a:solidFill>
              <a:srgbClr val="4f4593"/>
            </a:solidFill>
            <a:round/>
          </a:ln>
        </p:spPr>
      </p:sp>
      <p:sp>
        <p:nvSpPr>
          <p:cNvPr id="83" name=""/>
          <p:cNvSpPr/>
          <p:nvPr/>
        </p:nvSpPr>
        <p:spPr>
          <a:xfrm>
            <a:off x="8010000" y="1512000"/>
            <a:ext cx="504000" cy="504000"/>
          </a:xfrm>
          <a:prstGeom prst="roundRect">
            <a:avLst/>
          </a:prstGeom>
          <a:solidFill>
            <a:srgbClr val="4f4593"/>
          </a:solidFill>
          <a:ln w="12600">
            <a:solidFill>
              <a:srgbClr val="4f4593"/>
            </a:solidFill>
            <a:round/>
          </a:ln>
        </p:spPr>
        <p:txBody>
          <a:bodyPr lIns="64800" rIns="64800" tIns="43200" bIns="43200" anchor="b" anchorCtr="1">
            <a:noAutofit/>
          </a:bodyPr>
          <a:p>
            <a:pPr algn="ctr">
              <a:buNone/>
            </a:pPr>
            <a:r>
              <a:rPr b="1" lang="en-US" sz="2400" spc="-1" strike="noStrike">
                <a:solidFill>
                  <a:srgbClr val="ffffff"/>
                </a:solidFill>
                <a:latin typeface="Lato"/>
              </a:rPr>
              <a:t>4</a:t>
            </a:r>
            <a:endParaRPr b="1" lang="en-US" sz="2400" spc="-1" strike="noStrike">
              <a:solidFill>
                <a:srgbClr val="ffffff"/>
              </a:solidFill>
              <a:latin typeface="Lato"/>
            </a:endParaRPr>
          </a:p>
        </p:txBody>
      </p:sp>
      <p:sp>
        <p:nvSpPr>
          <p:cNvPr id="84" name=""/>
          <p:cNvSpPr txBox="1"/>
          <p:nvPr/>
        </p:nvSpPr>
        <p:spPr>
          <a:xfrm>
            <a:off x="7470000" y="2268000"/>
            <a:ext cx="1584000" cy="341280"/>
          </a:xfrm>
          <a:prstGeom prst="rect">
            <a:avLst/>
          </a:prstGeom>
          <a:noFill/>
          <a:ln w="0">
            <a:noFill/>
          </a:ln>
        </p:spPr>
        <p:txBody>
          <a:bodyPr lIns="43200" rIns="43200" tIns="43200" bIns="43200" anchor="t">
            <a:noAutofit/>
          </a:bodyPr>
          <a:p>
            <a:pPr algn="ctr">
              <a:buNone/>
            </a:pPr>
            <a:r>
              <a:rPr b="1" lang="en-US" sz="2000" spc="-1" strike="noStrike">
                <a:solidFill>
                  <a:srgbClr val="102b3f"/>
                </a:solidFill>
                <a:latin typeface="Lato"/>
              </a:rPr>
              <a:t>Return shelf</a:t>
            </a:r>
            <a:endParaRPr b="1" lang="en-US" sz="2000" spc="-1" strike="noStrike">
              <a:solidFill>
                <a:srgbClr val="102b3f"/>
              </a:solidFill>
              <a:latin typeface="Lato"/>
            </a:endParaRPr>
          </a:p>
        </p:txBody>
      </p:sp>
      <p:sp>
        <p:nvSpPr>
          <p:cNvPr id="85" name=""/>
          <p:cNvSpPr txBox="1"/>
          <p:nvPr/>
        </p:nvSpPr>
        <p:spPr>
          <a:xfrm>
            <a:off x="7506000" y="2736000"/>
            <a:ext cx="1512000" cy="492120"/>
          </a:xfrm>
          <a:prstGeom prst="rect">
            <a:avLst/>
          </a:prstGeom>
          <a:noFill/>
          <a:ln w="0">
            <a:noFill/>
          </a:ln>
        </p:spPr>
        <p:txBody>
          <a:bodyPr lIns="43200" rIns="43200" tIns="43200" bIns="43200" anchor="t">
            <a:noAutofit/>
          </a:bodyPr>
          <a:p>
            <a:pPr algn="ctr">
              <a:buNone/>
            </a:pPr>
            <a:r>
              <a:rPr b="0" lang="en-US" sz="1600" spc="-1" strike="noStrike">
                <a:solidFill>
                  <a:srgbClr val="23313b"/>
                </a:solidFill>
                <a:latin typeface="Lato"/>
              </a:rPr>
              <a:t>AGV selects empty location</a:t>
            </a:r>
            <a:endParaRPr b="0" lang="en-US" sz="1600" spc="-1" strike="noStrike">
              <a:solidFill>
                <a:srgbClr val="23313b"/>
              </a:solidFill>
              <a:latin typeface="Lato"/>
            </a:endParaRPr>
          </a:p>
        </p:txBody>
      </p:sp>
      <p:sp>
        <p:nvSpPr>
          <p:cNvPr id="86" name=""/>
          <p:cNvSpPr/>
          <p:nvPr/>
        </p:nvSpPr>
        <p:spPr>
          <a:xfrm>
            <a:off x="9216000" y="2718000"/>
            <a:ext cx="396000" cy="0"/>
          </a:xfrm>
          <a:prstGeom prst="line">
            <a:avLst/>
          </a:prstGeom>
          <a:ln w="19800">
            <a:solidFill>
              <a:srgbClr val="5d6b75"/>
            </a:solidFill>
            <a:round/>
          </a:ln>
        </p:spPr>
        <p:style>
          <a:lnRef idx="0"/>
          <a:fillRef idx="0"/>
          <a:effectRef idx="0"/>
          <a:fontRef idx="minor"/>
        </p:style>
      </p:sp>
      <p:sp>
        <p:nvSpPr>
          <p:cNvPr id="87" name=""/>
          <p:cNvSpPr/>
          <p:nvPr/>
        </p:nvSpPr>
        <p:spPr>
          <a:xfrm>
            <a:off x="9648000" y="1800000"/>
            <a:ext cx="1836000" cy="1872000"/>
          </a:xfrm>
          <a:prstGeom prst="roundRect">
            <a:avLst/>
          </a:prstGeom>
          <a:solidFill>
            <a:srgbClr val="ffffff"/>
          </a:solidFill>
          <a:ln w="12600">
            <a:solidFill>
              <a:srgbClr val="f28c28"/>
            </a:solidFill>
            <a:round/>
          </a:ln>
        </p:spPr>
      </p:sp>
      <p:sp>
        <p:nvSpPr>
          <p:cNvPr id="88" name=""/>
          <p:cNvSpPr/>
          <p:nvPr/>
        </p:nvSpPr>
        <p:spPr>
          <a:xfrm>
            <a:off x="10314000" y="1512000"/>
            <a:ext cx="504000" cy="504000"/>
          </a:xfrm>
          <a:prstGeom prst="roundRect">
            <a:avLst/>
          </a:prstGeom>
          <a:solidFill>
            <a:srgbClr val="f28c28"/>
          </a:solidFill>
          <a:ln w="12600">
            <a:solidFill>
              <a:srgbClr val="f28c28"/>
            </a:solidFill>
            <a:round/>
          </a:ln>
        </p:spPr>
        <p:txBody>
          <a:bodyPr lIns="64800" rIns="64800" tIns="43200" bIns="43200" anchor="b" anchorCtr="1">
            <a:noAutofit/>
          </a:bodyPr>
          <a:p>
            <a:pPr algn="ctr">
              <a:buNone/>
            </a:pPr>
            <a:r>
              <a:rPr b="1" lang="en-US" sz="2400" spc="-1" strike="noStrike">
                <a:solidFill>
                  <a:srgbClr val="ffffff"/>
                </a:solidFill>
                <a:latin typeface="Lato"/>
              </a:rPr>
              <a:t>5</a:t>
            </a:r>
            <a:endParaRPr b="1" lang="en-US" sz="2400" spc="-1" strike="noStrike">
              <a:solidFill>
                <a:srgbClr val="ffffff"/>
              </a:solidFill>
              <a:latin typeface="Lato"/>
            </a:endParaRPr>
          </a:p>
        </p:txBody>
      </p:sp>
      <p:sp>
        <p:nvSpPr>
          <p:cNvPr id="89" name=""/>
          <p:cNvSpPr txBox="1"/>
          <p:nvPr/>
        </p:nvSpPr>
        <p:spPr>
          <a:xfrm>
            <a:off x="9774000" y="2268000"/>
            <a:ext cx="1584000" cy="595800"/>
          </a:xfrm>
          <a:prstGeom prst="rect">
            <a:avLst/>
          </a:prstGeom>
          <a:noFill/>
          <a:ln w="0">
            <a:noFill/>
          </a:ln>
        </p:spPr>
        <p:txBody>
          <a:bodyPr lIns="43200" rIns="43200" tIns="43200" bIns="43200" anchor="t">
            <a:noAutofit/>
          </a:bodyPr>
          <a:p>
            <a:pPr algn="ctr">
              <a:buNone/>
            </a:pPr>
            <a:r>
              <a:rPr b="1" lang="en-US" sz="2000" spc="-1" strike="noStrike">
                <a:solidFill>
                  <a:srgbClr val="102b3f"/>
                </a:solidFill>
                <a:latin typeface="Lato"/>
              </a:rPr>
              <a:t>Unload together</a:t>
            </a:r>
            <a:endParaRPr b="1" lang="en-US" sz="2000" spc="-1" strike="noStrike">
              <a:solidFill>
                <a:srgbClr val="102b3f"/>
              </a:solidFill>
              <a:latin typeface="Lato"/>
            </a:endParaRPr>
          </a:p>
        </p:txBody>
      </p:sp>
      <p:sp>
        <p:nvSpPr>
          <p:cNvPr id="90" name=""/>
          <p:cNvSpPr txBox="1"/>
          <p:nvPr/>
        </p:nvSpPr>
        <p:spPr>
          <a:xfrm>
            <a:off x="9810000" y="2736000"/>
            <a:ext cx="1512000" cy="492120"/>
          </a:xfrm>
          <a:prstGeom prst="rect">
            <a:avLst/>
          </a:prstGeom>
          <a:noFill/>
          <a:ln w="0">
            <a:noFill/>
          </a:ln>
        </p:spPr>
        <p:txBody>
          <a:bodyPr lIns="43200" rIns="43200" tIns="43200" bIns="43200" anchor="t">
            <a:noAutofit/>
          </a:bodyPr>
          <a:p>
            <a:pPr algn="ctr">
              <a:buNone/>
            </a:pPr>
            <a:r>
              <a:rPr b="0" lang="en-US" sz="1600" spc="-1" strike="noStrike">
                <a:solidFill>
                  <a:srgbClr val="23313b"/>
                </a:solidFill>
                <a:latin typeface="Lato"/>
              </a:rPr>
              <a:t>Picker support completes cycle</a:t>
            </a:r>
            <a:endParaRPr b="0" lang="en-US" sz="1600" spc="-1" strike="noStrike">
              <a:solidFill>
                <a:srgbClr val="23313b"/>
              </a:solidFill>
              <a:latin typeface="Lato"/>
            </a:endParaRPr>
          </a:p>
        </p:txBody>
      </p:sp>
      <p:sp>
        <p:nvSpPr>
          <p:cNvPr id="91" name=""/>
          <p:cNvSpPr txBox="1"/>
          <p:nvPr/>
        </p:nvSpPr>
        <p:spPr>
          <a:xfrm>
            <a:off x="2124000" y="4284000"/>
            <a:ext cx="7848000" cy="644760"/>
          </a:xfrm>
          <a:prstGeom prst="rect">
            <a:avLst/>
          </a:prstGeom>
          <a:noFill/>
          <a:ln w="0">
            <a:noFill/>
          </a:ln>
        </p:spPr>
        <p:txBody>
          <a:bodyPr lIns="43200" rIns="43200" tIns="43200" bIns="43200" anchor="t">
            <a:noAutofit/>
          </a:bodyPr>
          <a:p>
            <a:pPr algn="ctr">
              <a:buNone/>
            </a:pPr>
            <a:r>
              <a:rPr b="1" lang="en-US" sz="2200" spc="-1" strike="noStrike">
                <a:solidFill>
                  <a:srgbClr val="1f7188"/>
                </a:solidFill>
                <a:latin typeface="Lato"/>
              </a:rPr>
              <a:t>Collaboration is required at shelf pickup and shelf return—not at the delivery goal.</a:t>
            </a:r>
            <a:endParaRPr b="1" lang="en-US" sz="2200" spc="-1" strike="noStrike">
              <a:solidFill>
                <a:srgbClr val="1f7188"/>
              </a:solidFill>
              <a:latin typeface="Lato"/>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 name=""/>
          <p:cNvSpPr txBox="1"/>
          <p:nvPr/>
        </p:nvSpPr>
        <p:spPr>
          <a:xfrm>
            <a:off x="540000" y="252000"/>
            <a:ext cx="10800000" cy="464400"/>
          </a:xfrm>
          <a:prstGeom prst="rect">
            <a:avLst/>
          </a:prstGeom>
          <a:noFill/>
          <a:ln w="0">
            <a:noFill/>
          </a:ln>
        </p:spPr>
        <p:txBody>
          <a:bodyPr lIns="43200" rIns="43200" tIns="43200" bIns="43200" anchor="t">
            <a:noAutofit/>
          </a:bodyPr>
          <a:p>
            <a:r>
              <a:rPr b="1" lang="en-US" sz="2900" spc="-1" strike="noStrike">
                <a:solidFill>
                  <a:srgbClr val="102b3f"/>
                </a:solidFill>
                <a:latin typeface="Lato"/>
              </a:rPr>
              <a:t>Research focus and boundary</a:t>
            </a:r>
            <a:endParaRPr b="1" lang="en-US" sz="2900" spc="-1" strike="noStrike">
              <a:solidFill>
                <a:srgbClr val="102b3f"/>
              </a:solidFill>
              <a:latin typeface="Lato"/>
            </a:endParaRPr>
          </a:p>
        </p:txBody>
      </p:sp>
      <p:sp>
        <p:nvSpPr>
          <p:cNvPr id="93" name=""/>
          <p:cNvSpPr/>
          <p:nvPr/>
        </p:nvSpPr>
        <p:spPr>
          <a:xfrm>
            <a:off x="540000" y="6354000"/>
            <a:ext cx="11088000" cy="7200"/>
          </a:xfrm>
          <a:prstGeom prst="rect">
            <a:avLst/>
          </a:prstGeom>
          <a:solidFill>
            <a:srgbClr val="1f7188"/>
          </a:solidFill>
          <a:ln w="0">
            <a:noFill/>
          </a:ln>
        </p:spPr>
      </p:sp>
      <p:sp>
        <p:nvSpPr>
          <p:cNvPr id="94" name=""/>
          <p:cNvSpPr txBox="1"/>
          <p:nvPr/>
        </p:nvSpPr>
        <p:spPr>
          <a:xfrm>
            <a:off x="540000" y="6415200"/>
            <a:ext cx="7200000" cy="201240"/>
          </a:xfrm>
          <a:prstGeom prst="rect">
            <a:avLst/>
          </a:prstGeom>
          <a:noFill/>
          <a:ln w="0">
            <a:noFill/>
          </a:ln>
        </p:spPr>
        <p:txBody>
          <a:bodyPr lIns="43200" rIns="43200" tIns="43200" bIns="43200" anchor="t">
            <a:noAutofit/>
          </a:bodyPr>
          <a:p>
            <a:r>
              <a:rPr b="0" lang="en-US" sz="900" spc="-1" strike="noStrike">
                <a:solidFill>
                  <a:srgbClr val="5d6b75"/>
                </a:solidFill>
                <a:latin typeface="Lato"/>
              </a:rPr>
              <a:t>Master’s thesis · Uppsala University</a:t>
            </a:r>
            <a:endParaRPr b="0" lang="en-US" sz="900" spc="-1" strike="noStrike">
              <a:solidFill>
                <a:srgbClr val="5d6b75"/>
              </a:solidFill>
              <a:latin typeface="Lato"/>
            </a:endParaRPr>
          </a:p>
        </p:txBody>
      </p:sp>
      <p:sp>
        <p:nvSpPr>
          <p:cNvPr id="95" name=""/>
          <p:cNvSpPr txBox="1"/>
          <p:nvPr/>
        </p:nvSpPr>
        <p:spPr>
          <a:xfrm>
            <a:off x="9612000" y="6415200"/>
            <a:ext cx="2016000" cy="189000"/>
          </a:xfrm>
          <a:prstGeom prst="rect">
            <a:avLst/>
          </a:prstGeom>
          <a:noFill/>
          <a:ln w="0">
            <a:noFill/>
          </a:ln>
        </p:spPr>
        <p:txBody>
          <a:bodyPr lIns="43200" rIns="43200" tIns="43200" bIns="43200" anchor="t">
            <a:noAutofit/>
          </a:bodyPr>
          <a:p>
            <a:pPr algn="r">
              <a:buNone/>
            </a:pPr>
            <a:r>
              <a:rPr b="1" lang="en-US" sz="800" spc="-1" strike="noStrike">
                <a:solidFill>
                  <a:srgbClr val="1f7188"/>
                </a:solidFill>
                <a:latin typeface="Lato"/>
              </a:rPr>
              <a:t>QUESTIONS</a:t>
            </a:r>
            <a:endParaRPr b="1" lang="en-US" sz="800" spc="-1" strike="noStrike">
              <a:solidFill>
                <a:srgbClr val="1f7188"/>
              </a:solidFill>
              <a:latin typeface="Lato"/>
            </a:endParaRPr>
          </a:p>
        </p:txBody>
      </p:sp>
      <p:sp>
        <p:nvSpPr>
          <p:cNvPr id="96" name=""/>
          <p:cNvSpPr/>
          <p:nvPr/>
        </p:nvSpPr>
        <p:spPr>
          <a:xfrm>
            <a:off x="648000" y="1224000"/>
            <a:ext cx="10800000" cy="936000"/>
          </a:xfrm>
          <a:prstGeom prst="roundRect">
            <a:avLst/>
          </a:prstGeom>
          <a:solidFill>
            <a:srgbClr val="102b3f"/>
          </a:solidFill>
          <a:ln w="12600">
            <a:solidFill>
              <a:srgbClr val="102b3f"/>
            </a:solidFill>
            <a:round/>
          </a:ln>
        </p:spPr>
        <p:txBody>
          <a:bodyPr lIns="64800" rIns="64800" tIns="43200" bIns="43200" anchor="b" anchorCtr="1">
            <a:noAutofit/>
          </a:bodyPr>
          <a:p>
            <a:pPr algn="ctr">
              <a:buNone/>
            </a:pPr>
            <a:r>
              <a:rPr b="1" lang="en-US" sz="2600" spc="-1" strike="noStrike">
                <a:solidFill>
                  <a:srgbClr val="ffffff"/>
                </a:solidFill>
                <a:latin typeface="Lato"/>
              </a:rPr>
              <a:t>Can prompted LLMs support executable high-level decisions</a:t>
            </a:r>
            <a:endParaRPr b="1" lang="en-US" sz="2600" spc="-1" strike="noStrike">
              <a:solidFill>
                <a:srgbClr val="ffffff"/>
              </a:solidFill>
              <a:latin typeface="Lato"/>
            </a:endParaRPr>
          </a:p>
          <a:p>
            <a:pPr algn="ctr">
              <a:buNone/>
            </a:pPr>
            <a:r>
              <a:rPr b="1" lang="en-US" sz="2600" spc="-1" strike="noStrike">
                <a:solidFill>
                  <a:srgbClr val="ffffff"/>
                </a:solidFill>
                <a:latin typeface="Lato"/>
              </a:rPr>
              <a:t>for heterogeneous robot collaboration?</a:t>
            </a:r>
            <a:endParaRPr b="1" lang="en-US" sz="2600" spc="-1" strike="noStrike">
              <a:solidFill>
                <a:srgbClr val="ffffff"/>
              </a:solidFill>
              <a:latin typeface="Lato"/>
            </a:endParaRPr>
          </a:p>
        </p:txBody>
      </p:sp>
      <p:sp>
        <p:nvSpPr>
          <p:cNvPr id="97" name=""/>
          <p:cNvSpPr/>
          <p:nvPr/>
        </p:nvSpPr>
        <p:spPr>
          <a:xfrm>
            <a:off x="864000" y="2700000"/>
            <a:ext cx="3096000" cy="1980000"/>
          </a:xfrm>
          <a:prstGeom prst="roundRect">
            <a:avLst/>
          </a:prstGeom>
          <a:solidFill>
            <a:srgbClr val="ffffff"/>
          </a:solidFill>
          <a:ln w="12600">
            <a:solidFill>
              <a:srgbClr val="d8e0e5"/>
            </a:solidFill>
            <a:round/>
          </a:ln>
        </p:spPr>
      </p:sp>
      <p:sp>
        <p:nvSpPr>
          <p:cNvPr id="98" name=""/>
          <p:cNvSpPr/>
          <p:nvPr/>
        </p:nvSpPr>
        <p:spPr>
          <a:xfrm>
            <a:off x="864000" y="2700000"/>
            <a:ext cx="64800" cy="1980000"/>
          </a:xfrm>
          <a:prstGeom prst="rect">
            <a:avLst/>
          </a:prstGeom>
          <a:solidFill>
            <a:srgbClr val="1f7188"/>
          </a:solidFill>
          <a:ln w="0">
            <a:noFill/>
          </a:ln>
        </p:spPr>
      </p:sp>
      <p:sp>
        <p:nvSpPr>
          <p:cNvPr id="99" name=""/>
          <p:cNvSpPr txBox="1"/>
          <p:nvPr/>
        </p:nvSpPr>
        <p:spPr>
          <a:xfrm>
            <a:off x="1026000" y="2826000"/>
            <a:ext cx="2844000" cy="240840"/>
          </a:xfrm>
          <a:prstGeom prst="rect">
            <a:avLst/>
          </a:prstGeom>
          <a:noFill/>
          <a:ln w="0">
            <a:noFill/>
          </a:ln>
        </p:spPr>
        <p:txBody>
          <a:bodyPr lIns="43200" rIns="43200" tIns="43200" bIns="43200" anchor="t">
            <a:noAutofit/>
          </a:bodyPr>
          <a:p>
            <a:r>
              <a:rPr b="1" lang="en-US" sz="1200" spc="-1" strike="noStrike">
                <a:solidFill>
                  <a:srgbClr val="1f7188"/>
                </a:solidFill>
                <a:latin typeface="Lato"/>
              </a:rPr>
              <a:t>IN SCOPE</a:t>
            </a:r>
            <a:endParaRPr b="1" lang="en-US" sz="1200" spc="-1" strike="noStrike">
              <a:solidFill>
                <a:srgbClr val="1f7188"/>
              </a:solidFill>
              <a:latin typeface="Lato"/>
            </a:endParaRPr>
          </a:p>
        </p:txBody>
      </p:sp>
      <p:sp>
        <p:nvSpPr>
          <p:cNvPr id="100" name=""/>
          <p:cNvSpPr txBox="1"/>
          <p:nvPr/>
        </p:nvSpPr>
        <p:spPr>
          <a:xfrm>
            <a:off x="1026000" y="3078000"/>
            <a:ext cx="2844000" cy="482400"/>
          </a:xfrm>
          <a:prstGeom prst="rect">
            <a:avLst/>
          </a:prstGeom>
          <a:noFill/>
          <a:ln w="0">
            <a:noFill/>
          </a:ln>
        </p:spPr>
        <p:txBody>
          <a:bodyPr lIns="43200" rIns="43200" tIns="43200" bIns="43200" anchor="t">
            <a:noAutofit/>
          </a:bodyPr>
          <a:p>
            <a:r>
              <a:rPr b="1" lang="en-US" sz="2200" spc="-1" strike="noStrike">
                <a:solidFill>
                  <a:srgbClr val="102b3f"/>
                </a:solidFill>
                <a:latin typeface="Lato"/>
              </a:rPr>
              <a:t>High-level decisions</a:t>
            </a:r>
            <a:endParaRPr b="1" lang="en-US" sz="2200" spc="-1" strike="noStrike">
              <a:solidFill>
                <a:srgbClr val="102b3f"/>
              </a:solidFill>
              <a:latin typeface="Lato"/>
            </a:endParaRPr>
          </a:p>
        </p:txBody>
      </p:sp>
      <p:sp>
        <p:nvSpPr>
          <p:cNvPr id="101" name=""/>
          <p:cNvSpPr txBox="1"/>
          <p:nvPr/>
        </p:nvSpPr>
        <p:spPr>
          <a:xfrm>
            <a:off x="1026000" y="3690000"/>
            <a:ext cx="2826000" cy="860400"/>
          </a:xfrm>
          <a:prstGeom prst="rect">
            <a:avLst/>
          </a:prstGeom>
          <a:noFill/>
          <a:ln w="0">
            <a:noFill/>
          </a:ln>
        </p:spPr>
        <p:txBody>
          <a:bodyPr lIns="43200" rIns="43200" tIns="43200" bIns="43200" anchor="t">
            <a:noAutofit/>
          </a:bodyPr>
          <a:p>
            <a:r>
              <a:rPr b="0" lang="en-US" sz="1600" spc="-1" strike="noStrike">
                <a:solidFill>
                  <a:srgbClr val="23313b"/>
                </a:solidFill>
                <a:latin typeface="Lato"/>
              </a:rPr>
              <a:t>Choose a shelf, goal, return location, charger, or no-op.</a:t>
            </a:r>
            <a:endParaRPr b="0" lang="en-US" sz="1600" spc="-1" strike="noStrike">
              <a:solidFill>
                <a:srgbClr val="23313b"/>
              </a:solidFill>
              <a:latin typeface="Lato"/>
            </a:endParaRPr>
          </a:p>
        </p:txBody>
      </p:sp>
      <p:sp>
        <p:nvSpPr>
          <p:cNvPr id="102" name=""/>
          <p:cNvSpPr/>
          <p:nvPr/>
        </p:nvSpPr>
        <p:spPr>
          <a:xfrm>
            <a:off x="4536000" y="2700000"/>
            <a:ext cx="3096000" cy="1980000"/>
          </a:xfrm>
          <a:prstGeom prst="roundRect">
            <a:avLst/>
          </a:prstGeom>
          <a:solidFill>
            <a:srgbClr val="ffffff"/>
          </a:solidFill>
          <a:ln w="12600">
            <a:solidFill>
              <a:srgbClr val="d8e0e5"/>
            </a:solidFill>
            <a:round/>
          </a:ln>
        </p:spPr>
      </p:sp>
      <p:sp>
        <p:nvSpPr>
          <p:cNvPr id="103" name=""/>
          <p:cNvSpPr/>
          <p:nvPr/>
        </p:nvSpPr>
        <p:spPr>
          <a:xfrm>
            <a:off x="4536000" y="2700000"/>
            <a:ext cx="64800" cy="1980000"/>
          </a:xfrm>
          <a:prstGeom prst="rect">
            <a:avLst/>
          </a:prstGeom>
          <a:solidFill>
            <a:srgbClr val="f28c28"/>
          </a:solidFill>
          <a:ln w="0">
            <a:noFill/>
          </a:ln>
        </p:spPr>
      </p:sp>
      <p:sp>
        <p:nvSpPr>
          <p:cNvPr id="104" name=""/>
          <p:cNvSpPr txBox="1"/>
          <p:nvPr/>
        </p:nvSpPr>
        <p:spPr>
          <a:xfrm>
            <a:off x="4698000" y="2826000"/>
            <a:ext cx="2844000" cy="240840"/>
          </a:xfrm>
          <a:prstGeom prst="rect">
            <a:avLst/>
          </a:prstGeom>
          <a:noFill/>
          <a:ln w="0">
            <a:noFill/>
          </a:ln>
        </p:spPr>
        <p:txBody>
          <a:bodyPr lIns="43200" rIns="43200" tIns="43200" bIns="43200" anchor="t">
            <a:noAutofit/>
          </a:bodyPr>
          <a:p>
            <a:r>
              <a:rPr b="1" lang="en-US" sz="1200" spc="-1" strike="noStrike">
                <a:solidFill>
                  <a:srgbClr val="f28c28"/>
                </a:solidFill>
                <a:latin typeface="Lato"/>
              </a:rPr>
              <a:t>IN SCOPE</a:t>
            </a:r>
            <a:endParaRPr b="1" lang="en-US" sz="1200" spc="-1" strike="noStrike">
              <a:solidFill>
                <a:srgbClr val="f28c28"/>
              </a:solidFill>
              <a:latin typeface="Lato"/>
            </a:endParaRPr>
          </a:p>
        </p:txBody>
      </p:sp>
      <p:sp>
        <p:nvSpPr>
          <p:cNvPr id="105" name=""/>
          <p:cNvSpPr txBox="1"/>
          <p:nvPr/>
        </p:nvSpPr>
        <p:spPr>
          <a:xfrm>
            <a:off x="4698000" y="3078000"/>
            <a:ext cx="2844000" cy="644760"/>
          </a:xfrm>
          <a:prstGeom prst="rect">
            <a:avLst/>
          </a:prstGeom>
          <a:noFill/>
          <a:ln w="0">
            <a:noFill/>
          </a:ln>
        </p:spPr>
        <p:txBody>
          <a:bodyPr lIns="43200" rIns="43200" tIns="43200" bIns="43200" anchor="t">
            <a:noAutofit/>
          </a:bodyPr>
          <a:p>
            <a:r>
              <a:rPr b="1" lang="en-US" sz="2200" spc="-1" strike="noStrike">
                <a:solidFill>
                  <a:srgbClr val="102b3f"/>
                </a:solidFill>
                <a:latin typeface="Lato"/>
              </a:rPr>
              <a:t>Collaborative outcome</a:t>
            </a:r>
            <a:endParaRPr b="1" lang="en-US" sz="2200" spc="-1" strike="noStrike">
              <a:solidFill>
                <a:srgbClr val="102b3f"/>
              </a:solidFill>
              <a:latin typeface="Lato"/>
            </a:endParaRPr>
          </a:p>
        </p:txBody>
      </p:sp>
      <p:sp>
        <p:nvSpPr>
          <p:cNvPr id="106" name=""/>
          <p:cNvSpPr txBox="1"/>
          <p:nvPr/>
        </p:nvSpPr>
        <p:spPr>
          <a:xfrm>
            <a:off x="4698000" y="3690000"/>
            <a:ext cx="2826000" cy="860400"/>
          </a:xfrm>
          <a:prstGeom prst="rect">
            <a:avLst/>
          </a:prstGeom>
          <a:noFill/>
          <a:ln w="0">
            <a:noFill/>
          </a:ln>
        </p:spPr>
        <p:txBody>
          <a:bodyPr lIns="43200" rIns="43200" tIns="43200" bIns="43200" anchor="t">
            <a:noAutofit/>
          </a:bodyPr>
          <a:p>
            <a:r>
              <a:rPr b="0" lang="en-US" sz="1600" spc="-1" strike="noStrike">
                <a:solidFill>
                  <a:srgbClr val="23313b"/>
                </a:solidFill>
                <a:latin typeface="Lato"/>
              </a:rPr>
              <a:t>Successful shelf deliveries across heterogeneous AGV–Picker teams.</a:t>
            </a:r>
            <a:endParaRPr b="0" lang="en-US" sz="1600" spc="-1" strike="noStrike">
              <a:solidFill>
                <a:srgbClr val="23313b"/>
              </a:solidFill>
              <a:latin typeface="Lato"/>
            </a:endParaRPr>
          </a:p>
        </p:txBody>
      </p:sp>
      <p:sp>
        <p:nvSpPr>
          <p:cNvPr id="107" name=""/>
          <p:cNvSpPr/>
          <p:nvPr/>
        </p:nvSpPr>
        <p:spPr>
          <a:xfrm>
            <a:off x="8208000" y="2700000"/>
            <a:ext cx="3096000" cy="1980000"/>
          </a:xfrm>
          <a:prstGeom prst="roundRect">
            <a:avLst/>
          </a:prstGeom>
          <a:solidFill>
            <a:srgbClr val="ffffff"/>
          </a:solidFill>
          <a:ln w="12600">
            <a:solidFill>
              <a:srgbClr val="d8e0e5"/>
            </a:solidFill>
            <a:round/>
          </a:ln>
        </p:spPr>
      </p:sp>
      <p:sp>
        <p:nvSpPr>
          <p:cNvPr id="108" name=""/>
          <p:cNvSpPr/>
          <p:nvPr/>
        </p:nvSpPr>
        <p:spPr>
          <a:xfrm>
            <a:off x="8208000" y="2700000"/>
            <a:ext cx="64800" cy="1980000"/>
          </a:xfrm>
          <a:prstGeom prst="rect">
            <a:avLst/>
          </a:prstGeom>
          <a:solidFill>
            <a:srgbClr val="5d6b75"/>
          </a:solidFill>
          <a:ln w="0">
            <a:noFill/>
          </a:ln>
        </p:spPr>
      </p:sp>
      <p:sp>
        <p:nvSpPr>
          <p:cNvPr id="109" name=""/>
          <p:cNvSpPr txBox="1"/>
          <p:nvPr/>
        </p:nvSpPr>
        <p:spPr>
          <a:xfrm>
            <a:off x="8370000" y="2826000"/>
            <a:ext cx="2844000" cy="240840"/>
          </a:xfrm>
          <a:prstGeom prst="rect">
            <a:avLst/>
          </a:prstGeom>
          <a:noFill/>
          <a:ln w="0">
            <a:noFill/>
          </a:ln>
        </p:spPr>
        <p:txBody>
          <a:bodyPr lIns="43200" rIns="43200" tIns="43200" bIns="43200" anchor="t">
            <a:noAutofit/>
          </a:bodyPr>
          <a:p>
            <a:r>
              <a:rPr b="1" lang="en-US" sz="1200" spc="-1" strike="noStrike">
                <a:solidFill>
                  <a:srgbClr val="5d6b75"/>
                </a:solidFill>
                <a:latin typeface="Lato"/>
              </a:rPr>
              <a:t>OUT OF SCOPE</a:t>
            </a:r>
            <a:endParaRPr b="1" lang="en-US" sz="1200" spc="-1" strike="noStrike">
              <a:solidFill>
                <a:srgbClr val="5d6b75"/>
              </a:solidFill>
              <a:latin typeface="Lato"/>
            </a:endParaRPr>
          </a:p>
        </p:txBody>
      </p:sp>
      <p:sp>
        <p:nvSpPr>
          <p:cNvPr id="110" name=""/>
          <p:cNvSpPr txBox="1"/>
          <p:nvPr/>
        </p:nvSpPr>
        <p:spPr>
          <a:xfrm>
            <a:off x="8370000" y="3078000"/>
            <a:ext cx="2844000" cy="482400"/>
          </a:xfrm>
          <a:prstGeom prst="rect">
            <a:avLst/>
          </a:prstGeom>
          <a:noFill/>
          <a:ln w="0">
            <a:noFill/>
          </a:ln>
        </p:spPr>
        <p:txBody>
          <a:bodyPr lIns="43200" rIns="43200" tIns="43200" bIns="43200" anchor="t">
            <a:noAutofit/>
          </a:bodyPr>
          <a:p>
            <a:r>
              <a:rPr b="1" lang="en-US" sz="2200" spc="-1" strike="noStrike">
                <a:solidFill>
                  <a:srgbClr val="102b3f"/>
                </a:solidFill>
                <a:latin typeface="Lato"/>
              </a:rPr>
              <a:t>Low-level robotics</a:t>
            </a:r>
            <a:endParaRPr b="1" lang="en-US" sz="2200" spc="-1" strike="noStrike">
              <a:solidFill>
                <a:srgbClr val="102b3f"/>
              </a:solidFill>
              <a:latin typeface="Lato"/>
            </a:endParaRPr>
          </a:p>
        </p:txBody>
      </p:sp>
      <p:sp>
        <p:nvSpPr>
          <p:cNvPr id="111" name=""/>
          <p:cNvSpPr txBox="1"/>
          <p:nvPr/>
        </p:nvSpPr>
        <p:spPr>
          <a:xfrm>
            <a:off x="8370000" y="3690000"/>
            <a:ext cx="2826000" cy="860400"/>
          </a:xfrm>
          <a:prstGeom prst="rect">
            <a:avLst/>
          </a:prstGeom>
          <a:noFill/>
          <a:ln w="0">
            <a:noFill/>
          </a:ln>
        </p:spPr>
        <p:txBody>
          <a:bodyPr lIns="43200" rIns="43200" tIns="43200" bIns="43200" anchor="t">
            <a:noAutofit/>
          </a:bodyPr>
          <a:p>
            <a:r>
              <a:rPr b="0" lang="en-US" sz="1600" spc="-1" strike="noStrike">
                <a:solidFill>
                  <a:srgbClr val="23313b"/>
                </a:solidFill>
                <a:latin typeface="Lato"/>
              </a:rPr>
              <a:t>No motor control, trajectory generation, or raw sensor perception.</a:t>
            </a:r>
            <a:endParaRPr b="0" lang="en-US" sz="1600" spc="-1" strike="noStrike">
              <a:solidFill>
                <a:srgbClr val="23313b"/>
              </a:solidFill>
              <a:latin typeface="Lato"/>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 name=""/>
          <p:cNvSpPr txBox="1"/>
          <p:nvPr/>
        </p:nvSpPr>
        <p:spPr>
          <a:xfrm>
            <a:off x="540000" y="252000"/>
            <a:ext cx="10800000" cy="464400"/>
          </a:xfrm>
          <a:prstGeom prst="rect">
            <a:avLst/>
          </a:prstGeom>
          <a:noFill/>
          <a:ln w="0">
            <a:noFill/>
          </a:ln>
        </p:spPr>
        <p:txBody>
          <a:bodyPr lIns="43200" rIns="43200" tIns="43200" bIns="43200" anchor="t">
            <a:noAutofit/>
          </a:bodyPr>
          <a:p>
            <a:r>
              <a:rPr b="1" lang="en-US" sz="2900" spc="-1" strike="noStrike">
                <a:solidFill>
                  <a:srgbClr val="102b3f"/>
                </a:solidFill>
                <a:latin typeface="Lato"/>
              </a:rPr>
              <a:t>Three design questions</a:t>
            </a:r>
            <a:endParaRPr b="1" lang="en-US" sz="2900" spc="-1" strike="noStrike">
              <a:solidFill>
                <a:srgbClr val="102b3f"/>
              </a:solidFill>
              <a:latin typeface="Lato"/>
            </a:endParaRPr>
          </a:p>
        </p:txBody>
      </p:sp>
      <p:sp>
        <p:nvSpPr>
          <p:cNvPr id="113" name=""/>
          <p:cNvSpPr/>
          <p:nvPr/>
        </p:nvSpPr>
        <p:spPr>
          <a:xfrm>
            <a:off x="540000" y="6354000"/>
            <a:ext cx="11088000" cy="7200"/>
          </a:xfrm>
          <a:prstGeom prst="rect">
            <a:avLst/>
          </a:prstGeom>
          <a:solidFill>
            <a:srgbClr val="1f7188"/>
          </a:solidFill>
          <a:ln w="0">
            <a:noFill/>
          </a:ln>
        </p:spPr>
      </p:sp>
      <p:sp>
        <p:nvSpPr>
          <p:cNvPr id="114" name=""/>
          <p:cNvSpPr txBox="1"/>
          <p:nvPr/>
        </p:nvSpPr>
        <p:spPr>
          <a:xfrm>
            <a:off x="540000" y="6415200"/>
            <a:ext cx="7200000" cy="201240"/>
          </a:xfrm>
          <a:prstGeom prst="rect">
            <a:avLst/>
          </a:prstGeom>
          <a:noFill/>
          <a:ln w="0">
            <a:noFill/>
          </a:ln>
        </p:spPr>
        <p:txBody>
          <a:bodyPr lIns="43200" rIns="43200" tIns="43200" bIns="43200" anchor="t">
            <a:noAutofit/>
          </a:bodyPr>
          <a:p>
            <a:r>
              <a:rPr b="0" lang="en-US" sz="900" spc="-1" strike="noStrike">
                <a:solidFill>
                  <a:srgbClr val="5d6b75"/>
                </a:solidFill>
                <a:latin typeface="Lato"/>
              </a:rPr>
              <a:t>Master’s thesis · Uppsala University</a:t>
            </a:r>
            <a:endParaRPr b="0" lang="en-US" sz="900" spc="-1" strike="noStrike">
              <a:solidFill>
                <a:srgbClr val="5d6b75"/>
              </a:solidFill>
              <a:latin typeface="Lato"/>
            </a:endParaRPr>
          </a:p>
        </p:txBody>
      </p:sp>
      <p:sp>
        <p:nvSpPr>
          <p:cNvPr id="115" name=""/>
          <p:cNvSpPr txBox="1"/>
          <p:nvPr/>
        </p:nvSpPr>
        <p:spPr>
          <a:xfrm>
            <a:off x="9612000" y="6415200"/>
            <a:ext cx="2016000" cy="189000"/>
          </a:xfrm>
          <a:prstGeom prst="rect">
            <a:avLst/>
          </a:prstGeom>
          <a:noFill/>
          <a:ln w="0">
            <a:noFill/>
          </a:ln>
        </p:spPr>
        <p:txBody>
          <a:bodyPr lIns="43200" rIns="43200" tIns="43200" bIns="43200" anchor="t">
            <a:noAutofit/>
          </a:bodyPr>
          <a:p>
            <a:pPr algn="r">
              <a:buNone/>
            </a:pPr>
            <a:r>
              <a:rPr b="1" lang="en-US" sz="800" spc="-1" strike="noStrike">
                <a:solidFill>
                  <a:srgbClr val="1f7188"/>
                </a:solidFill>
                <a:latin typeface="Lato"/>
              </a:rPr>
              <a:t>QUESTIONS</a:t>
            </a:r>
            <a:endParaRPr b="1" lang="en-US" sz="800" spc="-1" strike="noStrike">
              <a:solidFill>
                <a:srgbClr val="1f7188"/>
              </a:solidFill>
              <a:latin typeface="Lato"/>
            </a:endParaRPr>
          </a:p>
        </p:txBody>
      </p:sp>
      <p:sp>
        <p:nvSpPr>
          <p:cNvPr id="116" name=""/>
          <p:cNvSpPr/>
          <p:nvPr/>
        </p:nvSpPr>
        <p:spPr>
          <a:xfrm>
            <a:off x="504000" y="1224000"/>
            <a:ext cx="3456000" cy="3348000"/>
          </a:xfrm>
          <a:prstGeom prst="roundRect">
            <a:avLst/>
          </a:prstGeom>
          <a:solidFill>
            <a:srgbClr val="ffffff"/>
          </a:solidFill>
          <a:ln w="12600">
            <a:solidFill>
              <a:srgbClr val="d8e0e5"/>
            </a:solidFill>
            <a:round/>
          </a:ln>
        </p:spPr>
      </p:sp>
      <p:sp>
        <p:nvSpPr>
          <p:cNvPr id="117" name=""/>
          <p:cNvSpPr/>
          <p:nvPr/>
        </p:nvSpPr>
        <p:spPr>
          <a:xfrm>
            <a:off x="504000" y="1224000"/>
            <a:ext cx="64800" cy="3348000"/>
          </a:xfrm>
          <a:prstGeom prst="rect">
            <a:avLst/>
          </a:prstGeom>
          <a:solidFill>
            <a:srgbClr val="3e78b2"/>
          </a:solidFill>
          <a:ln w="0">
            <a:noFill/>
          </a:ln>
        </p:spPr>
      </p:sp>
      <p:sp>
        <p:nvSpPr>
          <p:cNvPr id="118" name=""/>
          <p:cNvSpPr txBox="1"/>
          <p:nvPr/>
        </p:nvSpPr>
        <p:spPr>
          <a:xfrm>
            <a:off x="666000" y="1350000"/>
            <a:ext cx="3204000" cy="240840"/>
          </a:xfrm>
          <a:prstGeom prst="rect">
            <a:avLst/>
          </a:prstGeom>
          <a:noFill/>
          <a:ln w="0">
            <a:noFill/>
          </a:ln>
        </p:spPr>
        <p:txBody>
          <a:bodyPr lIns="43200" rIns="43200" tIns="43200" bIns="43200" anchor="t">
            <a:noAutofit/>
          </a:bodyPr>
          <a:p>
            <a:r>
              <a:rPr b="1" lang="en-US" sz="1200" spc="-1" strike="noStrike">
                <a:solidFill>
                  <a:srgbClr val="3e78b2"/>
                </a:solidFill>
                <a:latin typeface="Lato"/>
              </a:rPr>
              <a:t>RQ1 · MODEL</a:t>
            </a:r>
            <a:endParaRPr b="1" lang="en-US" sz="1200" spc="-1" strike="noStrike">
              <a:solidFill>
                <a:srgbClr val="3e78b2"/>
              </a:solidFill>
              <a:latin typeface="Lato"/>
            </a:endParaRPr>
          </a:p>
        </p:txBody>
      </p:sp>
      <p:sp>
        <p:nvSpPr>
          <p:cNvPr id="119" name=""/>
          <p:cNvSpPr txBox="1"/>
          <p:nvPr/>
        </p:nvSpPr>
        <p:spPr>
          <a:xfrm>
            <a:off x="666000" y="1602000"/>
            <a:ext cx="3204000" cy="482400"/>
          </a:xfrm>
          <a:prstGeom prst="rect">
            <a:avLst/>
          </a:prstGeom>
          <a:noFill/>
          <a:ln w="0">
            <a:noFill/>
          </a:ln>
        </p:spPr>
        <p:txBody>
          <a:bodyPr lIns="43200" rIns="43200" tIns="43200" bIns="43200" anchor="t">
            <a:noAutofit/>
          </a:bodyPr>
          <a:p>
            <a:r>
              <a:rPr b="1" lang="en-US" sz="2200" spc="-1" strike="noStrike">
                <a:solidFill>
                  <a:srgbClr val="102b3f"/>
                </a:solidFill>
                <a:latin typeface="Lato"/>
              </a:rPr>
              <a:t>Which model?</a:t>
            </a:r>
            <a:endParaRPr b="1" lang="en-US" sz="2200" spc="-1" strike="noStrike">
              <a:solidFill>
                <a:srgbClr val="102b3f"/>
              </a:solidFill>
              <a:latin typeface="Lato"/>
            </a:endParaRPr>
          </a:p>
        </p:txBody>
      </p:sp>
      <p:sp>
        <p:nvSpPr>
          <p:cNvPr id="120" name=""/>
          <p:cNvSpPr txBox="1"/>
          <p:nvPr/>
        </p:nvSpPr>
        <p:spPr>
          <a:xfrm>
            <a:off x="666000" y="2214000"/>
            <a:ext cx="3186000" cy="2228400"/>
          </a:xfrm>
          <a:prstGeom prst="rect">
            <a:avLst/>
          </a:prstGeom>
          <a:noFill/>
          <a:ln w="0">
            <a:noFill/>
          </a:ln>
        </p:spPr>
        <p:txBody>
          <a:bodyPr lIns="43200" rIns="43200" tIns="43200" bIns="43200" anchor="t">
            <a:noAutofit/>
          </a:bodyPr>
          <a:p>
            <a:r>
              <a:rPr b="0" lang="en-US" sz="1600" spc="-1" strike="noStrike">
                <a:solidFill>
                  <a:srgbClr val="23313b"/>
                </a:solidFill>
                <a:latin typeface="Lato"/>
              </a:rPr>
              <a:t>Six locally deployable models</a:t>
            </a:r>
            <a:endParaRPr b="0" lang="en-US" sz="1600" spc="-1" strike="noStrike">
              <a:solidFill>
                <a:srgbClr val="23313b"/>
              </a:solidFill>
              <a:latin typeface="Lato"/>
            </a:endParaRPr>
          </a:p>
          <a:p>
            <a:r>
              <a:rPr b="0" lang="en-US" sz="1600" spc="-1" strike="noStrike">
                <a:solidFill>
                  <a:srgbClr val="23313b"/>
                </a:solidFill>
                <a:latin typeface="Lato"/>
              </a:rPr>
              <a:t>1B–14B nominal scale</a:t>
            </a:r>
            <a:endParaRPr b="0" lang="en-US" sz="1600" spc="-1" strike="noStrike">
              <a:solidFill>
                <a:srgbClr val="23313b"/>
              </a:solidFill>
              <a:latin typeface="Lato"/>
            </a:endParaRPr>
          </a:p>
          <a:p>
            <a:endParaRPr b="0" lang="en-US" sz="1600" spc="-1" strike="noStrike">
              <a:solidFill>
                <a:srgbClr val="23313b"/>
              </a:solidFill>
              <a:latin typeface="Lato"/>
            </a:endParaRPr>
          </a:p>
          <a:p>
            <a:r>
              <a:rPr b="0" lang="en-US" sz="1600" spc="-1" strike="noStrike">
                <a:solidFill>
                  <a:srgbClr val="23313b"/>
                </a:solidFill>
                <a:latin typeface="Lato"/>
              </a:rPr>
              <a:t>Does task performance increase consistently with size?</a:t>
            </a:r>
            <a:endParaRPr b="0" lang="en-US" sz="1600" spc="-1" strike="noStrike">
              <a:solidFill>
                <a:srgbClr val="23313b"/>
              </a:solidFill>
              <a:latin typeface="Lato"/>
            </a:endParaRPr>
          </a:p>
        </p:txBody>
      </p:sp>
      <p:sp>
        <p:nvSpPr>
          <p:cNvPr id="121" name=""/>
          <p:cNvSpPr/>
          <p:nvPr/>
        </p:nvSpPr>
        <p:spPr>
          <a:xfrm>
            <a:off x="4356000" y="1224000"/>
            <a:ext cx="3456000" cy="3348000"/>
          </a:xfrm>
          <a:prstGeom prst="roundRect">
            <a:avLst/>
          </a:prstGeom>
          <a:solidFill>
            <a:srgbClr val="ffffff"/>
          </a:solidFill>
          <a:ln w="12600">
            <a:solidFill>
              <a:srgbClr val="d8e0e5"/>
            </a:solidFill>
            <a:round/>
          </a:ln>
        </p:spPr>
      </p:sp>
      <p:sp>
        <p:nvSpPr>
          <p:cNvPr id="122" name=""/>
          <p:cNvSpPr/>
          <p:nvPr/>
        </p:nvSpPr>
        <p:spPr>
          <a:xfrm>
            <a:off x="4356000" y="1224000"/>
            <a:ext cx="64800" cy="3348000"/>
          </a:xfrm>
          <a:prstGeom prst="rect">
            <a:avLst/>
          </a:prstGeom>
          <a:solidFill>
            <a:srgbClr val="f28c28"/>
          </a:solidFill>
          <a:ln w="0">
            <a:noFill/>
          </a:ln>
        </p:spPr>
      </p:sp>
      <p:sp>
        <p:nvSpPr>
          <p:cNvPr id="123" name=""/>
          <p:cNvSpPr txBox="1"/>
          <p:nvPr/>
        </p:nvSpPr>
        <p:spPr>
          <a:xfrm>
            <a:off x="4518000" y="1350000"/>
            <a:ext cx="3204000" cy="240840"/>
          </a:xfrm>
          <a:prstGeom prst="rect">
            <a:avLst/>
          </a:prstGeom>
          <a:noFill/>
          <a:ln w="0">
            <a:noFill/>
          </a:ln>
        </p:spPr>
        <p:txBody>
          <a:bodyPr lIns="43200" rIns="43200" tIns="43200" bIns="43200" anchor="t">
            <a:noAutofit/>
          </a:bodyPr>
          <a:p>
            <a:r>
              <a:rPr b="1" lang="en-US" sz="1200" spc="-1" strike="noStrike">
                <a:solidFill>
                  <a:srgbClr val="f28c28"/>
                </a:solidFill>
                <a:latin typeface="Lato"/>
              </a:rPr>
              <a:t>RQ2 · ARCHITECTURE</a:t>
            </a:r>
            <a:endParaRPr b="1" lang="en-US" sz="1200" spc="-1" strike="noStrike">
              <a:solidFill>
                <a:srgbClr val="f28c28"/>
              </a:solidFill>
              <a:latin typeface="Lato"/>
            </a:endParaRPr>
          </a:p>
        </p:txBody>
      </p:sp>
      <p:sp>
        <p:nvSpPr>
          <p:cNvPr id="124" name=""/>
          <p:cNvSpPr txBox="1"/>
          <p:nvPr/>
        </p:nvSpPr>
        <p:spPr>
          <a:xfrm>
            <a:off x="4518000" y="1602000"/>
            <a:ext cx="3204000" cy="482400"/>
          </a:xfrm>
          <a:prstGeom prst="rect">
            <a:avLst/>
          </a:prstGeom>
          <a:noFill/>
          <a:ln w="0">
            <a:noFill/>
          </a:ln>
        </p:spPr>
        <p:txBody>
          <a:bodyPr lIns="43200" rIns="43200" tIns="43200" bIns="43200" anchor="t">
            <a:noAutofit/>
          </a:bodyPr>
          <a:p>
            <a:r>
              <a:rPr b="1" lang="en-US" sz="2200" spc="-1" strike="noStrike">
                <a:solidFill>
                  <a:srgbClr val="102b3f"/>
                </a:solidFill>
                <a:latin typeface="Lato"/>
              </a:rPr>
              <a:t>Who plans?</a:t>
            </a:r>
            <a:endParaRPr b="1" lang="en-US" sz="2200" spc="-1" strike="noStrike">
              <a:solidFill>
                <a:srgbClr val="102b3f"/>
              </a:solidFill>
              <a:latin typeface="Lato"/>
            </a:endParaRPr>
          </a:p>
        </p:txBody>
      </p:sp>
      <p:sp>
        <p:nvSpPr>
          <p:cNvPr id="125" name=""/>
          <p:cNvSpPr txBox="1"/>
          <p:nvPr/>
        </p:nvSpPr>
        <p:spPr>
          <a:xfrm>
            <a:off x="4518000" y="2214000"/>
            <a:ext cx="3186000" cy="2228400"/>
          </a:xfrm>
          <a:prstGeom prst="rect">
            <a:avLst/>
          </a:prstGeom>
          <a:noFill/>
          <a:ln w="0">
            <a:noFill/>
          </a:ln>
        </p:spPr>
        <p:txBody>
          <a:bodyPr lIns="43200" rIns="43200" tIns="43200" bIns="43200" anchor="t">
            <a:noAutofit/>
          </a:bodyPr>
          <a:p>
            <a:r>
              <a:rPr b="0" lang="en-US" sz="1600" spc="-1" strike="noStrike">
                <a:solidFill>
                  <a:srgbClr val="23313b"/>
                </a:solidFill>
                <a:latin typeface="Lato"/>
              </a:rPr>
              <a:t>Centralized joint planning</a:t>
            </a:r>
            <a:endParaRPr b="0" lang="en-US" sz="1600" spc="-1" strike="noStrike">
              <a:solidFill>
                <a:srgbClr val="23313b"/>
              </a:solidFill>
              <a:latin typeface="Lato"/>
            </a:endParaRPr>
          </a:p>
          <a:p>
            <a:r>
              <a:rPr b="0" lang="en-US" sz="1600" spc="-1" strike="noStrike">
                <a:solidFill>
                  <a:srgbClr val="23313b"/>
                </a:solidFill>
                <a:latin typeface="Lato"/>
              </a:rPr>
              <a:t>versus</a:t>
            </a:r>
            <a:endParaRPr b="0" lang="en-US" sz="1600" spc="-1" strike="noStrike">
              <a:solidFill>
                <a:srgbClr val="23313b"/>
              </a:solidFill>
              <a:latin typeface="Lato"/>
            </a:endParaRPr>
          </a:p>
          <a:p>
            <a:r>
              <a:rPr b="0" lang="en-US" sz="1600" spc="-1" strike="noStrike">
                <a:solidFill>
                  <a:srgbClr val="23313b"/>
                </a:solidFill>
                <a:latin typeface="Lato"/>
              </a:rPr>
              <a:t>shared-context per-agent planning</a:t>
            </a:r>
            <a:endParaRPr b="0" lang="en-US" sz="1600" spc="-1" strike="noStrike">
              <a:solidFill>
                <a:srgbClr val="23313b"/>
              </a:solidFill>
              <a:latin typeface="Lato"/>
            </a:endParaRPr>
          </a:p>
        </p:txBody>
      </p:sp>
      <p:sp>
        <p:nvSpPr>
          <p:cNvPr id="126" name=""/>
          <p:cNvSpPr/>
          <p:nvPr/>
        </p:nvSpPr>
        <p:spPr>
          <a:xfrm>
            <a:off x="8208000" y="1224000"/>
            <a:ext cx="3456000" cy="3348000"/>
          </a:xfrm>
          <a:prstGeom prst="roundRect">
            <a:avLst/>
          </a:prstGeom>
          <a:solidFill>
            <a:srgbClr val="ffffff"/>
          </a:solidFill>
          <a:ln w="12600">
            <a:solidFill>
              <a:srgbClr val="d8e0e5"/>
            </a:solidFill>
            <a:round/>
          </a:ln>
        </p:spPr>
      </p:sp>
      <p:sp>
        <p:nvSpPr>
          <p:cNvPr id="127" name=""/>
          <p:cNvSpPr/>
          <p:nvPr/>
        </p:nvSpPr>
        <p:spPr>
          <a:xfrm>
            <a:off x="8208000" y="1224000"/>
            <a:ext cx="64800" cy="3348000"/>
          </a:xfrm>
          <a:prstGeom prst="rect">
            <a:avLst/>
          </a:prstGeom>
          <a:solidFill>
            <a:srgbClr val="1f8a70"/>
          </a:solidFill>
          <a:ln w="0">
            <a:noFill/>
          </a:ln>
        </p:spPr>
      </p:sp>
      <p:sp>
        <p:nvSpPr>
          <p:cNvPr id="128" name=""/>
          <p:cNvSpPr txBox="1"/>
          <p:nvPr/>
        </p:nvSpPr>
        <p:spPr>
          <a:xfrm>
            <a:off x="8370000" y="1350000"/>
            <a:ext cx="3204000" cy="240840"/>
          </a:xfrm>
          <a:prstGeom prst="rect">
            <a:avLst/>
          </a:prstGeom>
          <a:noFill/>
          <a:ln w="0">
            <a:noFill/>
          </a:ln>
        </p:spPr>
        <p:txBody>
          <a:bodyPr lIns="43200" rIns="43200" tIns="43200" bIns="43200" anchor="t">
            <a:noAutofit/>
          </a:bodyPr>
          <a:p>
            <a:r>
              <a:rPr b="1" lang="en-US" sz="1200" spc="-1" strike="noStrike">
                <a:solidFill>
                  <a:srgbClr val="1f8a70"/>
                </a:solidFill>
                <a:latin typeface="Lato"/>
              </a:rPr>
              <a:t>RQ3 · PROMPT</a:t>
            </a:r>
            <a:endParaRPr b="1" lang="en-US" sz="1200" spc="-1" strike="noStrike">
              <a:solidFill>
                <a:srgbClr val="1f8a70"/>
              </a:solidFill>
              <a:latin typeface="Lato"/>
            </a:endParaRPr>
          </a:p>
        </p:txBody>
      </p:sp>
      <p:sp>
        <p:nvSpPr>
          <p:cNvPr id="129" name=""/>
          <p:cNvSpPr txBox="1"/>
          <p:nvPr/>
        </p:nvSpPr>
        <p:spPr>
          <a:xfrm>
            <a:off x="8370000" y="1602000"/>
            <a:ext cx="3204000" cy="482400"/>
          </a:xfrm>
          <a:prstGeom prst="rect">
            <a:avLst/>
          </a:prstGeom>
          <a:noFill/>
          <a:ln w="0">
            <a:noFill/>
          </a:ln>
        </p:spPr>
        <p:txBody>
          <a:bodyPr lIns="43200" rIns="43200" tIns="43200" bIns="43200" anchor="t">
            <a:noAutofit/>
          </a:bodyPr>
          <a:p>
            <a:r>
              <a:rPr b="1" lang="en-US" sz="2200" spc="-1" strike="noStrike">
                <a:solidFill>
                  <a:srgbClr val="102b3f"/>
                </a:solidFill>
                <a:latin typeface="Lato"/>
              </a:rPr>
              <a:t>How is state presented?</a:t>
            </a:r>
            <a:endParaRPr b="1" lang="en-US" sz="2200" spc="-1" strike="noStrike">
              <a:solidFill>
                <a:srgbClr val="102b3f"/>
              </a:solidFill>
              <a:latin typeface="Lato"/>
            </a:endParaRPr>
          </a:p>
        </p:txBody>
      </p:sp>
      <p:sp>
        <p:nvSpPr>
          <p:cNvPr id="130" name=""/>
          <p:cNvSpPr txBox="1"/>
          <p:nvPr/>
        </p:nvSpPr>
        <p:spPr>
          <a:xfrm>
            <a:off x="8370000" y="2214000"/>
            <a:ext cx="3186000" cy="2228400"/>
          </a:xfrm>
          <a:prstGeom prst="rect">
            <a:avLst/>
          </a:prstGeom>
          <a:noFill/>
          <a:ln w="0">
            <a:noFill/>
          </a:ln>
        </p:spPr>
        <p:txBody>
          <a:bodyPr lIns="43200" rIns="43200" tIns="43200" bIns="43200" anchor="t">
            <a:noAutofit/>
          </a:bodyPr>
          <a:p>
            <a:r>
              <a:rPr b="0" lang="en-US" sz="1600" spc="-1" strike="noStrike">
                <a:solidFill>
                  <a:srgbClr val="23313b"/>
                </a:solidFill>
                <a:latin typeface="Lato"/>
              </a:rPr>
              <a:t>Descriptive natural language</a:t>
            </a:r>
            <a:endParaRPr b="0" lang="en-US" sz="1600" spc="-1" strike="noStrike">
              <a:solidFill>
                <a:srgbClr val="23313b"/>
              </a:solidFill>
              <a:latin typeface="Lato"/>
            </a:endParaRPr>
          </a:p>
          <a:p>
            <a:r>
              <a:rPr b="0" lang="en-US" sz="1600" spc="-1" strike="noStrike">
                <a:solidFill>
                  <a:srgbClr val="23313b"/>
                </a:solidFill>
                <a:latin typeface="Lato"/>
              </a:rPr>
              <a:t>versus</a:t>
            </a:r>
            <a:endParaRPr b="0" lang="en-US" sz="1600" spc="-1" strike="noStrike">
              <a:solidFill>
                <a:srgbClr val="23313b"/>
              </a:solidFill>
              <a:latin typeface="Lato"/>
            </a:endParaRPr>
          </a:p>
          <a:p>
            <a:r>
              <a:rPr b="0" lang="en-US" sz="1600" spc="-1" strike="noStrike">
                <a:solidFill>
                  <a:srgbClr val="23313b"/>
                </a:solidFill>
                <a:latin typeface="Lato"/>
              </a:rPr>
              <a:t>structured JSON configuration</a:t>
            </a:r>
            <a:endParaRPr b="0" lang="en-US" sz="1600" spc="-1" strike="noStrike">
              <a:solidFill>
                <a:srgbClr val="23313b"/>
              </a:solidFill>
              <a:latin typeface="Lato"/>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 name=""/>
          <p:cNvSpPr txBox="1"/>
          <p:nvPr/>
        </p:nvSpPr>
        <p:spPr>
          <a:xfrm>
            <a:off x="540000" y="252000"/>
            <a:ext cx="10800000" cy="464400"/>
          </a:xfrm>
          <a:prstGeom prst="rect">
            <a:avLst/>
          </a:prstGeom>
          <a:noFill/>
          <a:ln w="0">
            <a:noFill/>
          </a:ln>
        </p:spPr>
        <p:txBody>
          <a:bodyPr lIns="43200" rIns="43200" tIns="43200" bIns="43200" anchor="t">
            <a:noAutofit/>
          </a:bodyPr>
          <a:p>
            <a:r>
              <a:rPr b="1" lang="en-US" sz="2900" spc="-1" strike="noStrike">
                <a:solidFill>
                  <a:srgbClr val="102b3f"/>
                </a:solidFill>
                <a:latin typeface="Lato"/>
              </a:rPr>
              <a:t>Battery-TA-RWARE environment</a:t>
            </a:r>
            <a:endParaRPr b="1" lang="en-US" sz="2900" spc="-1" strike="noStrike">
              <a:solidFill>
                <a:srgbClr val="102b3f"/>
              </a:solidFill>
              <a:latin typeface="Lato"/>
            </a:endParaRPr>
          </a:p>
        </p:txBody>
      </p:sp>
      <p:sp>
        <p:nvSpPr>
          <p:cNvPr id="132" name=""/>
          <p:cNvSpPr/>
          <p:nvPr/>
        </p:nvSpPr>
        <p:spPr>
          <a:xfrm>
            <a:off x="540000" y="6354000"/>
            <a:ext cx="11088000" cy="7200"/>
          </a:xfrm>
          <a:prstGeom prst="rect">
            <a:avLst/>
          </a:prstGeom>
          <a:solidFill>
            <a:srgbClr val="1f7188"/>
          </a:solidFill>
          <a:ln w="0">
            <a:noFill/>
          </a:ln>
        </p:spPr>
      </p:sp>
      <p:sp>
        <p:nvSpPr>
          <p:cNvPr id="133" name=""/>
          <p:cNvSpPr txBox="1"/>
          <p:nvPr/>
        </p:nvSpPr>
        <p:spPr>
          <a:xfrm>
            <a:off x="540000" y="6415200"/>
            <a:ext cx="7200000" cy="201240"/>
          </a:xfrm>
          <a:prstGeom prst="rect">
            <a:avLst/>
          </a:prstGeom>
          <a:noFill/>
          <a:ln w="0">
            <a:noFill/>
          </a:ln>
        </p:spPr>
        <p:txBody>
          <a:bodyPr lIns="43200" rIns="43200" tIns="43200" bIns="43200" anchor="t">
            <a:noAutofit/>
          </a:bodyPr>
          <a:p>
            <a:r>
              <a:rPr b="0" lang="en-US" sz="900" spc="-1" strike="noStrike">
                <a:solidFill>
                  <a:srgbClr val="5d6b75"/>
                </a:solidFill>
                <a:latin typeface="Lato"/>
              </a:rPr>
              <a:t>Master’s thesis · Uppsala University</a:t>
            </a:r>
            <a:endParaRPr b="0" lang="en-US" sz="900" spc="-1" strike="noStrike">
              <a:solidFill>
                <a:srgbClr val="5d6b75"/>
              </a:solidFill>
              <a:latin typeface="Lato"/>
            </a:endParaRPr>
          </a:p>
        </p:txBody>
      </p:sp>
      <p:sp>
        <p:nvSpPr>
          <p:cNvPr id="134" name=""/>
          <p:cNvSpPr txBox="1"/>
          <p:nvPr/>
        </p:nvSpPr>
        <p:spPr>
          <a:xfrm>
            <a:off x="9612000" y="6415200"/>
            <a:ext cx="2016000" cy="189000"/>
          </a:xfrm>
          <a:prstGeom prst="rect">
            <a:avLst/>
          </a:prstGeom>
          <a:noFill/>
          <a:ln w="0">
            <a:noFill/>
          </a:ln>
        </p:spPr>
        <p:txBody>
          <a:bodyPr lIns="43200" rIns="43200" tIns="43200" bIns="43200" anchor="t">
            <a:noAutofit/>
          </a:bodyPr>
          <a:p>
            <a:pPr algn="r">
              <a:buNone/>
            </a:pPr>
            <a:r>
              <a:rPr b="1" lang="en-US" sz="800" spc="-1" strike="noStrike">
                <a:solidFill>
                  <a:srgbClr val="1f7188"/>
                </a:solidFill>
                <a:latin typeface="Lato"/>
              </a:rPr>
              <a:t>ENVIRONMENT</a:t>
            </a:r>
            <a:endParaRPr b="1" lang="en-US" sz="800" spc="-1" strike="noStrike">
              <a:solidFill>
                <a:srgbClr val="1f7188"/>
              </a:solidFill>
              <a:latin typeface="Lato"/>
            </a:endParaRPr>
          </a:p>
        </p:txBody>
      </p:sp>
      <p:pic>
        <p:nvPicPr>
          <p:cNvPr id="135" name="" descr=""/>
          <p:cNvPicPr/>
          <p:nvPr/>
        </p:nvPicPr>
        <p:blipFill>
          <a:blip r:embed="rId1"/>
          <a:stretch/>
        </p:blipFill>
        <p:spPr>
          <a:xfrm>
            <a:off x="432000" y="1080000"/>
            <a:ext cx="7560000" cy="4752000"/>
          </a:xfrm>
          <a:prstGeom prst="rect">
            <a:avLst/>
          </a:prstGeom>
          <a:ln w="0">
            <a:noFill/>
          </a:ln>
        </p:spPr>
      </p:pic>
      <p:sp>
        <p:nvSpPr>
          <p:cNvPr id="136" name=""/>
          <p:cNvSpPr/>
          <p:nvPr/>
        </p:nvSpPr>
        <p:spPr>
          <a:xfrm>
            <a:off x="8460000" y="1188000"/>
            <a:ext cx="2952000" cy="1116000"/>
          </a:xfrm>
          <a:prstGeom prst="roundRect">
            <a:avLst/>
          </a:prstGeom>
          <a:solidFill>
            <a:srgbClr val="ffffff"/>
          </a:solidFill>
          <a:ln w="12600">
            <a:solidFill>
              <a:srgbClr val="d8e0e5"/>
            </a:solidFill>
            <a:round/>
          </a:ln>
        </p:spPr>
      </p:sp>
      <p:sp>
        <p:nvSpPr>
          <p:cNvPr id="137" name=""/>
          <p:cNvSpPr/>
          <p:nvPr/>
        </p:nvSpPr>
        <p:spPr>
          <a:xfrm>
            <a:off x="8460000" y="1188000"/>
            <a:ext cx="64800" cy="1116000"/>
          </a:xfrm>
          <a:prstGeom prst="rect">
            <a:avLst/>
          </a:prstGeom>
          <a:solidFill>
            <a:srgbClr val="1f7188"/>
          </a:solidFill>
          <a:ln w="0">
            <a:noFill/>
          </a:ln>
        </p:spPr>
      </p:sp>
      <p:sp>
        <p:nvSpPr>
          <p:cNvPr id="138" name=""/>
          <p:cNvSpPr txBox="1"/>
          <p:nvPr/>
        </p:nvSpPr>
        <p:spPr>
          <a:xfrm>
            <a:off x="8622000" y="1314000"/>
            <a:ext cx="2700000" cy="240840"/>
          </a:xfrm>
          <a:prstGeom prst="rect">
            <a:avLst/>
          </a:prstGeom>
          <a:noFill/>
          <a:ln w="0">
            <a:noFill/>
          </a:ln>
        </p:spPr>
        <p:txBody>
          <a:bodyPr lIns="43200" rIns="43200" tIns="43200" bIns="43200" anchor="t">
            <a:noAutofit/>
          </a:bodyPr>
          <a:p>
            <a:r>
              <a:rPr b="1" lang="en-US" sz="1200" spc="-1" strike="noStrike">
                <a:solidFill>
                  <a:srgbClr val="1f7188"/>
                </a:solidFill>
                <a:latin typeface="Lato"/>
              </a:rPr>
              <a:t>ROLES</a:t>
            </a:r>
            <a:endParaRPr b="1" lang="en-US" sz="1200" spc="-1" strike="noStrike">
              <a:solidFill>
                <a:srgbClr val="1f7188"/>
              </a:solidFill>
              <a:latin typeface="Lato"/>
            </a:endParaRPr>
          </a:p>
        </p:txBody>
      </p:sp>
      <p:sp>
        <p:nvSpPr>
          <p:cNvPr id="139" name=""/>
          <p:cNvSpPr txBox="1"/>
          <p:nvPr/>
        </p:nvSpPr>
        <p:spPr>
          <a:xfrm>
            <a:off x="8622000" y="1566000"/>
            <a:ext cx="2700000" cy="482400"/>
          </a:xfrm>
          <a:prstGeom prst="rect">
            <a:avLst/>
          </a:prstGeom>
          <a:noFill/>
          <a:ln w="0">
            <a:noFill/>
          </a:ln>
        </p:spPr>
        <p:txBody>
          <a:bodyPr lIns="43200" rIns="43200" tIns="43200" bIns="43200" anchor="t">
            <a:noAutofit/>
          </a:bodyPr>
          <a:p>
            <a:r>
              <a:rPr b="1" lang="en-US" sz="2200" spc="-1" strike="noStrike">
                <a:solidFill>
                  <a:srgbClr val="102b3f"/>
                </a:solidFill>
                <a:latin typeface="Lato"/>
              </a:rPr>
              <a:t>AGV + Picker</a:t>
            </a:r>
            <a:endParaRPr b="1" lang="en-US" sz="2200" spc="-1" strike="noStrike">
              <a:solidFill>
                <a:srgbClr val="102b3f"/>
              </a:solidFill>
              <a:latin typeface="Lato"/>
            </a:endParaRPr>
          </a:p>
        </p:txBody>
      </p:sp>
      <p:sp>
        <p:nvSpPr>
          <p:cNvPr id="140" name=""/>
          <p:cNvSpPr txBox="1"/>
          <p:nvPr/>
        </p:nvSpPr>
        <p:spPr>
          <a:xfrm>
            <a:off x="8622000" y="2178000"/>
            <a:ext cx="2682000" cy="0"/>
          </a:xfrm>
          <a:prstGeom prst="rect">
            <a:avLst/>
          </a:prstGeom>
          <a:noFill/>
          <a:ln w="0">
            <a:noFill/>
          </a:ln>
        </p:spPr>
        <p:txBody>
          <a:bodyPr lIns="43200" rIns="43200" tIns="43200" bIns="43200" anchor="t">
            <a:noAutofit/>
          </a:bodyPr>
          <a:p>
            <a:r>
              <a:rPr b="0" lang="en-US" sz="1600" spc="-1" strike="noStrike">
                <a:solidFill>
                  <a:srgbClr val="23313b"/>
                </a:solidFill>
                <a:latin typeface="Lato"/>
              </a:rPr>
              <a:t>Transport and support are complementary capabilities.</a:t>
            </a:r>
            <a:endParaRPr b="0" lang="en-US" sz="1600" spc="-1" strike="noStrike">
              <a:solidFill>
                <a:srgbClr val="23313b"/>
              </a:solidFill>
              <a:latin typeface="Lato"/>
            </a:endParaRPr>
          </a:p>
        </p:txBody>
      </p:sp>
      <p:sp>
        <p:nvSpPr>
          <p:cNvPr id="141" name=""/>
          <p:cNvSpPr/>
          <p:nvPr/>
        </p:nvSpPr>
        <p:spPr>
          <a:xfrm>
            <a:off x="8460000" y="2520000"/>
            <a:ext cx="2952000" cy="1116000"/>
          </a:xfrm>
          <a:prstGeom prst="roundRect">
            <a:avLst/>
          </a:prstGeom>
          <a:solidFill>
            <a:srgbClr val="ffffff"/>
          </a:solidFill>
          <a:ln w="12600">
            <a:solidFill>
              <a:srgbClr val="d8e0e5"/>
            </a:solidFill>
            <a:round/>
          </a:ln>
        </p:spPr>
      </p:sp>
      <p:sp>
        <p:nvSpPr>
          <p:cNvPr id="142" name=""/>
          <p:cNvSpPr/>
          <p:nvPr/>
        </p:nvSpPr>
        <p:spPr>
          <a:xfrm>
            <a:off x="8460000" y="2520000"/>
            <a:ext cx="64800" cy="1116000"/>
          </a:xfrm>
          <a:prstGeom prst="rect">
            <a:avLst/>
          </a:prstGeom>
          <a:solidFill>
            <a:srgbClr val="f28c28"/>
          </a:solidFill>
          <a:ln w="0">
            <a:noFill/>
          </a:ln>
        </p:spPr>
      </p:sp>
      <p:sp>
        <p:nvSpPr>
          <p:cNvPr id="143" name=""/>
          <p:cNvSpPr txBox="1"/>
          <p:nvPr/>
        </p:nvSpPr>
        <p:spPr>
          <a:xfrm>
            <a:off x="8622000" y="2646000"/>
            <a:ext cx="2700000" cy="240840"/>
          </a:xfrm>
          <a:prstGeom prst="rect">
            <a:avLst/>
          </a:prstGeom>
          <a:noFill/>
          <a:ln w="0">
            <a:noFill/>
          </a:ln>
        </p:spPr>
        <p:txBody>
          <a:bodyPr lIns="43200" rIns="43200" tIns="43200" bIns="43200" anchor="t">
            <a:noAutofit/>
          </a:bodyPr>
          <a:p>
            <a:r>
              <a:rPr b="1" lang="en-US" sz="1200" spc="-1" strike="noStrike">
                <a:solidFill>
                  <a:srgbClr val="f28c28"/>
                </a:solidFill>
                <a:latin typeface="Lato"/>
              </a:rPr>
              <a:t>RESOURCES</a:t>
            </a:r>
            <a:endParaRPr b="1" lang="en-US" sz="1200" spc="-1" strike="noStrike">
              <a:solidFill>
                <a:srgbClr val="f28c28"/>
              </a:solidFill>
              <a:latin typeface="Lato"/>
            </a:endParaRPr>
          </a:p>
        </p:txBody>
      </p:sp>
      <p:sp>
        <p:nvSpPr>
          <p:cNvPr id="144" name=""/>
          <p:cNvSpPr txBox="1"/>
          <p:nvPr/>
        </p:nvSpPr>
        <p:spPr>
          <a:xfrm>
            <a:off x="8622000" y="2898000"/>
            <a:ext cx="2700000" cy="482400"/>
          </a:xfrm>
          <a:prstGeom prst="rect">
            <a:avLst/>
          </a:prstGeom>
          <a:noFill/>
          <a:ln w="0">
            <a:noFill/>
          </a:ln>
        </p:spPr>
        <p:txBody>
          <a:bodyPr lIns="43200" rIns="43200" tIns="43200" bIns="43200" anchor="t">
            <a:noAutofit/>
          </a:bodyPr>
          <a:p>
            <a:r>
              <a:rPr b="1" lang="en-US" sz="2200" spc="-1" strike="noStrike">
                <a:solidFill>
                  <a:srgbClr val="102b3f"/>
                </a:solidFill>
                <a:latin typeface="Lato"/>
              </a:rPr>
              <a:t>Shared workspace</a:t>
            </a:r>
            <a:endParaRPr b="1" lang="en-US" sz="2200" spc="-1" strike="noStrike">
              <a:solidFill>
                <a:srgbClr val="102b3f"/>
              </a:solidFill>
              <a:latin typeface="Lato"/>
            </a:endParaRPr>
          </a:p>
        </p:txBody>
      </p:sp>
      <p:sp>
        <p:nvSpPr>
          <p:cNvPr id="145" name=""/>
          <p:cNvSpPr txBox="1"/>
          <p:nvPr/>
        </p:nvSpPr>
        <p:spPr>
          <a:xfrm>
            <a:off x="8622000" y="3510000"/>
            <a:ext cx="2682000" cy="0"/>
          </a:xfrm>
          <a:prstGeom prst="rect">
            <a:avLst/>
          </a:prstGeom>
          <a:noFill/>
          <a:ln w="0">
            <a:noFill/>
          </a:ln>
        </p:spPr>
        <p:txBody>
          <a:bodyPr lIns="43200" rIns="43200" tIns="43200" bIns="43200" anchor="t">
            <a:noAutofit/>
          </a:bodyPr>
          <a:p>
            <a:r>
              <a:rPr b="0" lang="en-US" sz="1600" spc="-1" strike="noStrike">
                <a:solidFill>
                  <a:srgbClr val="23313b"/>
                </a:solidFill>
                <a:latin typeface="Lato"/>
              </a:rPr>
              <a:t>Shelves, goals, travel lanes, and charging stations.</a:t>
            </a:r>
            <a:endParaRPr b="0" lang="en-US" sz="1600" spc="-1" strike="noStrike">
              <a:solidFill>
                <a:srgbClr val="23313b"/>
              </a:solidFill>
              <a:latin typeface="Lato"/>
            </a:endParaRPr>
          </a:p>
        </p:txBody>
      </p:sp>
      <p:sp>
        <p:nvSpPr>
          <p:cNvPr id="146" name=""/>
          <p:cNvSpPr/>
          <p:nvPr/>
        </p:nvSpPr>
        <p:spPr>
          <a:xfrm>
            <a:off x="8460000" y="3852000"/>
            <a:ext cx="2952000" cy="1476000"/>
          </a:xfrm>
          <a:prstGeom prst="roundRect">
            <a:avLst/>
          </a:prstGeom>
          <a:solidFill>
            <a:srgbClr val="ffffff"/>
          </a:solidFill>
          <a:ln w="12600">
            <a:solidFill>
              <a:srgbClr val="d8e0e5"/>
            </a:solidFill>
            <a:round/>
          </a:ln>
        </p:spPr>
      </p:sp>
      <p:sp>
        <p:nvSpPr>
          <p:cNvPr id="147" name=""/>
          <p:cNvSpPr/>
          <p:nvPr/>
        </p:nvSpPr>
        <p:spPr>
          <a:xfrm>
            <a:off x="8460000" y="3852000"/>
            <a:ext cx="64800" cy="1476000"/>
          </a:xfrm>
          <a:prstGeom prst="rect">
            <a:avLst/>
          </a:prstGeom>
          <a:solidFill>
            <a:srgbClr val="3e78b2"/>
          </a:solidFill>
          <a:ln w="0">
            <a:noFill/>
          </a:ln>
        </p:spPr>
      </p:sp>
      <p:sp>
        <p:nvSpPr>
          <p:cNvPr id="148" name=""/>
          <p:cNvSpPr txBox="1"/>
          <p:nvPr/>
        </p:nvSpPr>
        <p:spPr>
          <a:xfrm>
            <a:off x="8622000" y="3978000"/>
            <a:ext cx="2700000" cy="240840"/>
          </a:xfrm>
          <a:prstGeom prst="rect">
            <a:avLst/>
          </a:prstGeom>
          <a:noFill/>
          <a:ln w="0">
            <a:noFill/>
          </a:ln>
        </p:spPr>
        <p:txBody>
          <a:bodyPr lIns="43200" rIns="43200" tIns="43200" bIns="43200" anchor="t">
            <a:noAutofit/>
          </a:bodyPr>
          <a:p>
            <a:r>
              <a:rPr b="1" lang="en-US" sz="1200" spc="-1" strike="noStrike">
                <a:solidFill>
                  <a:srgbClr val="3e78b2"/>
                </a:solidFill>
                <a:latin typeface="Lato"/>
              </a:rPr>
              <a:t>EXECUTION</a:t>
            </a:r>
            <a:endParaRPr b="1" lang="en-US" sz="1200" spc="-1" strike="noStrike">
              <a:solidFill>
                <a:srgbClr val="3e78b2"/>
              </a:solidFill>
              <a:latin typeface="Lato"/>
            </a:endParaRPr>
          </a:p>
        </p:txBody>
      </p:sp>
      <p:sp>
        <p:nvSpPr>
          <p:cNvPr id="149" name=""/>
          <p:cNvSpPr txBox="1"/>
          <p:nvPr/>
        </p:nvSpPr>
        <p:spPr>
          <a:xfrm>
            <a:off x="8622000" y="4230000"/>
            <a:ext cx="2700000" cy="482400"/>
          </a:xfrm>
          <a:prstGeom prst="rect">
            <a:avLst/>
          </a:prstGeom>
          <a:noFill/>
          <a:ln w="0">
            <a:noFill/>
          </a:ln>
        </p:spPr>
        <p:txBody>
          <a:bodyPr lIns="43200" rIns="43200" tIns="43200" bIns="43200" anchor="t">
            <a:noAutofit/>
          </a:bodyPr>
          <a:p>
            <a:r>
              <a:rPr b="1" lang="en-US" sz="2200" spc="-1" strike="noStrike">
                <a:solidFill>
                  <a:srgbClr val="102b3f"/>
                </a:solidFill>
                <a:latin typeface="Lato"/>
              </a:rPr>
              <a:t>Simulator-owned</a:t>
            </a:r>
            <a:endParaRPr b="1" lang="en-US" sz="2200" spc="-1" strike="noStrike">
              <a:solidFill>
                <a:srgbClr val="102b3f"/>
              </a:solidFill>
              <a:latin typeface="Lato"/>
            </a:endParaRPr>
          </a:p>
        </p:txBody>
      </p:sp>
      <p:sp>
        <p:nvSpPr>
          <p:cNvPr id="150" name=""/>
          <p:cNvSpPr txBox="1"/>
          <p:nvPr/>
        </p:nvSpPr>
        <p:spPr>
          <a:xfrm>
            <a:off x="8622000" y="4842000"/>
            <a:ext cx="2682000" cy="694800"/>
          </a:xfrm>
          <a:prstGeom prst="rect">
            <a:avLst/>
          </a:prstGeom>
          <a:noFill/>
          <a:ln w="0">
            <a:noFill/>
          </a:ln>
        </p:spPr>
        <p:txBody>
          <a:bodyPr lIns="43200" rIns="43200" tIns="43200" bIns="43200" anchor="t">
            <a:noAutofit/>
          </a:bodyPr>
          <a:p>
            <a:r>
              <a:rPr b="0" lang="en-US" sz="1600" spc="-1" strike="noStrike">
                <a:solidFill>
                  <a:srgbClr val="23313b"/>
                </a:solidFill>
                <a:latin typeface="Lato"/>
              </a:rPr>
              <a:t>A* navigation, collisions, battery dynamics, loading and unloading.</a:t>
            </a:r>
            <a:endParaRPr b="0" lang="en-US" sz="1600" spc="-1" strike="noStrike">
              <a:solidFill>
                <a:srgbClr val="23313b"/>
              </a:solidFill>
              <a:latin typeface="Lato"/>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1" name=""/>
          <p:cNvSpPr txBox="1"/>
          <p:nvPr/>
        </p:nvSpPr>
        <p:spPr>
          <a:xfrm>
            <a:off x="540000" y="252000"/>
            <a:ext cx="10800000" cy="464400"/>
          </a:xfrm>
          <a:prstGeom prst="rect">
            <a:avLst/>
          </a:prstGeom>
          <a:noFill/>
          <a:ln w="0">
            <a:noFill/>
          </a:ln>
        </p:spPr>
        <p:txBody>
          <a:bodyPr lIns="43200" rIns="43200" tIns="43200" bIns="43200" anchor="t">
            <a:noAutofit/>
          </a:bodyPr>
          <a:p>
            <a:r>
              <a:rPr b="1" lang="en-US" sz="2900" spc="-1" strike="noStrike">
                <a:solidFill>
                  <a:srgbClr val="102b3f"/>
                </a:solidFill>
                <a:latin typeface="Lato"/>
              </a:rPr>
              <a:t>Three warehouse layouts</a:t>
            </a:r>
            <a:endParaRPr b="1" lang="en-US" sz="2900" spc="-1" strike="noStrike">
              <a:solidFill>
                <a:srgbClr val="102b3f"/>
              </a:solidFill>
              <a:latin typeface="Lato"/>
            </a:endParaRPr>
          </a:p>
        </p:txBody>
      </p:sp>
      <p:sp>
        <p:nvSpPr>
          <p:cNvPr id="152" name=""/>
          <p:cNvSpPr/>
          <p:nvPr/>
        </p:nvSpPr>
        <p:spPr>
          <a:xfrm>
            <a:off x="540000" y="6354000"/>
            <a:ext cx="11088000" cy="7200"/>
          </a:xfrm>
          <a:prstGeom prst="rect">
            <a:avLst/>
          </a:prstGeom>
          <a:solidFill>
            <a:srgbClr val="1f7188"/>
          </a:solidFill>
          <a:ln w="0">
            <a:noFill/>
          </a:ln>
        </p:spPr>
      </p:sp>
      <p:sp>
        <p:nvSpPr>
          <p:cNvPr id="153" name=""/>
          <p:cNvSpPr txBox="1"/>
          <p:nvPr/>
        </p:nvSpPr>
        <p:spPr>
          <a:xfrm>
            <a:off x="540000" y="6415200"/>
            <a:ext cx="7200000" cy="201240"/>
          </a:xfrm>
          <a:prstGeom prst="rect">
            <a:avLst/>
          </a:prstGeom>
          <a:noFill/>
          <a:ln w="0">
            <a:noFill/>
          </a:ln>
        </p:spPr>
        <p:txBody>
          <a:bodyPr lIns="43200" rIns="43200" tIns="43200" bIns="43200" anchor="t">
            <a:noAutofit/>
          </a:bodyPr>
          <a:p>
            <a:r>
              <a:rPr b="0" lang="en-US" sz="900" spc="-1" strike="noStrike">
                <a:solidFill>
                  <a:srgbClr val="5d6b75"/>
                </a:solidFill>
                <a:latin typeface="Lato"/>
              </a:rPr>
              <a:t>Master’s thesis · Uppsala University</a:t>
            </a:r>
            <a:endParaRPr b="0" lang="en-US" sz="900" spc="-1" strike="noStrike">
              <a:solidFill>
                <a:srgbClr val="5d6b75"/>
              </a:solidFill>
              <a:latin typeface="Lato"/>
            </a:endParaRPr>
          </a:p>
        </p:txBody>
      </p:sp>
      <p:sp>
        <p:nvSpPr>
          <p:cNvPr id="154" name=""/>
          <p:cNvSpPr txBox="1"/>
          <p:nvPr/>
        </p:nvSpPr>
        <p:spPr>
          <a:xfrm>
            <a:off x="9612000" y="6415200"/>
            <a:ext cx="2016000" cy="189000"/>
          </a:xfrm>
          <a:prstGeom prst="rect">
            <a:avLst/>
          </a:prstGeom>
          <a:noFill/>
          <a:ln w="0">
            <a:noFill/>
          </a:ln>
        </p:spPr>
        <p:txBody>
          <a:bodyPr lIns="43200" rIns="43200" tIns="43200" bIns="43200" anchor="t">
            <a:noAutofit/>
          </a:bodyPr>
          <a:p>
            <a:pPr algn="r">
              <a:buNone/>
            </a:pPr>
            <a:r>
              <a:rPr b="1" lang="en-US" sz="800" spc="-1" strike="noStrike">
                <a:solidFill>
                  <a:srgbClr val="1f7188"/>
                </a:solidFill>
                <a:latin typeface="Lato"/>
              </a:rPr>
              <a:t>SCENARIOS</a:t>
            </a:r>
            <a:endParaRPr b="1" lang="en-US" sz="800" spc="-1" strike="noStrike">
              <a:solidFill>
                <a:srgbClr val="1f7188"/>
              </a:solidFill>
              <a:latin typeface="Lato"/>
            </a:endParaRPr>
          </a:p>
        </p:txBody>
      </p:sp>
      <p:pic>
        <p:nvPicPr>
          <p:cNvPr id="155" name="" descr=""/>
          <p:cNvPicPr/>
          <p:nvPr/>
        </p:nvPicPr>
        <p:blipFill>
          <a:blip r:embed="rId1"/>
          <a:stretch/>
        </p:blipFill>
        <p:spPr>
          <a:xfrm>
            <a:off x="396000" y="936000"/>
            <a:ext cx="11376000" cy="5364000"/>
          </a:xfrm>
          <a:prstGeom prst="rect">
            <a:avLst/>
          </a:prstGeom>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6" name=""/>
          <p:cNvSpPr txBox="1"/>
          <p:nvPr/>
        </p:nvSpPr>
        <p:spPr>
          <a:xfrm>
            <a:off x="540000" y="252000"/>
            <a:ext cx="10800000" cy="464400"/>
          </a:xfrm>
          <a:prstGeom prst="rect">
            <a:avLst/>
          </a:prstGeom>
          <a:noFill/>
          <a:ln w="0">
            <a:noFill/>
          </a:ln>
        </p:spPr>
        <p:txBody>
          <a:bodyPr lIns="43200" rIns="43200" tIns="43200" bIns="43200" anchor="t">
            <a:noAutofit/>
          </a:bodyPr>
          <a:p>
            <a:r>
              <a:rPr b="1" lang="en-US" sz="2900" spc="-1" strike="noStrike">
                <a:solidFill>
                  <a:srgbClr val="102b3f"/>
                </a:solidFill>
                <a:latin typeface="Lato"/>
              </a:rPr>
              <a:t>Six scenarios: scale × role balance</a:t>
            </a:r>
            <a:endParaRPr b="1" lang="en-US" sz="2900" spc="-1" strike="noStrike">
              <a:solidFill>
                <a:srgbClr val="102b3f"/>
              </a:solidFill>
              <a:latin typeface="Lato"/>
            </a:endParaRPr>
          </a:p>
        </p:txBody>
      </p:sp>
      <p:sp>
        <p:nvSpPr>
          <p:cNvPr id="157" name=""/>
          <p:cNvSpPr/>
          <p:nvPr/>
        </p:nvSpPr>
        <p:spPr>
          <a:xfrm>
            <a:off x="540000" y="6354000"/>
            <a:ext cx="11088000" cy="7200"/>
          </a:xfrm>
          <a:prstGeom prst="rect">
            <a:avLst/>
          </a:prstGeom>
          <a:solidFill>
            <a:srgbClr val="1f7188"/>
          </a:solidFill>
          <a:ln w="0">
            <a:noFill/>
          </a:ln>
        </p:spPr>
      </p:sp>
      <p:sp>
        <p:nvSpPr>
          <p:cNvPr id="158" name=""/>
          <p:cNvSpPr txBox="1"/>
          <p:nvPr/>
        </p:nvSpPr>
        <p:spPr>
          <a:xfrm>
            <a:off x="540000" y="6415200"/>
            <a:ext cx="7200000" cy="201240"/>
          </a:xfrm>
          <a:prstGeom prst="rect">
            <a:avLst/>
          </a:prstGeom>
          <a:noFill/>
          <a:ln w="0">
            <a:noFill/>
          </a:ln>
        </p:spPr>
        <p:txBody>
          <a:bodyPr lIns="43200" rIns="43200" tIns="43200" bIns="43200" anchor="t">
            <a:noAutofit/>
          </a:bodyPr>
          <a:p>
            <a:r>
              <a:rPr b="0" lang="en-US" sz="900" spc="-1" strike="noStrike">
                <a:solidFill>
                  <a:srgbClr val="5d6b75"/>
                </a:solidFill>
                <a:latin typeface="Lato"/>
              </a:rPr>
              <a:t>Master’s thesis · Uppsala University</a:t>
            </a:r>
            <a:endParaRPr b="0" lang="en-US" sz="900" spc="-1" strike="noStrike">
              <a:solidFill>
                <a:srgbClr val="5d6b75"/>
              </a:solidFill>
              <a:latin typeface="Lato"/>
            </a:endParaRPr>
          </a:p>
        </p:txBody>
      </p:sp>
      <p:sp>
        <p:nvSpPr>
          <p:cNvPr id="159" name=""/>
          <p:cNvSpPr txBox="1"/>
          <p:nvPr/>
        </p:nvSpPr>
        <p:spPr>
          <a:xfrm>
            <a:off x="9612000" y="6415200"/>
            <a:ext cx="2016000" cy="189000"/>
          </a:xfrm>
          <a:prstGeom prst="rect">
            <a:avLst/>
          </a:prstGeom>
          <a:noFill/>
          <a:ln w="0">
            <a:noFill/>
          </a:ln>
        </p:spPr>
        <p:txBody>
          <a:bodyPr lIns="43200" rIns="43200" tIns="43200" bIns="43200" anchor="t">
            <a:noAutofit/>
          </a:bodyPr>
          <a:p>
            <a:pPr algn="r">
              <a:buNone/>
            </a:pPr>
            <a:r>
              <a:rPr b="1" lang="en-US" sz="800" spc="-1" strike="noStrike">
                <a:solidFill>
                  <a:srgbClr val="1f7188"/>
                </a:solidFill>
                <a:latin typeface="Lato"/>
              </a:rPr>
              <a:t>SCENARIOS</a:t>
            </a:r>
            <a:endParaRPr b="1" lang="en-US" sz="800" spc="-1" strike="noStrike">
              <a:solidFill>
                <a:srgbClr val="1f7188"/>
              </a:solidFill>
              <a:latin typeface="Lato"/>
            </a:endParaRPr>
          </a:p>
        </p:txBody>
      </p:sp>
      <p:sp>
        <p:nvSpPr>
          <p:cNvPr id="160" name=""/>
          <p:cNvSpPr txBox="1"/>
          <p:nvPr/>
        </p:nvSpPr>
        <p:spPr>
          <a:xfrm>
            <a:off x="900000" y="1044000"/>
            <a:ext cx="2016000" cy="251280"/>
          </a:xfrm>
          <a:prstGeom prst="rect">
            <a:avLst/>
          </a:prstGeom>
          <a:noFill/>
          <a:ln w="0">
            <a:noFill/>
          </a:ln>
        </p:spPr>
        <p:txBody>
          <a:bodyPr lIns="43200" rIns="43200" tIns="43200" bIns="43200" anchor="t">
            <a:noAutofit/>
          </a:bodyPr>
          <a:p>
            <a:r>
              <a:rPr b="1" lang="en-US" sz="1300" spc="-1" strike="noStrike">
                <a:solidFill>
                  <a:srgbClr val="5d6b75"/>
                </a:solidFill>
                <a:latin typeface="Lato"/>
              </a:rPr>
              <a:t>LAYOUT</a:t>
            </a:r>
            <a:endParaRPr b="1" lang="en-US" sz="1300" spc="-1" strike="noStrike">
              <a:solidFill>
                <a:srgbClr val="5d6b75"/>
              </a:solidFill>
              <a:latin typeface="Lato"/>
            </a:endParaRPr>
          </a:p>
        </p:txBody>
      </p:sp>
      <p:sp>
        <p:nvSpPr>
          <p:cNvPr id="161" name=""/>
          <p:cNvSpPr txBox="1"/>
          <p:nvPr/>
        </p:nvSpPr>
        <p:spPr>
          <a:xfrm>
            <a:off x="3168000" y="1044000"/>
            <a:ext cx="2376000" cy="251280"/>
          </a:xfrm>
          <a:prstGeom prst="rect">
            <a:avLst/>
          </a:prstGeom>
          <a:noFill/>
          <a:ln w="0">
            <a:noFill/>
          </a:ln>
        </p:spPr>
        <p:txBody>
          <a:bodyPr lIns="43200" rIns="43200" tIns="43200" bIns="43200" anchor="t">
            <a:noAutofit/>
          </a:bodyPr>
          <a:p>
            <a:pPr algn="ctr">
              <a:buNone/>
            </a:pPr>
            <a:r>
              <a:rPr b="1" lang="en-US" sz="1300" spc="-1" strike="noStrike">
                <a:solidFill>
                  <a:srgbClr val="3e78b2"/>
                </a:solidFill>
                <a:latin typeface="Lato"/>
              </a:rPr>
              <a:t>BALANCED</a:t>
            </a:r>
            <a:endParaRPr b="1" lang="en-US" sz="1300" spc="-1" strike="noStrike">
              <a:solidFill>
                <a:srgbClr val="3e78b2"/>
              </a:solidFill>
              <a:latin typeface="Lato"/>
            </a:endParaRPr>
          </a:p>
        </p:txBody>
      </p:sp>
      <p:sp>
        <p:nvSpPr>
          <p:cNvPr id="162" name=""/>
          <p:cNvSpPr txBox="1"/>
          <p:nvPr/>
        </p:nvSpPr>
        <p:spPr>
          <a:xfrm>
            <a:off x="5904000" y="1044000"/>
            <a:ext cx="2376000" cy="251280"/>
          </a:xfrm>
          <a:prstGeom prst="rect">
            <a:avLst/>
          </a:prstGeom>
          <a:noFill/>
          <a:ln w="0">
            <a:noFill/>
          </a:ln>
        </p:spPr>
        <p:txBody>
          <a:bodyPr lIns="43200" rIns="43200" tIns="43200" bIns="43200" anchor="t">
            <a:noAutofit/>
          </a:bodyPr>
          <a:p>
            <a:pPr algn="ctr">
              <a:buNone/>
            </a:pPr>
            <a:r>
              <a:rPr b="1" lang="en-US" sz="1300" spc="-1" strike="noStrike">
                <a:solidFill>
                  <a:srgbClr val="f28c28"/>
                </a:solidFill>
                <a:latin typeface="Lato"/>
              </a:rPr>
              <a:t>AGV-HEAVY</a:t>
            </a:r>
            <a:endParaRPr b="1" lang="en-US" sz="1300" spc="-1" strike="noStrike">
              <a:solidFill>
                <a:srgbClr val="f28c28"/>
              </a:solidFill>
              <a:latin typeface="Lato"/>
            </a:endParaRPr>
          </a:p>
        </p:txBody>
      </p:sp>
      <p:sp>
        <p:nvSpPr>
          <p:cNvPr id="163" name=""/>
          <p:cNvSpPr txBox="1"/>
          <p:nvPr/>
        </p:nvSpPr>
        <p:spPr>
          <a:xfrm>
            <a:off x="8640000" y="1044000"/>
            <a:ext cx="2376000" cy="251280"/>
          </a:xfrm>
          <a:prstGeom prst="rect">
            <a:avLst/>
          </a:prstGeom>
          <a:noFill/>
          <a:ln w="0">
            <a:noFill/>
          </a:ln>
        </p:spPr>
        <p:txBody>
          <a:bodyPr lIns="43200" rIns="43200" tIns="43200" bIns="43200" anchor="t">
            <a:noAutofit/>
          </a:bodyPr>
          <a:p>
            <a:pPr algn="ctr">
              <a:buNone/>
            </a:pPr>
            <a:r>
              <a:rPr b="1" lang="en-US" sz="1300" spc="-1" strike="noStrike">
                <a:solidFill>
                  <a:srgbClr val="1f8a70"/>
                </a:solidFill>
                <a:latin typeface="Lato"/>
              </a:rPr>
              <a:t>PICKER-HEAVY</a:t>
            </a:r>
            <a:endParaRPr b="1" lang="en-US" sz="1300" spc="-1" strike="noStrike">
              <a:solidFill>
                <a:srgbClr val="1f8a70"/>
              </a:solidFill>
              <a:latin typeface="Lato"/>
            </a:endParaRPr>
          </a:p>
        </p:txBody>
      </p:sp>
      <p:sp>
        <p:nvSpPr>
          <p:cNvPr id="164" name=""/>
          <p:cNvSpPr/>
          <p:nvPr/>
        </p:nvSpPr>
        <p:spPr>
          <a:xfrm>
            <a:off x="648000" y="1440000"/>
            <a:ext cx="2160000" cy="1080000"/>
          </a:xfrm>
          <a:prstGeom prst="roundRect">
            <a:avLst/>
          </a:prstGeom>
          <a:solidFill>
            <a:srgbClr val="102b3f"/>
          </a:solidFill>
          <a:ln w="12600">
            <a:solidFill>
              <a:srgbClr val="102b3f"/>
            </a:solidFill>
            <a:round/>
          </a:ln>
        </p:spPr>
        <p:txBody>
          <a:bodyPr lIns="64800" rIns="64800" tIns="43200" bIns="43200" anchor="b" anchorCtr="1">
            <a:noAutofit/>
          </a:bodyPr>
          <a:p>
            <a:pPr algn="ctr">
              <a:buNone/>
            </a:pPr>
            <a:r>
              <a:rPr b="1" lang="en-US" sz="2200" spc="-1" strike="noStrike">
                <a:solidFill>
                  <a:srgbClr val="ffffff"/>
                </a:solidFill>
                <a:latin typeface="Lato"/>
              </a:rPr>
              <a:t>TINY</a:t>
            </a:r>
            <a:endParaRPr b="1" lang="en-US" sz="2200" spc="-1" strike="noStrike">
              <a:solidFill>
                <a:srgbClr val="ffffff"/>
              </a:solidFill>
              <a:latin typeface="Lato"/>
            </a:endParaRPr>
          </a:p>
        </p:txBody>
      </p:sp>
      <p:sp>
        <p:nvSpPr>
          <p:cNvPr id="165" name=""/>
          <p:cNvSpPr/>
          <p:nvPr/>
        </p:nvSpPr>
        <p:spPr>
          <a:xfrm>
            <a:off x="3060000" y="1440000"/>
            <a:ext cx="2484000" cy="1080000"/>
          </a:xfrm>
          <a:prstGeom prst="roundRect">
            <a:avLst/>
          </a:prstGeom>
          <a:solidFill>
            <a:srgbClr val="ffffff"/>
          </a:solidFill>
          <a:ln w="12600">
            <a:solidFill>
              <a:srgbClr val="3e78b2"/>
            </a:solidFill>
            <a:round/>
          </a:ln>
        </p:spPr>
        <p:txBody>
          <a:bodyPr lIns="64800" rIns="64800" tIns="43200" bIns="43200" anchor="b" anchorCtr="1">
            <a:noAutofit/>
          </a:bodyPr>
          <a:p>
            <a:pPr algn="ctr">
              <a:buNone/>
            </a:pPr>
            <a:r>
              <a:rPr b="1" lang="en-US" sz="1700" spc="-1" strike="noStrike">
                <a:solidFill>
                  <a:srgbClr val="23313b"/>
                </a:solidFill>
                <a:latin typeface="Lato"/>
              </a:rPr>
              <a:t>1 AGV + 1 Picker</a:t>
            </a:r>
            <a:endParaRPr b="1" lang="en-US" sz="1700" spc="-1" strike="noStrike">
              <a:solidFill>
                <a:srgbClr val="23313b"/>
              </a:solidFill>
              <a:latin typeface="Lato"/>
            </a:endParaRPr>
          </a:p>
          <a:p>
            <a:pPr algn="ctr">
              <a:buNone/>
            </a:pPr>
            <a:r>
              <a:rPr b="1" lang="en-US" sz="1700" spc="-1" strike="noStrike">
                <a:solidFill>
                  <a:srgbClr val="23313b"/>
                </a:solidFill>
                <a:latin typeface="Lato"/>
              </a:rPr>
              <a:t>Minimal collaboration loop</a:t>
            </a:r>
            <a:endParaRPr b="1" lang="en-US" sz="1700" spc="-1" strike="noStrike">
              <a:solidFill>
                <a:srgbClr val="23313b"/>
              </a:solidFill>
              <a:latin typeface="Lato"/>
            </a:endParaRPr>
          </a:p>
        </p:txBody>
      </p:sp>
      <p:sp>
        <p:nvSpPr>
          <p:cNvPr id="166" name=""/>
          <p:cNvSpPr/>
          <p:nvPr/>
        </p:nvSpPr>
        <p:spPr>
          <a:xfrm>
            <a:off x="5796000" y="1440000"/>
            <a:ext cx="2484000" cy="1080000"/>
          </a:xfrm>
          <a:prstGeom prst="roundRect">
            <a:avLst/>
          </a:prstGeom>
          <a:solidFill>
            <a:srgbClr val="f7f9fa"/>
          </a:solidFill>
          <a:ln w="12600">
            <a:solidFill>
              <a:srgbClr val="d8e0e5"/>
            </a:solidFill>
            <a:round/>
          </a:ln>
        </p:spPr>
        <p:txBody>
          <a:bodyPr lIns="64800" rIns="64800" tIns="43200" bIns="43200" anchor="b" anchorCtr="1">
            <a:noAutofit/>
          </a:bodyPr>
          <a:p>
            <a:pPr algn="ctr">
              <a:buNone/>
            </a:pPr>
            <a:r>
              <a:rPr b="0" lang="en-US" sz="1700" spc="-1" strike="noStrike">
                <a:solidFill>
                  <a:srgbClr val="5d6b75"/>
                </a:solidFill>
                <a:latin typeface="Lato"/>
              </a:rPr>
              <a:t>—</a:t>
            </a:r>
            <a:endParaRPr b="0" lang="en-US" sz="1700" spc="-1" strike="noStrike">
              <a:solidFill>
                <a:srgbClr val="5d6b75"/>
              </a:solidFill>
              <a:latin typeface="Lato"/>
            </a:endParaRPr>
          </a:p>
        </p:txBody>
      </p:sp>
      <p:sp>
        <p:nvSpPr>
          <p:cNvPr id="167" name=""/>
          <p:cNvSpPr/>
          <p:nvPr/>
        </p:nvSpPr>
        <p:spPr>
          <a:xfrm>
            <a:off x="8532000" y="1440000"/>
            <a:ext cx="2484000" cy="1080000"/>
          </a:xfrm>
          <a:prstGeom prst="roundRect">
            <a:avLst/>
          </a:prstGeom>
          <a:solidFill>
            <a:srgbClr val="f7f9fa"/>
          </a:solidFill>
          <a:ln w="12600">
            <a:solidFill>
              <a:srgbClr val="d8e0e5"/>
            </a:solidFill>
            <a:round/>
          </a:ln>
        </p:spPr>
        <p:txBody>
          <a:bodyPr lIns="64800" rIns="64800" tIns="43200" bIns="43200" anchor="b" anchorCtr="1">
            <a:noAutofit/>
          </a:bodyPr>
          <a:p>
            <a:pPr algn="ctr">
              <a:buNone/>
            </a:pPr>
            <a:r>
              <a:rPr b="0" lang="en-US" sz="1700" spc="-1" strike="noStrike">
                <a:solidFill>
                  <a:srgbClr val="5d6b75"/>
                </a:solidFill>
                <a:latin typeface="Lato"/>
              </a:rPr>
              <a:t>—</a:t>
            </a:r>
            <a:endParaRPr b="0" lang="en-US" sz="1700" spc="-1" strike="noStrike">
              <a:solidFill>
                <a:srgbClr val="5d6b75"/>
              </a:solidFill>
              <a:latin typeface="Lato"/>
            </a:endParaRPr>
          </a:p>
        </p:txBody>
      </p:sp>
      <p:sp>
        <p:nvSpPr>
          <p:cNvPr id="168" name=""/>
          <p:cNvSpPr/>
          <p:nvPr/>
        </p:nvSpPr>
        <p:spPr>
          <a:xfrm>
            <a:off x="648000" y="2808000"/>
            <a:ext cx="2160000" cy="1080000"/>
          </a:xfrm>
          <a:prstGeom prst="roundRect">
            <a:avLst/>
          </a:prstGeom>
          <a:solidFill>
            <a:srgbClr val="102b3f"/>
          </a:solidFill>
          <a:ln w="12600">
            <a:solidFill>
              <a:srgbClr val="102b3f"/>
            </a:solidFill>
            <a:round/>
          </a:ln>
        </p:spPr>
        <p:txBody>
          <a:bodyPr lIns="64800" rIns="64800" tIns="43200" bIns="43200" anchor="b" anchorCtr="1">
            <a:noAutofit/>
          </a:bodyPr>
          <a:p>
            <a:pPr algn="ctr">
              <a:buNone/>
            </a:pPr>
            <a:r>
              <a:rPr b="1" lang="en-US" sz="2200" spc="-1" strike="noStrike">
                <a:solidFill>
                  <a:srgbClr val="ffffff"/>
                </a:solidFill>
                <a:latin typeface="Lato"/>
              </a:rPr>
              <a:t>SMALL</a:t>
            </a:r>
            <a:endParaRPr b="1" lang="en-US" sz="2200" spc="-1" strike="noStrike">
              <a:solidFill>
                <a:srgbClr val="ffffff"/>
              </a:solidFill>
              <a:latin typeface="Lato"/>
            </a:endParaRPr>
          </a:p>
        </p:txBody>
      </p:sp>
      <p:sp>
        <p:nvSpPr>
          <p:cNvPr id="169" name=""/>
          <p:cNvSpPr/>
          <p:nvPr/>
        </p:nvSpPr>
        <p:spPr>
          <a:xfrm>
            <a:off x="3060000" y="2808000"/>
            <a:ext cx="2484000" cy="1080000"/>
          </a:xfrm>
          <a:prstGeom prst="roundRect">
            <a:avLst/>
          </a:prstGeom>
          <a:solidFill>
            <a:srgbClr val="ffffff"/>
          </a:solidFill>
          <a:ln w="12600">
            <a:solidFill>
              <a:srgbClr val="3e78b2"/>
            </a:solidFill>
            <a:round/>
          </a:ln>
        </p:spPr>
        <p:txBody>
          <a:bodyPr lIns="64800" rIns="64800" tIns="43200" bIns="43200" anchor="b" anchorCtr="1">
            <a:noAutofit/>
          </a:bodyPr>
          <a:p>
            <a:pPr algn="ctr">
              <a:buNone/>
            </a:pPr>
            <a:r>
              <a:rPr b="1" lang="en-US" sz="1700" spc="-1" strike="noStrike">
                <a:solidFill>
                  <a:srgbClr val="23313b"/>
                </a:solidFill>
                <a:latin typeface="Lato"/>
              </a:rPr>
              <a:t>2 AGVs + 2 Pickers</a:t>
            </a:r>
            <a:endParaRPr b="1" lang="en-US" sz="1700" spc="-1" strike="noStrike">
              <a:solidFill>
                <a:srgbClr val="23313b"/>
              </a:solidFill>
              <a:latin typeface="Lato"/>
            </a:endParaRPr>
          </a:p>
          <a:p>
            <a:pPr algn="ctr">
              <a:buNone/>
            </a:pPr>
            <a:r>
              <a:rPr b="1" lang="en-US" sz="1700" spc="-1" strike="noStrike">
                <a:solidFill>
                  <a:srgbClr val="23313b"/>
                </a:solidFill>
                <a:latin typeface="Lato"/>
              </a:rPr>
              <a:t>More concurrency</a:t>
            </a:r>
            <a:endParaRPr b="1" lang="en-US" sz="1700" spc="-1" strike="noStrike">
              <a:solidFill>
                <a:srgbClr val="23313b"/>
              </a:solidFill>
              <a:latin typeface="Lato"/>
            </a:endParaRPr>
          </a:p>
        </p:txBody>
      </p:sp>
      <p:sp>
        <p:nvSpPr>
          <p:cNvPr id="170" name=""/>
          <p:cNvSpPr/>
          <p:nvPr/>
        </p:nvSpPr>
        <p:spPr>
          <a:xfrm>
            <a:off x="5796000" y="2808000"/>
            <a:ext cx="2484000" cy="1080000"/>
          </a:xfrm>
          <a:prstGeom prst="roundRect">
            <a:avLst/>
          </a:prstGeom>
          <a:solidFill>
            <a:srgbClr val="ffffff"/>
          </a:solidFill>
          <a:ln w="12600">
            <a:solidFill>
              <a:srgbClr val="f28c28"/>
            </a:solidFill>
            <a:round/>
          </a:ln>
        </p:spPr>
        <p:txBody>
          <a:bodyPr lIns="64800" rIns="64800" tIns="43200" bIns="43200" anchor="b" anchorCtr="1">
            <a:noAutofit/>
          </a:bodyPr>
          <a:p>
            <a:pPr algn="ctr">
              <a:buNone/>
            </a:pPr>
            <a:r>
              <a:rPr b="1" lang="en-US" sz="1700" spc="-1" strike="noStrike">
                <a:solidFill>
                  <a:srgbClr val="23313b"/>
                </a:solidFill>
                <a:latin typeface="Lato"/>
              </a:rPr>
              <a:t>4 AGVs + 2 Pickers</a:t>
            </a:r>
            <a:endParaRPr b="1" lang="en-US" sz="1700" spc="-1" strike="noStrike">
              <a:solidFill>
                <a:srgbClr val="23313b"/>
              </a:solidFill>
              <a:latin typeface="Lato"/>
            </a:endParaRPr>
          </a:p>
          <a:p>
            <a:pPr algn="ctr">
              <a:buNone/>
            </a:pPr>
            <a:r>
              <a:rPr b="1" lang="en-US" sz="1700" spc="-1" strike="noStrike">
                <a:solidFill>
                  <a:srgbClr val="23313b"/>
                </a:solidFill>
                <a:latin typeface="Lato"/>
              </a:rPr>
              <a:t>Support bottleneck</a:t>
            </a:r>
            <a:endParaRPr b="1" lang="en-US" sz="1700" spc="-1" strike="noStrike">
              <a:solidFill>
                <a:srgbClr val="23313b"/>
              </a:solidFill>
              <a:latin typeface="Lato"/>
            </a:endParaRPr>
          </a:p>
        </p:txBody>
      </p:sp>
      <p:sp>
        <p:nvSpPr>
          <p:cNvPr id="171" name=""/>
          <p:cNvSpPr/>
          <p:nvPr/>
        </p:nvSpPr>
        <p:spPr>
          <a:xfrm>
            <a:off x="8532000" y="2808000"/>
            <a:ext cx="2484000" cy="1080000"/>
          </a:xfrm>
          <a:prstGeom prst="roundRect">
            <a:avLst/>
          </a:prstGeom>
          <a:solidFill>
            <a:srgbClr val="ffffff"/>
          </a:solidFill>
          <a:ln w="12600">
            <a:solidFill>
              <a:srgbClr val="1f8a70"/>
            </a:solidFill>
            <a:round/>
          </a:ln>
        </p:spPr>
        <p:txBody>
          <a:bodyPr lIns="64800" rIns="64800" tIns="43200" bIns="43200" anchor="b" anchorCtr="1">
            <a:noAutofit/>
          </a:bodyPr>
          <a:p>
            <a:pPr algn="ctr">
              <a:buNone/>
            </a:pPr>
            <a:r>
              <a:rPr b="1" lang="en-US" sz="1700" spc="-1" strike="noStrike">
                <a:solidFill>
                  <a:srgbClr val="23313b"/>
                </a:solidFill>
                <a:latin typeface="Lato"/>
              </a:rPr>
              <a:t>2 AGVs + 4 Pickers</a:t>
            </a:r>
            <a:endParaRPr b="1" lang="en-US" sz="1700" spc="-1" strike="noStrike">
              <a:solidFill>
                <a:srgbClr val="23313b"/>
              </a:solidFill>
              <a:latin typeface="Lato"/>
            </a:endParaRPr>
          </a:p>
          <a:p>
            <a:pPr algn="ctr">
              <a:buNone/>
            </a:pPr>
            <a:r>
              <a:rPr b="1" lang="en-US" sz="1700" spc="-1" strike="noStrike">
                <a:solidFill>
                  <a:srgbClr val="23313b"/>
                </a:solidFill>
                <a:latin typeface="Lato"/>
              </a:rPr>
              <a:t>Surplus support</a:t>
            </a:r>
            <a:endParaRPr b="1" lang="en-US" sz="1700" spc="-1" strike="noStrike">
              <a:solidFill>
                <a:srgbClr val="23313b"/>
              </a:solidFill>
              <a:latin typeface="Lato"/>
            </a:endParaRPr>
          </a:p>
        </p:txBody>
      </p:sp>
      <p:sp>
        <p:nvSpPr>
          <p:cNvPr id="172" name=""/>
          <p:cNvSpPr/>
          <p:nvPr/>
        </p:nvSpPr>
        <p:spPr>
          <a:xfrm>
            <a:off x="648000" y="4176000"/>
            <a:ext cx="2160000" cy="1080000"/>
          </a:xfrm>
          <a:prstGeom prst="roundRect">
            <a:avLst/>
          </a:prstGeom>
          <a:solidFill>
            <a:srgbClr val="102b3f"/>
          </a:solidFill>
          <a:ln w="12600">
            <a:solidFill>
              <a:srgbClr val="102b3f"/>
            </a:solidFill>
            <a:round/>
          </a:ln>
        </p:spPr>
        <p:txBody>
          <a:bodyPr lIns="64800" rIns="64800" tIns="43200" bIns="43200" anchor="b" anchorCtr="1">
            <a:noAutofit/>
          </a:bodyPr>
          <a:p>
            <a:pPr algn="ctr">
              <a:buNone/>
            </a:pPr>
            <a:r>
              <a:rPr b="1" lang="en-US" sz="2200" spc="-1" strike="noStrike">
                <a:solidFill>
                  <a:srgbClr val="ffffff"/>
                </a:solidFill>
                <a:latin typeface="Lato"/>
              </a:rPr>
              <a:t>MEDIUM</a:t>
            </a:r>
            <a:endParaRPr b="1" lang="en-US" sz="2200" spc="-1" strike="noStrike">
              <a:solidFill>
                <a:srgbClr val="ffffff"/>
              </a:solidFill>
              <a:latin typeface="Lato"/>
            </a:endParaRPr>
          </a:p>
        </p:txBody>
      </p:sp>
      <p:sp>
        <p:nvSpPr>
          <p:cNvPr id="173" name=""/>
          <p:cNvSpPr/>
          <p:nvPr/>
        </p:nvSpPr>
        <p:spPr>
          <a:xfrm>
            <a:off x="3060000" y="4176000"/>
            <a:ext cx="2484000" cy="1080000"/>
          </a:xfrm>
          <a:prstGeom prst="roundRect">
            <a:avLst/>
          </a:prstGeom>
          <a:solidFill>
            <a:srgbClr val="ffffff"/>
          </a:solidFill>
          <a:ln w="12600">
            <a:solidFill>
              <a:srgbClr val="3e78b2"/>
            </a:solidFill>
            <a:round/>
          </a:ln>
        </p:spPr>
        <p:txBody>
          <a:bodyPr lIns="64800" rIns="64800" tIns="43200" bIns="43200" anchor="b" anchorCtr="1">
            <a:noAutofit/>
          </a:bodyPr>
          <a:p>
            <a:pPr algn="ctr">
              <a:buNone/>
            </a:pPr>
            <a:r>
              <a:rPr b="1" lang="en-US" sz="1700" spc="-1" strike="noStrike">
                <a:solidFill>
                  <a:srgbClr val="23313b"/>
                </a:solidFill>
                <a:latin typeface="Lato"/>
              </a:rPr>
              <a:t>4 AGVs + 4 Pickers</a:t>
            </a:r>
            <a:endParaRPr b="1" lang="en-US" sz="1700" spc="-1" strike="noStrike">
              <a:solidFill>
                <a:srgbClr val="23313b"/>
              </a:solidFill>
              <a:latin typeface="Lato"/>
            </a:endParaRPr>
          </a:p>
          <a:p>
            <a:pPr algn="ctr">
              <a:buNone/>
            </a:pPr>
            <a:r>
              <a:rPr b="1" lang="en-US" sz="1700" spc="-1" strike="noStrike">
                <a:solidFill>
                  <a:srgbClr val="23313b"/>
                </a:solidFill>
                <a:latin typeface="Lato"/>
              </a:rPr>
              <a:t>Longer paths + more decisions</a:t>
            </a:r>
            <a:endParaRPr b="1" lang="en-US" sz="1700" spc="-1" strike="noStrike">
              <a:solidFill>
                <a:srgbClr val="23313b"/>
              </a:solidFill>
              <a:latin typeface="Lato"/>
            </a:endParaRPr>
          </a:p>
        </p:txBody>
      </p:sp>
      <p:sp>
        <p:nvSpPr>
          <p:cNvPr id="174" name=""/>
          <p:cNvSpPr/>
          <p:nvPr/>
        </p:nvSpPr>
        <p:spPr>
          <a:xfrm>
            <a:off x="5796000" y="4176000"/>
            <a:ext cx="2484000" cy="1080000"/>
          </a:xfrm>
          <a:prstGeom prst="roundRect">
            <a:avLst/>
          </a:prstGeom>
          <a:solidFill>
            <a:srgbClr val="ffffff"/>
          </a:solidFill>
          <a:ln w="12600">
            <a:solidFill>
              <a:srgbClr val="f28c28"/>
            </a:solidFill>
            <a:round/>
          </a:ln>
        </p:spPr>
        <p:txBody>
          <a:bodyPr lIns="64800" rIns="64800" tIns="43200" bIns="43200" anchor="b" anchorCtr="1">
            <a:noAutofit/>
          </a:bodyPr>
          <a:p>
            <a:pPr algn="ctr">
              <a:buNone/>
            </a:pPr>
            <a:r>
              <a:rPr b="1" lang="en-US" sz="1700" spc="-1" strike="noStrike">
                <a:solidFill>
                  <a:srgbClr val="23313b"/>
                </a:solidFill>
                <a:latin typeface="Lato"/>
              </a:rPr>
              <a:t>6 AGVs + 2 Pickers</a:t>
            </a:r>
            <a:endParaRPr b="1" lang="en-US" sz="1700" spc="-1" strike="noStrike">
              <a:solidFill>
                <a:srgbClr val="23313b"/>
              </a:solidFill>
              <a:latin typeface="Lato"/>
            </a:endParaRPr>
          </a:p>
          <a:p>
            <a:pPr algn="ctr">
              <a:buNone/>
            </a:pPr>
            <a:r>
              <a:rPr b="1" lang="en-US" sz="1700" spc="-1" strike="noStrike">
                <a:solidFill>
                  <a:srgbClr val="23313b"/>
                </a:solidFill>
                <a:latin typeface="Lato"/>
              </a:rPr>
              <a:t>Strong bottleneck</a:t>
            </a:r>
            <a:endParaRPr b="1" lang="en-US" sz="1700" spc="-1" strike="noStrike">
              <a:solidFill>
                <a:srgbClr val="23313b"/>
              </a:solidFill>
              <a:latin typeface="Lato"/>
            </a:endParaRPr>
          </a:p>
        </p:txBody>
      </p:sp>
      <p:sp>
        <p:nvSpPr>
          <p:cNvPr id="175" name=""/>
          <p:cNvSpPr/>
          <p:nvPr/>
        </p:nvSpPr>
        <p:spPr>
          <a:xfrm>
            <a:off x="8532000" y="4176000"/>
            <a:ext cx="2484000" cy="1080000"/>
          </a:xfrm>
          <a:prstGeom prst="roundRect">
            <a:avLst/>
          </a:prstGeom>
          <a:solidFill>
            <a:srgbClr val="f7f9fa"/>
          </a:solidFill>
          <a:ln w="12600">
            <a:solidFill>
              <a:srgbClr val="d8e0e5"/>
            </a:solidFill>
            <a:round/>
          </a:ln>
        </p:spPr>
        <p:txBody>
          <a:bodyPr lIns="64800" rIns="64800" tIns="43200" bIns="43200" anchor="b" anchorCtr="1">
            <a:noAutofit/>
          </a:bodyPr>
          <a:p>
            <a:pPr algn="ctr">
              <a:buNone/>
            </a:pPr>
            <a:r>
              <a:rPr b="0" lang="en-US" sz="1700" spc="-1" strike="noStrike">
                <a:solidFill>
                  <a:srgbClr val="5d6b75"/>
                </a:solidFill>
                <a:latin typeface="Lato"/>
              </a:rPr>
              <a:t>—</a:t>
            </a:r>
            <a:endParaRPr b="0" lang="en-US" sz="1700" spc="-1" strike="noStrike">
              <a:solidFill>
                <a:srgbClr val="5d6b75"/>
              </a:solidFill>
              <a:latin typeface="Lato"/>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6" name=""/>
          <p:cNvSpPr txBox="1"/>
          <p:nvPr/>
        </p:nvSpPr>
        <p:spPr>
          <a:xfrm>
            <a:off x="540000" y="252000"/>
            <a:ext cx="10800000" cy="464400"/>
          </a:xfrm>
          <a:prstGeom prst="rect">
            <a:avLst/>
          </a:prstGeom>
          <a:noFill/>
          <a:ln w="0">
            <a:noFill/>
          </a:ln>
        </p:spPr>
        <p:txBody>
          <a:bodyPr lIns="43200" rIns="43200" tIns="43200" bIns="43200" anchor="t">
            <a:noAutofit/>
          </a:bodyPr>
          <a:p>
            <a:r>
              <a:rPr b="1" lang="en-US" sz="2900" spc="-1" strike="noStrike">
                <a:solidFill>
                  <a:srgbClr val="102b3f"/>
                </a:solidFill>
                <a:latin typeface="Lato"/>
              </a:rPr>
              <a:t>What the LLM controls</a:t>
            </a:r>
            <a:endParaRPr b="1" lang="en-US" sz="2900" spc="-1" strike="noStrike">
              <a:solidFill>
                <a:srgbClr val="102b3f"/>
              </a:solidFill>
              <a:latin typeface="Lato"/>
            </a:endParaRPr>
          </a:p>
        </p:txBody>
      </p:sp>
      <p:sp>
        <p:nvSpPr>
          <p:cNvPr id="177" name=""/>
          <p:cNvSpPr/>
          <p:nvPr/>
        </p:nvSpPr>
        <p:spPr>
          <a:xfrm>
            <a:off x="540000" y="6354000"/>
            <a:ext cx="11088000" cy="7200"/>
          </a:xfrm>
          <a:prstGeom prst="rect">
            <a:avLst/>
          </a:prstGeom>
          <a:solidFill>
            <a:srgbClr val="1f7188"/>
          </a:solidFill>
          <a:ln w="0">
            <a:noFill/>
          </a:ln>
        </p:spPr>
      </p:sp>
      <p:sp>
        <p:nvSpPr>
          <p:cNvPr id="178" name=""/>
          <p:cNvSpPr txBox="1"/>
          <p:nvPr/>
        </p:nvSpPr>
        <p:spPr>
          <a:xfrm>
            <a:off x="540000" y="6415200"/>
            <a:ext cx="7200000" cy="201240"/>
          </a:xfrm>
          <a:prstGeom prst="rect">
            <a:avLst/>
          </a:prstGeom>
          <a:noFill/>
          <a:ln w="0">
            <a:noFill/>
          </a:ln>
        </p:spPr>
        <p:txBody>
          <a:bodyPr lIns="43200" rIns="43200" tIns="43200" bIns="43200" anchor="t">
            <a:noAutofit/>
          </a:bodyPr>
          <a:p>
            <a:r>
              <a:rPr b="0" lang="en-US" sz="900" spc="-1" strike="noStrike">
                <a:solidFill>
                  <a:srgbClr val="5d6b75"/>
                </a:solidFill>
                <a:latin typeface="Lato"/>
              </a:rPr>
              <a:t>Master’s thesis · Uppsala University</a:t>
            </a:r>
            <a:endParaRPr b="0" lang="en-US" sz="900" spc="-1" strike="noStrike">
              <a:solidFill>
                <a:srgbClr val="5d6b75"/>
              </a:solidFill>
              <a:latin typeface="Lato"/>
            </a:endParaRPr>
          </a:p>
        </p:txBody>
      </p:sp>
      <p:sp>
        <p:nvSpPr>
          <p:cNvPr id="179" name=""/>
          <p:cNvSpPr txBox="1"/>
          <p:nvPr/>
        </p:nvSpPr>
        <p:spPr>
          <a:xfrm>
            <a:off x="9612000" y="6415200"/>
            <a:ext cx="2016000" cy="189000"/>
          </a:xfrm>
          <a:prstGeom prst="rect">
            <a:avLst/>
          </a:prstGeom>
          <a:noFill/>
          <a:ln w="0">
            <a:noFill/>
          </a:ln>
        </p:spPr>
        <p:txBody>
          <a:bodyPr lIns="43200" rIns="43200" tIns="43200" bIns="43200" anchor="t">
            <a:noAutofit/>
          </a:bodyPr>
          <a:p>
            <a:pPr algn="r">
              <a:buNone/>
            </a:pPr>
            <a:r>
              <a:rPr b="1" lang="en-US" sz="800" spc="-1" strike="noStrike">
                <a:solidFill>
                  <a:srgbClr val="1f7188"/>
                </a:solidFill>
                <a:latin typeface="Lato"/>
              </a:rPr>
              <a:t>IMPLEMENTATION</a:t>
            </a:r>
            <a:endParaRPr b="1" lang="en-US" sz="800" spc="-1" strike="noStrike">
              <a:solidFill>
                <a:srgbClr val="1f7188"/>
              </a:solidFill>
              <a:latin typeface="Lato"/>
            </a:endParaRPr>
          </a:p>
        </p:txBody>
      </p:sp>
      <p:sp>
        <p:nvSpPr>
          <p:cNvPr id="180" name=""/>
          <p:cNvSpPr/>
          <p:nvPr/>
        </p:nvSpPr>
        <p:spPr>
          <a:xfrm>
            <a:off x="648000" y="1512000"/>
            <a:ext cx="4500000" cy="2952000"/>
          </a:xfrm>
          <a:prstGeom prst="roundRect">
            <a:avLst/>
          </a:prstGeom>
          <a:solidFill>
            <a:srgbClr val="eaf2f5"/>
          </a:solidFill>
          <a:ln w="12600">
            <a:solidFill>
              <a:srgbClr val="1f7188"/>
            </a:solidFill>
            <a:round/>
          </a:ln>
        </p:spPr>
      </p:sp>
      <p:sp>
        <p:nvSpPr>
          <p:cNvPr id="181" name=""/>
          <p:cNvSpPr txBox="1"/>
          <p:nvPr/>
        </p:nvSpPr>
        <p:spPr>
          <a:xfrm>
            <a:off x="936000" y="1800000"/>
            <a:ext cx="3924000" cy="264960"/>
          </a:xfrm>
          <a:prstGeom prst="rect">
            <a:avLst/>
          </a:prstGeom>
          <a:noFill/>
          <a:ln w="0">
            <a:noFill/>
          </a:ln>
        </p:spPr>
        <p:txBody>
          <a:bodyPr lIns="43200" rIns="43200" tIns="43200" bIns="43200" anchor="t">
            <a:noAutofit/>
          </a:bodyPr>
          <a:p>
            <a:pPr algn="ctr">
              <a:buNone/>
            </a:pPr>
            <a:r>
              <a:rPr b="1" lang="en-US" sz="1400" spc="-1" strike="noStrike">
                <a:solidFill>
                  <a:srgbClr val="1f7188"/>
                </a:solidFill>
                <a:latin typeface="Lato"/>
              </a:rPr>
              <a:t>LANGUAGE MODEL</a:t>
            </a:r>
            <a:endParaRPr b="1" lang="en-US" sz="1400" spc="-1" strike="noStrike">
              <a:solidFill>
                <a:srgbClr val="1f7188"/>
              </a:solidFill>
              <a:latin typeface="Lato"/>
            </a:endParaRPr>
          </a:p>
        </p:txBody>
      </p:sp>
      <p:sp>
        <p:nvSpPr>
          <p:cNvPr id="182" name=""/>
          <p:cNvSpPr txBox="1"/>
          <p:nvPr/>
        </p:nvSpPr>
        <p:spPr>
          <a:xfrm>
            <a:off x="936000" y="2268000"/>
            <a:ext cx="3924000" cy="721080"/>
          </a:xfrm>
          <a:prstGeom prst="rect">
            <a:avLst/>
          </a:prstGeom>
          <a:noFill/>
          <a:ln w="0">
            <a:noFill/>
          </a:ln>
        </p:spPr>
        <p:txBody>
          <a:bodyPr lIns="43200" rIns="43200" tIns="43200" bIns="43200" anchor="t">
            <a:noAutofit/>
          </a:bodyPr>
          <a:p>
            <a:pPr algn="ctr">
              <a:buNone/>
            </a:pPr>
            <a:r>
              <a:rPr b="1" lang="en-US" sz="2500" spc="-1" strike="noStrike">
                <a:solidFill>
                  <a:srgbClr val="102b3f"/>
                </a:solidFill>
                <a:latin typeface="Lato"/>
              </a:rPr>
              <a:t>WHAT should this agent pursue?</a:t>
            </a:r>
            <a:endParaRPr b="1" lang="en-US" sz="2500" spc="-1" strike="noStrike">
              <a:solidFill>
                <a:srgbClr val="102b3f"/>
              </a:solidFill>
              <a:latin typeface="Lato"/>
            </a:endParaRPr>
          </a:p>
        </p:txBody>
      </p:sp>
      <p:sp>
        <p:nvSpPr>
          <p:cNvPr id="183" name=""/>
          <p:cNvSpPr txBox="1"/>
          <p:nvPr/>
        </p:nvSpPr>
        <p:spPr>
          <a:xfrm>
            <a:off x="1152000" y="3060000"/>
            <a:ext cx="3528000" cy="860400"/>
          </a:xfrm>
          <a:prstGeom prst="rect">
            <a:avLst/>
          </a:prstGeom>
          <a:noFill/>
          <a:ln w="0">
            <a:noFill/>
          </a:ln>
        </p:spPr>
        <p:txBody>
          <a:bodyPr lIns="43200" rIns="43200" tIns="43200" bIns="43200" anchor="t">
            <a:noAutofit/>
          </a:bodyPr>
          <a:p>
            <a:pPr algn="ctr">
              <a:buNone/>
            </a:pPr>
            <a:r>
              <a:rPr b="0" lang="en-US" sz="2000" spc="-1" strike="noStrike">
                <a:solidFill>
                  <a:srgbClr val="23313b"/>
                </a:solidFill>
                <a:latin typeface="Lato"/>
              </a:rPr>
              <a:t>Shelf · Goal · Empty return</a:t>
            </a:r>
            <a:endParaRPr b="0" lang="en-US" sz="2000" spc="-1" strike="noStrike">
              <a:solidFill>
                <a:srgbClr val="23313b"/>
              </a:solidFill>
              <a:latin typeface="Lato"/>
            </a:endParaRPr>
          </a:p>
          <a:p>
            <a:pPr algn="ctr">
              <a:buNone/>
            </a:pPr>
            <a:r>
              <a:rPr b="0" lang="en-US" sz="2000" spc="-1" strike="noStrike">
                <a:solidFill>
                  <a:srgbClr val="23313b"/>
                </a:solidFill>
                <a:latin typeface="Lato"/>
              </a:rPr>
              <a:t>Charging · No-op</a:t>
            </a:r>
            <a:endParaRPr b="0" lang="en-US" sz="2000" spc="-1" strike="noStrike">
              <a:solidFill>
                <a:srgbClr val="23313b"/>
              </a:solidFill>
              <a:latin typeface="Lato"/>
            </a:endParaRPr>
          </a:p>
        </p:txBody>
      </p:sp>
      <p:sp>
        <p:nvSpPr>
          <p:cNvPr id="184" name=""/>
          <p:cNvSpPr/>
          <p:nvPr/>
        </p:nvSpPr>
        <p:spPr>
          <a:xfrm>
            <a:off x="5220000" y="2988000"/>
            <a:ext cx="1404000" cy="0"/>
          </a:xfrm>
          <a:prstGeom prst="line">
            <a:avLst/>
          </a:prstGeom>
          <a:ln w="36000">
            <a:solidFill>
              <a:srgbClr val="f28c28"/>
            </a:solidFill>
            <a:round/>
          </a:ln>
        </p:spPr>
        <p:style>
          <a:lnRef idx="0"/>
          <a:fillRef idx="0"/>
          <a:effectRef idx="0"/>
          <a:fontRef idx="minor"/>
        </p:style>
      </p:sp>
      <p:sp>
        <p:nvSpPr>
          <p:cNvPr id="185" name=""/>
          <p:cNvSpPr/>
          <p:nvPr/>
        </p:nvSpPr>
        <p:spPr>
          <a:xfrm>
            <a:off x="6768000" y="1512000"/>
            <a:ext cx="4500000" cy="2952000"/>
          </a:xfrm>
          <a:prstGeom prst="roundRect">
            <a:avLst/>
          </a:prstGeom>
          <a:solidFill>
            <a:srgbClr val="f7f9fa"/>
          </a:solidFill>
          <a:ln w="12600">
            <a:solidFill>
              <a:srgbClr val="3e78b2"/>
            </a:solidFill>
            <a:round/>
          </a:ln>
        </p:spPr>
      </p:sp>
      <p:sp>
        <p:nvSpPr>
          <p:cNvPr id="186" name=""/>
          <p:cNvSpPr txBox="1"/>
          <p:nvPr/>
        </p:nvSpPr>
        <p:spPr>
          <a:xfrm>
            <a:off x="7056000" y="1800000"/>
            <a:ext cx="3924000" cy="264960"/>
          </a:xfrm>
          <a:prstGeom prst="rect">
            <a:avLst/>
          </a:prstGeom>
          <a:noFill/>
          <a:ln w="0">
            <a:noFill/>
          </a:ln>
        </p:spPr>
        <p:txBody>
          <a:bodyPr lIns="43200" rIns="43200" tIns="43200" bIns="43200" anchor="t">
            <a:noAutofit/>
          </a:bodyPr>
          <a:p>
            <a:pPr algn="ctr">
              <a:buNone/>
            </a:pPr>
            <a:r>
              <a:rPr b="1" lang="en-US" sz="1400" spc="-1" strike="noStrike">
                <a:solidFill>
                  <a:srgbClr val="3e78b2"/>
                </a:solidFill>
                <a:latin typeface="Lato"/>
              </a:rPr>
              <a:t>SIMULATOR</a:t>
            </a:r>
            <a:endParaRPr b="1" lang="en-US" sz="1400" spc="-1" strike="noStrike">
              <a:solidFill>
                <a:srgbClr val="3e78b2"/>
              </a:solidFill>
              <a:latin typeface="Lato"/>
            </a:endParaRPr>
          </a:p>
        </p:txBody>
      </p:sp>
      <p:sp>
        <p:nvSpPr>
          <p:cNvPr id="187" name=""/>
          <p:cNvSpPr txBox="1"/>
          <p:nvPr/>
        </p:nvSpPr>
        <p:spPr>
          <a:xfrm>
            <a:off x="7056000" y="2268000"/>
            <a:ext cx="3924000" cy="721080"/>
          </a:xfrm>
          <a:prstGeom prst="rect">
            <a:avLst/>
          </a:prstGeom>
          <a:noFill/>
          <a:ln w="0">
            <a:noFill/>
          </a:ln>
        </p:spPr>
        <p:txBody>
          <a:bodyPr lIns="43200" rIns="43200" tIns="43200" bIns="43200" anchor="t">
            <a:noAutofit/>
          </a:bodyPr>
          <a:p>
            <a:pPr algn="ctr">
              <a:buNone/>
            </a:pPr>
            <a:r>
              <a:rPr b="1" lang="en-US" sz="2500" spc="-1" strike="noStrike">
                <a:solidFill>
                  <a:srgbClr val="102b3f"/>
                </a:solidFill>
                <a:latin typeface="Lato"/>
              </a:rPr>
              <a:t>HOW is the action executed?</a:t>
            </a:r>
            <a:endParaRPr b="1" lang="en-US" sz="2500" spc="-1" strike="noStrike">
              <a:solidFill>
                <a:srgbClr val="102b3f"/>
              </a:solidFill>
              <a:latin typeface="Lato"/>
            </a:endParaRPr>
          </a:p>
        </p:txBody>
      </p:sp>
      <p:sp>
        <p:nvSpPr>
          <p:cNvPr id="188" name=""/>
          <p:cNvSpPr txBox="1"/>
          <p:nvPr/>
        </p:nvSpPr>
        <p:spPr>
          <a:xfrm>
            <a:off x="7272000" y="3060000"/>
            <a:ext cx="3528000" cy="860400"/>
          </a:xfrm>
          <a:prstGeom prst="rect">
            <a:avLst/>
          </a:prstGeom>
          <a:noFill/>
          <a:ln w="0">
            <a:noFill/>
          </a:ln>
        </p:spPr>
        <p:txBody>
          <a:bodyPr lIns="43200" rIns="43200" tIns="43200" bIns="43200" anchor="t">
            <a:noAutofit/>
          </a:bodyPr>
          <a:p>
            <a:pPr algn="ctr">
              <a:buNone/>
            </a:pPr>
            <a:r>
              <a:rPr b="0" lang="en-US" sz="2000" spc="-1" strike="noStrike">
                <a:solidFill>
                  <a:srgbClr val="23313b"/>
                </a:solidFill>
                <a:latin typeface="Lato"/>
              </a:rPr>
              <a:t>A* path · Collisions · Battery</a:t>
            </a:r>
            <a:endParaRPr b="0" lang="en-US" sz="2000" spc="-1" strike="noStrike">
              <a:solidFill>
                <a:srgbClr val="23313b"/>
              </a:solidFill>
              <a:latin typeface="Lato"/>
            </a:endParaRPr>
          </a:p>
          <a:p>
            <a:pPr algn="ctr">
              <a:buNone/>
            </a:pPr>
            <a:r>
              <a:rPr b="0" lang="en-US" sz="2000" spc="-1" strike="noStrike">
                <a:solidFill>
                  <a:srgbClr val="23313b"/>
                </a:solidFill>
                <a:latin typeface="Lato"/>
              </a:rPr>
              <a:t>Load / unload mechanics</a:t>
            </a:r>
            <a:endParaRPr b="0" lang="en-US" sz="2000" spc="-1" strike="noStrike">
              <a:solidFill>
                <a:srgbClr val="23313b"/>
              </a:solidFill>
              <a:latin typeface="Lato"/>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9" name=""/>
          <p:cNvSpPr txBox="1"/>
          <p:nvPr/>
        </p:nvSpPr>
        <p:spPr>
          <a:xfrm>
            <a:off x="540000" y="252000"/>
            <a:ext cx="10800000" cy="464400"/>
          </a:xfrm>
          <a:prstGeom prst="rect">
            <a:avLst/>
          </a:prstGeom>
          <a:noFill/>
          <a:ln w="0">
            <a:noFill/>
          </a:ln>
        </p:spPr>
        <p:txBody>
          <a:bodyPr lIns="43200" rIns="43200" tIns="43200" bIns="43200" anchor="t">
            <a:noAutofit/>
          </a:bodyPr>
          <a:p>
            <a:r>
              <a:rPr b="1" lang="en-US" sz="2900" spc="-1" strike="noStrike">
                <a:solidFill>
                  <a:srgbClr val="102b3f"/>
                </a:solidFill>
                <a:latin typeface="Lato"/>
              </a:rPr>
              <a:t>Implementation: the supervisory decision loop</a:t>
            </a:r>
            <a:endParaRPr b="1" lang="en-US" sz="2900" spc="-1" strike="noStrike">
              <a:solidFill>
                <a:srgbClr val="102b3f"/>
              </a:solidFill>
              <a:latin typeface="Lato"/>
            </a:endParaRPr>
          </a:p>
        </p:txBody>
      </p:sp>
      <p:sp>
        <p:nvSpPr>
          <p:cNvPr id="190" name=""/>
          <p:cNvSpPr/>
          <p:nvPr/>
        </p:nvSpPr>
        <p:spPr>
          <a:xfrm>
            <a:off x="540000" y="6354000"/>
            <a:ext cx="11088000" cy="7200"/>
          </a:xfrm>
          <a:prstGeom prst="rect">
            <a:avLst/>
          </a:prstGeom>
          <a:solidFill>
            <a:srgbClr val="1f7188"/>
          </a:solidFill>
          <a:ln w="0">
            <a:noFill/>
          </a:ln>
        </p:spPr>
      </p:sp>
      <p:sp>
        <p:nvSpPr>
          <p:cNvPr id="191" name=""/>
          <p:cNvSpPr txBox="1"/>
          <p:nvPr/>
        </p:nvSpPr>
        <p:spPr>
          <a:xfrm>
            <a:off x="540000" y="6415200"/>
            <a:ext cx="7200000" cy="201240"/>
          </a:xfrm>
          <a:prstGeom prst="rect">
            <a:avLst/>
          </a:prstGeom>
          <a:noFill/>
          <a:ln w="0">
            <a:noFill/>
          </a:ln>
        </p:spPr>
        <p:txBody>
          <a:bodyPr lIns="43200" rIns="43200" tIns="43200" bIns="43200" anchor="t">
            <a:noAutofit/>
          </a:bodyPr>
          <a:p>
            <a:r>
              <a:rPr b="0" lang="en-US" sz="900" spc="-1" strike="noStrike">
                <a:solidFill>
                  <a:srgbClr val="5d6b75"/>
                </a:solidFill>
                <a:latin typeface="Lato"/>
              </a:rPr>
              <a:t>Master’s thesis · Uppsala University</a:t>
            </a:r>
            <a:endParaRPr b="0" lang="en-US" sz="900" spc="-1" strike="noStrike">
              <a:solidFill>
                <a:srgbClr val="5d6b75"/>
              </a:solidFill>
              <a:latin typeface="Lato"/>
            </a:endParaRPr>
          </a:p>
        </p:txBody>
      </p:sp>
      <p:sp>
        <p:nvSpPr>
          <p:cNvPr id="192" name=""/>
          <p:cNvSpPr txBox="1"/>
          <p:nvPr/>
        </p:nvSpPr>
        <p:spPr>
          <a:xfrm>
            <a:off x="9612000" y="6415200"/>
            <a:ext cx="2016000" cy="189000"/>
          </a:xfrm>
          <a:prstGeom prst="rect">
            <a:avLst/>
          </a:prstGeom>
          <a:noFill/>
          <a:ln w="0">
            <a:noFill/>
          </a:ln>
        </p:spPr>
        <p:txBody>
          <a:bodyPr lIns="43200" rIns="43200" tIns="43200" bIns="43200" anchor="t">
            <a:noAutofit/>
          </a:bodyPr>
          <a:p>
            <a:pPr algn="r">
              <a:buNone/>
            </a:pPr>
            <a:r>
              <a:rPr b="1" lang="en-US" sz="800" spc="-1" strike="noStrike">
                <a:solidFill>
                  <a:srgbClr val="1f7188"/>
                </a:solidFill>
                <a:latin typeface="Lato"/>
              </a:rPr>
              <a:t>IMPLEMENTATION</a:t>
            </a:r>
            <a:endParaRPr b="1" lang="en-US" sz="800" spc="-1" strike="noStrike">
              <a:solidFill>
                <a:srgbClr val="1f7188"/>
              </a:solidFill>
              <a:latin typeface="Lato"/>
            </a:endParaRPr>
          </a:p>
        </p:txBody>
      </p:sp>
      <p:sp>
        <p:nvSpPr>
          <p:cNvPr id="193" name=""/>
          <p:cNvSpPr/>
          <p:nvPr/>
        </p:nvSpPr>
        <p:spPr>
          <a:xfrm>
            <a:off x="378000" y="1728000"/>
            <a:ext cx="1638000" cy="2160000"/>
          </a:xfrm>
          <a:prstGeom prst="roundRect">
            <a:avLst/>
          </a:prstGeom>
          <a:solidFill>
            <a:srgbClr val="ffffff"/>
          </a:solidFill>
          <a:ln w="12600">
            <a:solidFill>
              <a:srgbClr val="3e78b2"/>
            </a:solidFill>
            <a:round/>
          </a:ln>
        </p:spPr>
      </p:sp>
      <p:sp>
        <p:nvSpPr>
          <p:cNvPr id="194" name=""/>
          <p:cNvSpPr/>
          <p:nvPr/>
        </p:nvSpPr>
        <p:spPr>
          <a:xfrm>
            <a:off x="432000" y="1782000"/>
            <a:ext cx="306000" cy="306000"/>
          </a:xfrm>
          <a:prstGeom prst="roundRect">
            <a:avLst/>
          </a:prstGeom>
          <a:solidFill>
            <a:srgbClr val="3e78b2"/>
          </a:solidFill>
          <a:ln w="12600">
            <a:solidFill>
              <a:srgbClr val="3e78b2"/>
            </a:solidFill>
            <a:round/>
          </a:ln>
        </p:spPr>
        <p:txBody>
          <a:bodyPr lIns="64800" rIns="64800" tIns="43200" bIns="43200" anchor="b" anchorCtr="1">
            <a:noAutofit/>
          </a:bodyPr>
          <a:p>
            <a:pPr algn="ctr">
              <a:buNone/>
            </a:pPr>
            <a:r>
              <a:rPr b="1" lang="en-US" sz="1600" spc="-1" strike="noStrike">
                <a:solidFill>
                  <a:srgbClr val="ffffff"/>
                </a:solidFill>
                <a:latin typeface="Lato"/>
              </a:rPr>
              <a:t>1</a:t>
            </a:r>
            <a:endParaRPr b="1" lang="en-US" sz="1600" spc="-1" strike="noStrike">
              <a:solidFill>
                <a:srgbClr val="ffffff"/>
              </a:solidFill>
              <a:latin typeface="Lato"/>
            </a:endParaRPr>
          </a:p>
        </p:txBody>
      </p:sp>
      <p:sp>
        <p:nvSpPr>
          <p:cNvPr id="195" name=""/>
          <p:cNvSpPr txBox="1"/>
          <p:nvPr/>
        </p:nvSpPr>
        <p:spPr>
          <a:xfrm>
            <a:off x="504000" y="2340000"/>
            <a:ext cx="1386000" cy="341280"/>
          </a:xfrm>
          <a:prstGeom prst="rect">
            <a:avLst/>
          </a:prstGeom>
          <a:noFill/>
          <a:ln w="0">
            <a:noFill/>
          </a:ln>
        </p:spPr>
        <p:txBody>
          <a:bodyPr lIns="43200" rIns="43200" tIns="43200" bIns="43200" anchor="t">
            <a:noAutofit/>
          </a:bodyPr>
          <a:p>
            <a:pPr algn="ctr">
              <a:buNone/>
            </a:pPr>
            <a:r>
              <a:rPr b="1" lang="en-US" sz="2000" spc="-1" strike="noStrike">
                <a:solidFill>
                  <a:srgbClr val="102b3f"/>
                </a:solidFill>
                <a:latin typeface="Lato"/>
              </a:rPr>
              <a:t>State</a:t>
            </a:r>
            <a:endParaRPr b="1" lang="en-US" sz="2000" spc="-1" strike="noStrike">
              <a:solidFill>
                <a:srgbClr val="102b3f"/>
              </a:solidFill>
              <a:latin typeface="Lato"/>
            </a:endParaRPr>
          </a:p>
        </p:txBody>
      </p:sp>
      <p:sp>
        <p:nvSpPr>
          <p:cNvPr id="196" name=""/>
          <p:cNvSpPr txBox="1"/>
          <p:nvPr/>
        </p:nvSpPr>
        <p:spPr>
          <a:xfrm>
            <a:off x="504000" y="2880000"/>
            <a:ext cx="1386000" cy="849960"/>
          </a:xfrm>
          <a:prstGeom prst="rect">
            <a:avLst/>
          </a:prstGeom>
          <a:noFill/>
          <a:ln w="0">
            <a:noFill/>
          </a:ln>
        </p:spPr>
        <p:txBody>
          <a:bodyPr lIns="43200" rIns="43200" tIns="43200" bIns="43200" anchor="t">
            <a:noAutofit/>
          </a:bodyPr>
          <a:p>
            <a:pPr algn="ctr">
              <a:buNone/>
            </a:pPr>
            <a:r>
              <a:rPr b="0" lang="en-US" sz="1500" spc="-1" strike="noStrike">
                <a:solidFill>
                  <a:srgbClr val="23313b"/>
                </a:solidFill>
                <a:latin typeface="Lato"/>
              </a:rPr>
              <a:t>agents · shelves</a:t>
            </a:r>
            <a:endParaRPr b="0" lang="en-US" sz="1500" spc="-1" strike="noStrike">
              <a:solidFill>
                <a:srgbClr val="23313b"/>
              </a:solidFill>
              <a:latin typeface="Lato"/>
            </a:endParaRPr>
          </a:p>
          <a:p>
            <a:pPr algn="ctr">
              <a:buNone/>
            </a:pPr>
            <a:r>
              <a:rPr b="0" lang="en-US" sz="1500" spc="-1" strike="noStrike">
                <a:solidFill>
                  <a:srgbClr val="23313b"/>
                </a:solidFill>
                <a:latin typeface="Lato"/>
              </a:rPr>
              <a:t>battery · support</a:t>
            </a:r>
            <a:endParaRPr b="0" lang="en-US" sz="1500" spc="-1" strike="noStrike">
              <a:solidFill>
                <a:srgbClr val="23313b"/>
              </a:solidFill>
              <a:latin typeface="Lato"/>
            </a:endParaRPr>
          </a:p>
        </p:txBody>
      </p:sp>
      <p:sp>
        <p:nvSpPr>
          <p:cNvPr id="197" name=""/>
          <p:cNvSpPr/>
          <p:nvPr/>
        </p:nvSpPr>
        <p:spPr>
          <a:xfrm>
            <a:off x="2034000" y="2808000"/>
            <a:ext cx="234000" cy="0"/>
          </a:xfrm>
          <a:prstGeom prst="line">
            <a:avLst/>
          </a:prstGeom>
          <a:ln w="18000">
            <a:solidFill>
              <a:srgbClr val="5d6b75"/>
            </a:solidFill>
            <a:round/>
          </a:ln>
        </p:spPr>
        <p:style>
          <a:lnRef idx="0"/>
          <a:fillRef idx="0"/>
          <a:effectRef idx="0"/>
          <a:fontRef idx="minor"/>
        </p:style>
      </p:sp>
      <p:sp>
        <p:nvSpPr>
          <p:cNvPr id="198" name=""/>
          <p:cNvSpPr/>
          <p:nvPr/>
        </p:nvSpPr>
        <p:spPr>
          <a:xfrm>
            <a:off x="2304000" y="1728000"/>
            <a:ext cx="1638000" cy="2160000"/>
          </a:xfrm>
          <a:prstGeom prst="roundRect">
            <a:avLst/>
          </a:prstGeom>
          <a:solidFill>
            <a:srgbClr val="ffffff"/>
          </a:solidFill>
          <a:ln w="12600">
            <a:solidFill>
              <a:srgbClr val="1f7188"/>
            </a:solidFill>
            <a:round/>
          </a:ln>
        </p:spPr>
      </p:sp>
      <p:sp>
        <p:nvSpPr>
          <p:cNvPr id="199" name=""/>
          <p:cNvSpPr/>
          <p:nvPr/>
        </p:nvSpPr>
        <p:spPr>
          <a:xfrm>
            <a:off x="2358000" y="1782000"/>
            <a:ext cx="306000" cy="306000"/>
          </a:xfrm>
          <a:prstGeom prst="roundRect">
            <a:avLst/>
          </a:prstGeom>
          <a:solidFill>
            <a:srgbClr val="1f7188"/>
          </a:solidFill>
          <a:ln w="12600">
            <a:solidFill>
              <a:srgbClr val="1f7188"/>
            </a:solidFill>
            <a:round/>
          </a:ln>
        </p:spPr>
        <p:txBody>
          <a:bodyPr lIns="64800" rIns="64800" tIns="43200" bIns="43200" anchor="b" anchorCtr="1">
            <a:noAutofit/>
          </a:bodyPr>
          <a:p>
            <a:pPr algn="ctr">
              <a:buNone/>
            </a:pPr>
            <a:r>
              <a:rPr b="1" lang="en-US" sz="1600" spc="-1" strike="noStrike">
                <a:solidFill>
                  <a:srgbClr val="ffffff"/>
                </a:solidFill>
                <a:latin typeface="Lato"/>
              </a:rPr>
              <a:t>2</a:t>
            </a:r>
            <a:endParaRPr b="1" lang="en-US" sz="1600" spc="-1" strike="noStrike">
              <a:solidFill>
                <a:srgbClr val="ffffff"/>
              </a:solidFill>
              <a:latin typeface="Lato"/>
            </a:endParaRPr>
          </a:p>
        </p:txBody>
      </p:sp>
      <p:sp>
        <p:nvSpPr>
          <p:cNvPr id="200" name=""/>
          <p:cNvSpPr txBox="1"/>
          <p:nvPr/>
        </p:nvSpPr>
        <p:spPr>
          <a:xfrm>
            <a:off x="2430000" y="2340000"/>
            <a:ext cx="1386000" cy="341280"/>
          </a:xfrm>
          <a:prstGeom prst="rect">
            <a:avLst/>
          </a:prstGeom>
          <a:noFill/>
          <a:ln w="0">
            <a:noFill/>
          </a:ln>
        </p:spPr>
        <p:txBody>
          <a:bodyPr lIns="43200" rIns="43200" tIns="43200" bIns="43200" anchor="t">
            <a:noAutofit/>
          </a:bodyPr>
          <a:p>
            <a:pPr algn="ctr">
              <a:buNone/>
            </a:pPr>
            <a:r>
              <a:rPr b="1" lang="en-US" sz="2000" spc="-1" strike="noStrike">
                <a:solidFill>
                  <a:srgbClr val="102b3f"/>
                </a:solidFill>
                <a:latin typeface="Lato"/>
              </a:rPr>
              <a:t>Candidates</a:t>
            </a:r>
            <a:endParaRPr b="1" lang="en-US" sz="2000" spc="-1" strike="noStrike">
              <a:solidFill>
                <a:srgbClr val="102b3f"/>
              </a:solidFill>
              <a:latin typeface="Lato"/>
            </a:endParaRPr>
          </a:p>
        </p:txBody>
      </p:sp>
      <p:sp>
        <p:nvSpPr>
          <p:cNvPr id="201" name=""/>
          <p:cNvSpPr txBox="1"/>
          <p:nvPr/>
        </p:nvSpPr>
        <p:spPr>
          <a:xfrm>
            <a:off x="2430000" y="2880000"/>
            <a:ext cx="1386000" cy="500400"/>
          </a:xfrm>
          <a:prstGeom prst="rect">
            <a:avLst/>
          </a:prstGeom>
          <a:noFill/>
          <a:ln w="0">
            <a:noFill/>
          </a:ln>
        </p:spPr>
        <p:txBody>
          <a:bodyPr lIns="43200" rIns="43200" tIns="43200" bIns="43200" anchor="t">
            <a:noAutofit/>
          </a:bodyPr>
          <a:p>
            <a:pPr algn="ctr">
              <a:buNone/>
            </a:pPr>
            <a:r>
              <a:rPr b="0" lang="en-US" sz="1500" spc="-1" strike="noStrike">
                <a:solidFill>
                  <a:srgbClr val="23313b"/>
                </a:solidFill>
                <a:latin typeface="Lato"/>
              </a:rPr>
              <a:t>role + state</a:t>
            </a:r>
            <a:endParaRPr b="0" lang="en-US" sz="1500" spc="-1" strike="noStrike">
              <a:solidFill>
                <a:srgbClr val="23313b"/>
              </a:solidFill>
              <a:latin typeface="Lato"/>
            </a:endParaRPr>
          </a:p>
          <a:p>
            <a:pPr algn="ctr">
              <a:buNone/>
            </a:pPr>
            <a:r>
              <a:rPr b="0" lang="en-US" sz="1500" spc="-1" strike="noStrike">
                <a:solidFill>
                  <a:srgbClr val="23313b"/>
                </a:solidFill>
                <a:latin typeface="Lato"/>
              </a:rPr>
              <a:t>allowed actions</a:t>
            </a:r>
            <a:endParaRPr b="0" lang="en-US" sz="1500" spc="-1" strike="noStrike">
              <a:solidFill>
                <a:srgbClr val="23313b"/>
              </a:solidFill>
              <a:latin typeface="Lato"/>
            </a:endParaRPr>
          </a:p>
        </p:txBody>
      </p:sp>
      <p:sp>
        <p:nvSpPr>
          <p:cNvPr id="202" name=""/>
          <p:cNvSpPr/>
          <p:nvPr/>
        </p:nvSpPr>
        <p:spPr>
          <a:xfrm>
            <a:off x="3960000" y="2808000"/>
            <a:ext cx="234000" cy="0"/>
          </a:xfrm>
          <a:prstGeom prst="line">
            <a:avLst/>
          </a:prstGeom>
          <a:ln w="18000">
            <a:solidFill>
              <a:srgbClr val="5d6b75"/>
            </a:solidFill>
            <a:round/>
          </a:ln>
        </p:spPr>
        <p:style>
          <a:lnRef idx="0"/>
          <a:fillRef idx="0"/>
          <a:effectRef idx="0"/>
          <a:fontRef idx="minor"/>
        </p:style>
      </p:sp>
      <p:sp>
        <p:nvSpPr>
          <p:cNvPr id="203" name=""/>
          <p:cNvSpPr/>
          <p:nvPr/>
        </p:nvSpPr>
        <p:spPr>
          <a:xfrm>
            <a:off x="4230000" y="1728000"/>
            <a:ext cx="1638000" cy="2160000"/>
          </a:xfrm>
          <a:prstGeom prst="roundRect">
            <a:avLst/>
          </a:prstGeom>
          <a:solidFill>
            <a:srgbClr val="ffffff"/>
          </a:solidFill>
          <a:ln w="12600">
            <a:solidFill>
              <a:srgbClr val="4f4593"/>
            </a:solidFill>
            <a:round/>
          </a:ln>
        </p:spPr>
      </p:sp>
      <p:sp>
        <p:nvSpPr>
          <p:cNvPr id="204" name=""/>
          <p:cNvSpPr/>
          <p:nvPr/>
        </p:nvSpPr>
        <p:spPr>
          <a:xfrm>
            <a:off x="4284000" y="1782000"/>
            <a:ext cx="306000" cy="306000"/>
          </a:xfrm>
          <a:prstGeom prst="roundRect">
            <a:avLst/>
          </a:prstGeom>
          <a:solidFill>
            <a:srgbClr val="4f4593"/>
          </a:solidFill>
          <a:ln w="12600">
            <a:solidFill>
              <a:srgbClr val="4f4593"/>
            </a:solidFill>
            <a:round/>
          </a:ln>
        </p:spPr>
        <p:txBody>
          <a:bodyPr lIns="64800" rIns="64800" tIns="43200" bIns="43200" anchor="b" anchorCtr="1">
            <a:noAutofit/>
          </a:bodyPr>
          <a:p>
            <a:pPr algn="ctr">
              <a:buNone/>
            </a:pPr>
            <a:r>
              <a:rPr b="1" lang="en-US" sz="1600" spc="-1" strike="noStrike">
                <a:solidFill>
                  <a:srgbClr val="ffffff"/>
                </a:solidFill>
                <a:latin typeface="Lato"/>
              </a:rPr>
              <a:t>3</a:t>
            </a:r>
            <a:endParaRPr b="1" lang="en-US" sz="1600" spc="-1" strike="noStrike">
              <a:solidFill>
                <a:srgbClr val="ffffff"/>
              </a:solidFill>
              <a:latin typeface="Lato"/>
            </a:endParaRPr>
          </a:p>
        </p:txBody>
      </p:sp>
      <p:sp>
        <p:nvSpPr>
          <p:cNvPr id="205" name=""/>
          <p:cNvSpPr txBox="1"/>
          <p:nvPr/>
        </p:nvSpPr>
        <p:spPr>
          <a:xfrm>
            <a:off x="4356000" y="2340000"/>
            <a:ext cx="1386000" cy="341280"/>
          </a:xfrm>
          <a:prstGeom prst="rect">
            <a:avLst/>
          </a:prstGeom>
          <a:noFill/>
          <a:ln w="0">
            <a:noFill/>
          </a:ln>
        </p:spPr>
        <p:txBody>
          <a:bodyPr lIns="43200" rIns="43200" tIns="43200" bIns="43200" anchor="t">
            <a:noAutofit/>
          </a:bodyPr>
          <a:p>
            <a:pPr algn="ctr">
              <a:buNone/>
            </a:pPr>
            <a:r>
              <a:rPr b="1" lang="en-US" sz="2000" spc="-1" strike="noStrike">
                <a:solidFill>
                  <a:srgbClr val="102b3f"/>
                </a:solidFill>
                <a:latin typeface="Lato"/>
              </a:rPr>
              <a:t>Prompt</a:t>
            </a:r>
            <a:endParaRPr b="1" lang="en-US" sz="2000" spc="-1" strike="noStrike">
              <a:solidFill>
                <a:srgbClr val="102b3f"/>
              </a:solidFill>
              <a:latin typeface="Lato"/>
            </a:endParaRPr>
          </a:p>
        </p:txBody>
      </p:sp>
      <p:sp>
        <p:nvSpPr>
          <p:cNvPr id="206" name=""/>
          <p:cNvSpPr txBox="1"/>
          <p:nvPr/>
        </p:nvSpPr>
        <p:spPr>
          <a:xfrm>
            <a:off x="4356000" y="2880000"/>
            <a:ext cx="1386000" cy="849960"/>
          </a:xfrm>
          <a:prstGeom prst="rect">
            <a:avLst/>
          </a:prstGeom>
          <a:noFill/>
          <a:ln w="0">
            <a:noFill/>
          </a:ln>
        </p:spPr>
        <p:txBody>
          <a:bodyPr lIns="43200" rIns="43200" tIns="43200" bIns="43200" anchor="t">
            <a:noAutofit/>
          </a:bodyPr>
          <a:p>
            <a:pPr algn="ctr">
              <a:buNone/>
            </a:pPr>
            <a:r>
              <a:rPr b="0" lang="en-US" sz="1500" spc="-1" strike="noStrike">
                <a:solidFill>
                  <a:srgbClr val="23313b"/>
                </a:solidFill>
                <a:latin typeface="Lato"/>
              </a:rPr>
              <a:t>objective + context</a:t>
            </a:r>
            <a:endParaRPr b="0" lang="en-US" sz="1500" spc="-1" strike="noStrike">
              <a:solidFill>
                <a:srgbClr val="23313b"/>
              </a:solidFill>
              <a:latin typeface="Lato"/>
            </a:endParaRPr>
          </a:p>
          <a:p>
            <a:pPr algn="ctr">
              <a:buNone/>
            </a:pPr>
            <a:r>
              <a:rPr b="0" lang="en-US" sz="1500" spc="-1" strike="noStrike">
                <a:solidFill>
                  <a:srgbClr val="23313b"/>
                </a:solidFill>
                <a:latin typeface="Lato"/>
              </a:rPr>
              <a:t>output contract</a:t>
            </a:r>
            <a:endParaRPr b="0" lang="en-US" sz="1500" spc="-1" strike="noStrike">
              <a:solidFill>
                <a:srgbClr val="23313b"/>
              </a:solidFill>
              <a:latin typeface="Lato"/>
            </a:endParaRPr>
          </a:p>
        </p:txBody>
      </p:sp>
      <p:sp>
        <p:nvSpPr>
          <p:cNvPr id="207" name=""/>
          <p:cNvSpPr/>
          <p:nvPr/>
        </p:nvSpPr>
        <p:spPr>
          <a:xfrm>
            <a:off x="5886000" y="2808000"/>
            <a:ext cx="234000" cy="0"/>
          </a:xfrm>
          <a:prstGeom prst="line">
            <a:avLst/>
          </a:prstGeom>
          <a:ln w="18000">
            <a:solidFill>
              <a:srgbClr val="5d6b75"/>
            </a:solidFill>
            <a:round/>
          </a:ln>
        </p:spPr>
        <p:style>
          <a:lnRef idx="0"/>
          <a:fillRef idx="0"/>
          <a:effectRef idx="0"/>
          <a:fontRef idx="minor"/>
        </p:style>
      </p:sp>
      <p:sp>
        <p:nvSpPr>
          <p:cNvPr id="208" name=""/>
          <p:cNvSpPr/>
          <p:nvPr/>
        </p:nvSpPr>
        <p:spPr>
          <a:xfrm>
            <a:off x="6156000" y="1728000"/>
            <a:ext cx="1638000" cy="2160000"/>
          </a:xfrm>
          <a:prstGeom prst="roundRect">
            <a:avLst/>
          </a:prstGeom>
          <a:solidFill>
            <a:srgbClr val="ffffff"/>
          </a:solidFill>
          <a:ln w="12600">
            <a:solidFill>
              <a:srgbClr val="f28c28"/>
            </a:solidFill>
            <a:round/>
          </a:ln>
        </p:spPr>
      </p:sp>
      <p:sp>
        <p:nvSpPr>
          <p:cNvPr id="209" name=""/>
          <p:cNvSpPr/>
          <p:nvPr/>
        </p:nvSpPr>
        <p:spPr>
          <a:xfrm>
            <a:off x="6210000" y="1782000"/>
            <a:ext cx="306000" cy="306000"/>
          </a:xfrm>
          <a:prstGeom prst="roundRect">
            <a:avLst/>
          </a:prstGeom>
          <a:solidFill>
            <a:srgbClr val="f28c28"/>
          </a:solidFill>
          <a:ln w="12600">
            <a:solidFill>
              <a:srgbClr val="f28c28"/>
            </a:solidFill>
            <a:round/>
          </a:ln>
        </p:spPr>
        <p:txBody>
          <a:bodyPr lIns="64800" rIns="64800" tIns="43200" bIns="43200" anchor="b" anchorCtr="1">
            <a:noAutofit/>
          </a:bodyPr>
          <a:p>
            <a:pPr algn="ctr">
              <a:buNone/>
            </a:pPr>
            <a:r>
              <a:rPr b="1" lang="en-US" sz="1600" spc="-1" strike="noStrike">
                <a:solidFill>
                  <a:srgbClr val="ffffff"/>
                </a:solidFill>
                <a:latin typeface="Lato"/>
              </a:rPr>
              <a:t>4</a:t>
            </a:r>
            <a:endParaRPr b="1" lang="en-US" sz="1600" spc="-1" strike="noStrike">
              <a:solidFill>
                <a:srgbClr val="ffffff"/>
              </a:solidFill>
              <a:latin typeface="Lato"/>
            </a:endParaRPr>
          </a:p>
        </p:txBody>
      </p:sp>
      <p:sp>
        <p:nvSpPr>
          <p:cNvPr id="210" name=""/>
          <p:cNvSpPr txBox="1"/>
          <p:nvPr/>
        </p:nvSpPr>
        <p:spPr>
          <a:xfrm>
            <a:off x="6282000" y="2340000"/>
            <a:ext cx="1386000" cy="341280"/>
          </a:xfrm>
          <a:prstGeom prst="rect">
            <a:avLst/>
          </a:prstGeom>
          <a:noFill/>
          <a:ln w="0">
            <a:noFill/>
          </a:ln>
        </p:spPr>
        <p:txBody>
          <a:bodyPr lIns="43200" rIns="43200" tIns="43200" bIns="43200" anchor="t">
            <a:noAutofit/>
          </a:bodyPr>
          <a:p>
            <a:pPr algn="ctr">
              <a:buNone/>
            </a:pPr>
            <a:r>
              <a:rPr b="1" lang="en-US" sz="2000" spc="-1" strike="noStrike">
                <a:solidFill>
                  <a:srgbClr val="102b3f"/>
                </a:solidFill>
                <a:latin typeface="Lato"/>
              </a:rPr>
              <a:t>Local LLM</a:t>
            </a:r>
            <a:endParaRPr b="1" lang="en-US" sz="2000" spc="-1" strike="noStrike">
              <a:solidFill>
                <a:srgbClr val="102b3f"/>
              </a:solidFill>
              <a:latin typeface="Lato"/>
            </a:endParaRPr>
          </a:p>
        </p:txBody>
      </p:sp>
      <p:sp>
        <p:nvSpPr>
          <p:cNvPr id="211" name=""/>
          <p:cNvSpPr txBox="1"/>
          <p:nvPr/>
        </p:nvSpPr>
        <p:spPr>
          <a:xfrm>
            <a:off x="6282000" y="2880000"/>
            <a:ext cx="1386000" cy="659160"/>
          </a:xfrm>
          <a:prstGeom prst="rect">
            <a:avLst/>
          </a:prstGeom>
          <a:noFill/>
          <a:ln w="0">
            <a:noFill/>
          </a:ln>
        </p:spPr>
        <p:txBody>
          <a:bodyPr lIns="43200" rIns="43200" tIns="43200" bIns="43200" anchor="t">
            <a:noAutofit/>
          </a:bodyPr>
          <a:p>
            <a:pPr algn="ctr">
              <a:buNone/>
            </a:pPr>
            <a:r>
              <a:rPr b="0" lang="en-US" sz="1500" spc="-1" strike="noStrike">
                <a:solidFill>
                  <a:srgbClr val="23313b"/>
                </a:solidFill>
                <a:latin typeface="Lato"/>
              </a:rPr>
              <a:t>Ollama</a:t>
            </a:r>
            <a:endParaRPr b="0" lang="en-US" sz="1500" spc="-1" strike="noStrike">
              <a:solidFill>
                <a:srgbClr val="23313b"/>
              </a:solidFill>
              <a:latin typeface="Lato"/>
            </a:endParaRPr>
          </a:p>
          <a:p>
            <a:pPr algn="ctr">
              <a:buNone/>
            </a:pPr>
            <a:r>
              <a:rPr b="0" lang="en-US" sz="1500" spc="-1" strike="noStrike">
                <a:solidFill>
                  <a:srgbClr val="23313b"/>
                </a:solidFill>
                <a:latin typeface="Lato"/>
              </a:rPr>
              <a:t>temperature 0.1</a:t>
            </a:r>
            <a:endParaRPr b="0" lang="en-US" sz="1500" spc="-1" strike="noStrike">
              <a:solidFill>
                <a:srgbClr val="23313b"/>
              </a:solidFill>
              <a:latin typeface="Lato"/>
            </a:endParaRPr>
          </a:p>
        </p:txBody>
      </p:sp>
      <p:sp>
        <p:nvSpPr>
          <p:cNvPr id="212" name=""/>
          <p:cNvSpPr/>
          <p:nvPr/>
        </p:nvSpPr>
        <p:spPr>
          <a:xfrm>
            <a:off x="7812000" y="2808000"/>
            <a:ext cx="234000" cy="0"/>
          </a:xfrm>
          <a:prstGeom prst="line">
            <a:avLst/>
          </a:prstGeom>
          <a:ln w="18000">
            <a:solidFill>
              <a:srgbClr val="5d6b75"/>
            </a:solidFill>
            <a:round/>
          </a:ln>
        </p:spPr>
        <p:style>
          <a:lnRef idx="0"/>
          <a:fillRef idx="0"/>
          <a:effectRef idx="0"/>
          <a:fontRef idx="minor"/>
        </p:style>
      </p:sp>
      <p:sp>
        <p:nvSpPr>
          <p:cNvPr id="213" name=""/>
          <p:cNvSpPr/>
          <p:nvPr/>
        </p:nvSpPr>
        <p:spPr>
          <a:xfrm>
            <a:off x="8082000" y="1728000"/>
            <a:ext cx="1638000" cy="2160000"/>
          </a:xfrm>
          <a:prstGeom prst="roundRect">
            <a:avLst/>
          </a:prstGeom>
          <a:solidFill>
            <a:srgbClr val="ffffff"/>
          </a:solidFill>
          <a:ln w="12600">
            <a:solidFill>
              <a:srgbClr val="d9534f"/>
            </a:solidFill>
            <a:round/>
          </a:ln>
        </p:spPr>
      </p:sp>
      <p:sp>
        <p:nvSpPr>
          <p:cNvPr id="214" name=""/>
          <p:cNvSpPr/>
          <p:nvPr/>
        </p:nvSpPr>
        <p:spPr>
          <a:xfrm>
            <a:off x="8136000" y="1782000"/>
            <a:ext cx="306000" cy="306000"/>
          </a:xfrm>
          <a:prstGeom prst="roundRect">
            <a:avLst/>
          </a:prstGeom>
          <a:solidFill>
            <a:srgbClr val="d9534f"/>
          </a:solidFill>
          <a:ln w="12600">
            <a:solidFill>
              <a:srgbClr val="d9534f"/>
            </a:solidFill>
            <a:round/>
          </a:ln>
        </p:spPr>
        <p:txBody>
          <a:bodyPr lIns="64800" rIns="64800" tIns="43200" bIns="43200" anchor="b" anchorCtr="1">
            <a:noAutofit/>
          </a:bodyPr>
          <a:p>
            <a:pPr algn="ctr">
              <a:buNone/>
            </a:pPr>
            <a:r>
              <a:rPr b="1" lang="en-US" sz="1600" spc="-1" strike="noStrike">
                <a:solidFill>
                  <a:srgbClr val="ffffff"/>
                </a:solidFill>
                <a:latin typeface="Lato"/>
              </a:rPr>
              <a:t>5</a:t>
            </a:r>
            <a:endParaRPr b="1" lang="en-US" sz="1600" spc="-1" strike="noStrike">
              <a:solidFill>
                <a:srgbClr val="ffffff"/>
              </a:solidFill>
              <a:latin typeface="Lato"/>
            </a:endParaRPr>
          </a:p>
        </p:txBody>
      </p:sp>
      <p:sp>
        <p:nvSpPr>
          <p:cNvPr id="215" name=""/>
          <p:cNvSpPr txBox="1"/>
          <p:nvPr/>
        </p:nvSpPr>
        <p:spPr>
          <a:xfrm>
            <a:off x="8208000" y="2340000"/>
            <a:ext cx="1386000" cy="595800"/>
          </a:xfrm>
          <a:prstGeom prst="rect">
            <a:avLst/>
          </a:prstGeom>
          <a:noFill/>
          <a:ln w="0">
            <a:noFill/>
          </a:ln>
        </p:spPr>
        <p:txBody>
          <a:bodyPr lIns="43200" rIns="43200" tIns="43200" bIns="43200" anchor="t">
            <a:noAutofit/>
          </a:bodyPr>
          <a:p>
            <a:pPr algn="ctr">
              <a:buNone/>
            </a:pPr>
            <a:r>
              <a:rPr b="1" lang="en-US" sz="2000" spc="-1" strike="noStrike">
                <a:solidFill>
                  <a:srgbClr val="102b3f"/>
                </a:solidFill>
                <a:latin typeface="Lato"/>
              </a:rPr>
              <a:t>Parse + check</a:t>
            </a:r>
            <a:endParaRPr b="1" lang="en-US" sz="2000" spc="-1" strike="noStrike">
              <a:solidFill>
                <a:srgbClr val="102b3f"/>
              </a:solidFill>
              <a:latin typeface="Lato"/>
            </a:endParaRPr>
          </a:p>
        </p:txBody>
      </p:sp>
      <p:sp>
        <p:nvSpPr>
          <p:cNvPr id="216" name=""/>
          <p:cNvSpPr txBox="1"/>
          <p:nvPr/>
        </p:nvSpPr>
        <p:spPr>
          <a:xfrm>
            <a:off x="8208000" y="2880000"/>
            <a:ext cx="1386000" cy="849960"/>
          </a:xfrm>
          <a:prstGeom prst="rect">
            <a:avLst/>
          </a:prstGeom>
          <a:noFill/>
          <a:ln w="0">
            <a:noFill/>
          </a:ln>
        </p:spPr>
        <p:txBody>
          <a:bodyPr lIns="43200" rIns="43200" tIns="43200" bIns="43200" anchor="t">
            <a:noAutofit/>
          </a:bodyPr>
          <a:p>
            <a:pPr algn="ctr">
              <a:buNone/>
            </a:pPr>
            <a:r>
              <a:rPr b="0" lang="en-US" sz="1500" spc="-1" strike="noStrike">
                <a:solidFill>
                  <a:srgbClr val="23313b"/>
                </a:solidFill>
                <a:latin typeface="Lato"/>
              </a:rPr>
              <a:t>action ID + steps</a:t>
            </a:r>
            <a:endParaRPr b="0" lang="en-US" sz="1500" spc="-1" strike="noStrike">
              <a:solidFill>
                <a:srgbClr val="23313b"/>
              </a:solidFill>
              <a:latin typeface="Lato"/>
            </a:endParaRPr>
          </a:p>
          <a:p>
            <a:pPr algn="ctr">
              <a:buNone/>
            </a:pPr>
            <a:r>
              <a:rPr b="0" lang="en-US" sz="1500" spc="-1" strike="noStrike">
                <a:solidFill>
                  <a:srgbClr val="23313b"/>
                </a:solidFill>
                <a:latin typeface="Lato"/>
              </a:rPr>
              <a:t>fallback on failure</a:t>
            </a:r>
            <a:endParaRPr b="0" lang="en-US" sz="1500" spc="-1" strike="noStrike">
              <a:solidFill>
                <a:srgbClr val="23313b"/>
              </a:solidFill>
              <a:latin typeface="Lato"/>
            </a:endParaRPr>
          </a:p>
        </p:txBody>
      </p:sp>
      <p:sp>
        <p:nvSpPr>
          <p:cNvPr id="217" name=""/>
          <p:cNvSpPr/>
          <p:nvPr/>
        </p:nvSpPr>
        <p:spPr>
          <a:xfrm>
            <a:off x="9738000" y="2808000"/>
            <a:ext cx="234000" cy="0"/>
          </a:xfrm>
          <a:prstGeom prst="line">
            <a:avLst/>
          </a:prstGeom>
          <a:ln w="18000">
            <a:solidFill>
              <a:srgbClr val="5d6b75"/>
            </a:solidFill>
            <a:round/>
          </a:ln>
        </p:spPr>
        <p:style>
          <a:lnRef idx="0"/>
          <a:fillRef idx="0"/>
          <a:effectRef idx="0"/>
          <a:fontRef idx="minor"/>
        </p:style>
      </p:sp>
      <p:sp>
        <p:nvSpPr>
          <p:cNvPr id="218" name=""/>
          <p:cNvSpPr/>
          <p:nvPr/>
        </p:nvSpPr>
        <p:spPr>
          <a:xfrm>
            <a:off x="10008000" y="1728000"/>
            <a:ext cx="1638000" cy="2160000"/>
          </a:xfrm>
          <a:prstGeom prst="roundRect">
            <a:avLst/>
          </a:prstGeom>
          <a:solidFill>
            <a:srgbClr val="ffffff"/>
          </a:solidFill>
          <a:ln w="12600">
            <a:solidFill>
              <a:srgbClr val="1f8a70"/>
            </a:solidFill>
            <a:round/>
          </a:ln>
        </p:spPr>
      </p:sp>
      <p:sp>
        <p:nvSpPr>
          <p:cNvPr id="219" name=""/>
          <p:cNvSpPr/>
          <p:nvPr/>
        </p:nvSpPr>
        <p:spPr>
          <a:xfrm>
            <a:off x="10062000" y="1782000"/>
            <a:ext cx="306000" cy="306000"/>
          </a:xfrm>
          <a:prstGeom prst="roundRect">
            <a:avLst/>
          </a:prstGeom>
          <a:solidFill>
            <a:srgbClr val="1f8a70"/>
          </a:solidFill>
          <a:ln w="12600">
            <a:solidFill>
              <a:srgbClr val="1f8a70"/>
            </a:solidFill>
            <a:round/>
          </a:ln>
        </p:spPr>
        <p:txBody>
          <a:bodyPr lIns="64800" rIns="64800" tIns="43200" bIns="43200" anchor="b" anchorCtr="1">
            <a:noAutofit/>
          </a:bodyPr>
          <a:p>
            <a:pPr algn="ctr">
              <a:buNone/>
            </a:pPr>
            <a:r>
              <a:rPr b="1" lang="en-US" sz="1600" spc="-1" strike="noStrike">
                <a:solidFill>
                  <a:srgbClr val="ffffff"/>
                </a:solidFill>
                <a:latin typeface="Lato"/>
              </a:rPr>
              <a:t>6</a:t>
            </a:r>
            <a:endParaRPr b="1" lang="en-US" sz="1600" spc="-1" strike="noStrike">
              <a:solidFill>
                <a:srgbClr val="ffffff"/>
              </a:solidFill>
              <a:latin typeface="Lato"/>
            </a:endParaRPr>
          </a:p>
        </p:txBody>
      </p:sp>
      <p:sp>
        <p:nvSpPr>
          <p:cNvPr id="220" name=""/>
          <p:cNvSpPr txBox="1"/>
          <p:nvPr/>
        </p:nvSpPr>
        <p:spPr>
          <a:xfrm>
            <a:off x="10134000" y="2340000"/>
            <a:ext cx="1386000" cy="341280"/>
          </a:xfrm>
          <a:prstGeom prst="rect">
            <a:avLst/>
          </a:prstGeom>
          <a:noFill/>
          <a:ln w="0">
            <a:noFill/>
          </a:ln>
        </p:spPr>
        <p:txBody>
          <a:bodyPr lIns="43200" rIns="43200" tIns="43200" bIns="43200" anchor="t">
            <a:noAutofit/>
          </a:bodyPr>
          <a:p>
            <a:pPr algn="ctr">
              <a:buNone/>
            </a:pPr>
            <a:r>
              <a:rPr b="1" lang="en-US" sz="2000" spc="-1" strike="noStrike">
                <a:solidFill>
                  <a:srgbClr val="102b3f"/>
                </a:solidFill>
                <a:latin typeface="Lato"/>
              </a:rPr>
              <a:t>Execute</a:t>
            </a:r>
            <a:endParaRPr b="1" lang="en-US" sz="2000" spc="-1" strike="noStrike">
              <a:solidFill>
                <a:srgbClr val="102b3f"/>
              </a:solidFill>
              <a:latin typeface="Lato"/>
            </a:endParaRPr>
          </a:p>
        </p:txBody>
      </p:sp>
      <p:sp>
        <p:nvSpPr>
          <p:cNvPr id="221" name=""/>
          <p:cNvSpPr txBox="1"/>
          <p:nvPr/>
        </p:nvSpPr>
        <p:spPr>
          <a:xfrm>
            <a:off x="10134000" y="2880000"/>
            <a:ext cx="1386000" cy="659160"/>
          </a:xfrm>
          <a:prstGeom prst="rect">
            <a:avLst/>
          </a:prstGeom>
          <a:noFill/>
          <a:ln w="0">
            <a:noFill/>
          </a:ln>
        </p:spPr>
        <p:txBody>
          <a:bodyPr lIns="43200" rIns="43200" tIns="43200" bIns="43200" anchor="t">
            <a:noAutofit/>
          </a:bodyPr>
          <a:p>
            <a:pPr algn="ctr">
              <a:buNone/>
            </a:pPr>
            <a:r>
              <a:rPr b="0" lang="en-US" sz="1500" spc="-1" strike="noStrike">
                <a:solidFill>
                  <a:srgbClr val="23313b"/>
                </a:solidFill>
                <a:latin typeface="Lato"/>
              </a:rPr>
              <a:t>macro action</a:t>
            </a:r>
            <a:endParaRPr b="0" lang="en-US" sz="1500" spc="-1" strike="noStrike">
              <a:solidFill>
                <a:srgbClr val="23313b"/>
              </a:solidFill>
              <a:latin typeface="Lato"/>
            </a:endParaRPr>
          </a:p>
          <a:p>
            <a:pPr algn="ctr">
              <a:buNone/>
            </a:pPr>
            <a:r>
              <a:rPr b="0" lang="en-US" sz="1500" spc="-1" strike="noStrike">
                <a:solidFill>
                  <a:srgbClr val="23313b"/>
                </a:solidFill>
                <a:latin typeface="Lato"/>
              </a:rPr>
              <a:t>selective replanning</a:t>
            </a:r>
            <a:endParaRPr b="0" lang="en-US" sz="1500" spc="-1" strike="noStrike">
              <a:solidFill>
                <a:srgbClr val="23313b"/>
              </a:solidFill>
              <a:latin typeface="Lato"/>
            </a:endParaRPr>
          </a:p>
        </p:txBody>
      </p:sp>
      <p:sp>
        <p:nvSpPr>
          <p:cNvPr id="222" name=""/>
          <p:cNvSpPr/>
          <p:nvPr/>
        </p:nvSpPr>
        <p:spPr>
          <a:xfrm>
            <a:off x="1548000" y="4356000"/>
            <a:ext cx="9072000" cy="684000"/>
          </a:xfrm>
          <a:prstGeom prst="roundRect">
            <a:avLst/>
          </a:prstGeom>
          <a:solidFill>
            <a:srgbClr val="eaf2f5"/>
          </a:solidFill>
          <a:ln w="12600">
            <a:solidFill>
              <a:srgbClr val="1f7188"/>
            </a:solidFill>
            <a:round/>
          </a:ln>
        </p:spPr>
        <p:txBody>
          <a:bodyPr lIns="64800" rIns="64800" tIns="43200" bIns="43200" anchor="b" anchorCtr="1">
            <a:noAutofit/>
          </a:bodyPr>
          <a:p>
            <a:pPr algn="ctr">
              <a:buNone/>
            </a:pPr>
            <a:r>
              <a:rPr b="1" lang="en-US" sz="2100" spc="-1" strike="noStrike">
                <a:solidFill>
                  <a:srgbClr val="102b3f"/>
                </a:solidFill>
                <a:latin typeface="Lato"/>
              </a:rPr>
              <a:t>The observed behaviour belongs to this complete loop—not to the model in isolation.</a:t>
            </a:r>
            <a:endParaRPr b="1" lang="en-US" sz="2100" spc="-1" strike="noStrike">
              <a:solidFill>
                <a:srgbClr val="102b3f"/>
              </a:solidFill>
              <a:latin typeface="Lato"/>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3" name=""/>
          <p:cNvSpPr txBox="1"/>
          <p:nvPr/>
        </p:nvSpPr>
        <p:spPr>
          <a:xfrm>
            <a:off x="540000" y="252000"/>
            <a:ext cx="10800000" cy="464400"/>
          </a:xfrm>
          <a:prstGeom prst="rect">
            <a:avLst/>
          </a:prstGeom>
          <a:noFill/>
          <a:ln w="0">
            <a:noFill/>
          </a:ln>
        </p:spPr>
        <p:txBody>
          <a:bodyPr lIns="43200" rIns="43200" tIns="43200" bIns="43200" anchor="t">
            <a:noAutofit/>
          </a:bodyPr>
          <a:p>
            <a:r>
              <a:rPr b="1" lang="en-US" sz="2900" spc="-1" strike="noStrike">
                <a:solidFill>
                  <a:srgbClr val="102b3f"/>
                </a:solidFill>
                <a:latin typeface="Lato"/>
              </a:rPr>
              <a:t>Prompt interface: symbolic state → action ID</a:t>
            </a:r>
            <a:endParaRPr b="1" lang="en-US" sz="2900" spc="-1" strike="noStrike">
              <a:solidFill>
                <a:srgbClr val="102b3f"/>
              </a:solidFill>
              <a:latin typeface="Lato"/>
            </a:endParaRPr>
          </a:p>
        </p:txBody>
      </p:sp>
      <p:sp>
        <p:nvSpPr>
          <p:cNvPr id="224" name=""/>
          <p:cNvSpPr/>
          <p:nvPr/>
        </p:nvSpPr>
        <p:spPr>
          <a:xfrm>
            <a:off x="540000" y="6354000"/>
            <a:ext cx="11088000" cy="7200"/>
          </a:xfrm>
          <a:prstGeom prst="rect">
            <a:avLst/>
          </a:prstGeom>
          <a:solidFill>
            <a:srgbClr val="1f7188"/>
          </a:solidFill>
          <a:ln w="0">
            <a:noFill/>
          </a:ln>
        </p:spPr>
      </p:sp>
      <p:sp>
        <p:nvSpPr>
          <p:cNvPr id="225" name=""/>
          <p:cNvSpPr txBox="1"/>
          <p:nvPr/>
        </p:nvSpPr>
        <p:spPr>
          <a:xfrm>
            <a:off x="540000" y="6415200"/>
            <a:ext cx="7200000" cy="201240"/>
          </a:xfrm>
          <a:prstGeom prst="rect">
            <a:avLst/>
          </a:prstGeom>
          <a:noFill/>
          <a:ln w="0">
            <a:noFill/>
          </a:ln>
        </p:spPr>
        <p:txBody>
          <a:bodyPr lIns="43200" rIns="43200" tIns="43200" bIns="43200" anchor="t">
            <a:noAutofit/>
          </a:bodyPr>
          <a:p>
            <a:r>
              <a:rPr b="0" lang="en-US" sz="900" spc="-1" strike="noStrike">
                <a:solidFill>
                  <a:srgbClr val="5d6b75"/>
                </a:solidFill>
                <a:latin typeface="Lato"/>
              </a:rPr>
              <a:t>Master’s thesis · Uppsala University</a:t>
            </a:r>
            <a:endParaRPr b="0" lang="en-US" sz="900" spc="-1" strike="noStrike">
              <a:solidFill>
                <a:srgbClr val="5d6b75"/>
              </a:solidFill>
              <a:latin typeface="Lato"/>
            </a:endParaRPr>
          </a:p>
        </p:txBody>
      </p:sp>
      <p:sp>
        <p:nvSpPr>
          <p:cNvPr id="226" name=""/>
          <p:cNvSpPr txBox="1"/>
          <p:nvPr/>
        </p:nvSpPr>
        <p:spPr>
          <a:xfrm>
            <a:off x="9612000" y="6415200"/>
            <a:ext cx="2016000" cy="189000"/>
          </a:xfrm>
          <a:prstGeom prst="rect">
            <a:avLst/>
          </a:prstGeom>
          <a:noFill/>
          <a:ln w="0">
            <a:noFill/>
          </a:ln>
        </p:spPr>
        <p:txBody>
          <a:bodyPr lIns="43200" rIns="43200" tIns="43200" bIns="43200" anchor="t">
            <a:noAutofit/>
          </a:bodyPr>
          <a:p>
            <a:pPr algn="r">
              <a:buNone/>
            </a:pPr>
            <a:r>
              <a:rPr b="1" lang="en-US" sz="800" spc="-1" strike="noStrike">
                <a:solidFill>
                  <a:srgbClr val="1f7188"/>
                </a:solidFill>
                <a:latin typeface="Lato"/>
              </a:rPr>
              <a:t>IMPLEMENTATION</a:t>
            </a:r>
            <a:endParaRPr b="1" lang="en-US" sz="800" spc="-1" strike="noStrike">
              <a:solidFill>
                <a:srgbClr val="1f7188"/>
              </a:solidFill>
              <a:latin typeface="Lato"/>
            </a:endParaRPr>
          </a:p>
        </p:txBody>
      </p:sp>
      <p:sp>
        <p:nvSpPr>
          <p:cNvPr id="227" name=""/>
          <p:cNvSpPr/>
          <p:nvPr/>
        </p:nvSpPr>
        <p:spPr>
          <a:xfrm>
            <a:off x="540000" y="1080000"/>
            <a:ext cx="5256000" cy="4284000"/>
          </a:xfrm>
          <a:prstGeom prst="roundRect">
            <a:avLst/>
          </a:prstGeom>
          <a:solidFill>
            <a:srgbClr val="f7f9fa"/>
          </a:solidFill>
          <a:ln w="12600">
            <a:solidFill>
              <a:srgbClr val="d8e0e5"/>
            </a:solidFill>
            <a:round/>
          </a:ln>
        </p:spPr>
      </p:sp>
      <p:sp>
        <p:nvSpPr>
          <p:cNvPr id="228" name=""/>
          <p:cNvSpPr txBox="1"/>
          <p:nvPr/>
        </p:nvSpPr>
        <p:spPr>
          <a:xfrm>
            <a:off x="792000" y="1260000"/>
            <a:ext cx="4752000" cy="251280"/>
          </a:xfrm>
          <a:prstGeom prst="rect">
            <a:avLst/>
          </a:prstGeom>
          <a:noFill/>
          <a:ln w="0">
            <a:noFill/>
          </a:ln>
        </p:spPr>
        <p:txBody>
          <a:bodyPr lIns="43200" rIns="43200" tIns="43200" bIns="43200" anchor="t">
            <a:noAutofit/>
          </a:bodyPr>
          <a:p>
            <a:r>
              <a:rPr b="1" lang="en-US" sz="1300" spc="-1" strike="noStrike">
                <a:solidFill>
                  <a:srgbClr val="1f7188"/>
                </a:solidFill>
                <a:latin typeface="Lato"/>
              </a:rPr>
              <a:t>REPRESENTATIVE INPUT</a:t>
            </a:r>
            <a:endParaRPr b="1" lang="en-US" sz="1300" spc="-1" strike="noStrike">
              <a:solidFill>
                <a:srgbClr val="1f7188"/>
              </a:solidFill>
              <a:latin typeface="Lato"/>
            </a:endParaRPr>
          </a:p>
        </p:txBody>
      </p:sp>
      <p:sp>
        <p:nvSpPr>
          <p:cNvPr id="229" name=""/>
          <p:cNvSpPr txBox="1"/>
          <p:nvPr/>
        </p:nvSpPr>
        <p:spPr>
          <a:xfrm>
            <a:off x="792000" y="1674000"/>
            <a:ext cx="4680000" cy="3278520"/>
          </a:xfrm>
          <a:prstGeom prst="rect">
            <a:avLst/>
          </a:prstGeom>
          <a:noFill/>
          <a:ln w="0">
            <a:noFill/>
          </a:ln>
        </p:spPr>
        <p:txBody>
          <a:bodyPr lIns="43200" rIns="43200" tIns="43200" bIns="43200" anchor="t">
            <a:noAutofit/>
          </a:bodyPr>
          <a:p>
            <a:r>
              <a:rPr b="0" lang="en-US" sz="1700" spc="-1" strike="noStrike">
                <a:solidFill>
                  <a:srgbClr val="23313b"/>
                </a:solidFill>
                <a:latin typeface="Courier New"/>
              </a:rPr>
              <a:t>Current agent</a:t>
            </a:r>
            <a:endParaRPr b="0" lang="en-US" sz="1700" spc="-1" strike="noStrike">
              <a:solidFill>
                <a:srgbClr val="23313b"/>
              </a:solidFill>
              <a:latin typeface="Courier New"/>
            </a:endParaRPr>
          </a:p>
          <a:p>
            <a:r>
              <a:rPr b="0" lang="en-US" sz="1700" spc="-1" strike="noStrike">
                <a:solidFill>
                  <a:srgbClr val="23313b"/>
                </a:solidFill>
                <a:latin typeface="Courier New"/>
              </a:rPr>
              <a:t>agent_0 · AGV · position (8,3)</a:t>
            </a:r>
            <a:endParaRPr b="0" lang="en-US" sz="1700" spc="-1" strike="noStrike">
              <a:solidFill>
                <a:srgbClr val="23313b"/>
              </a:solidFill>
              <a:latin typeface="Courier New"/>
            </a:endParaRPr>
          </a:p>
          <a:p>
            <a:r>
              <a:rPr b="0" lang="en-US" sz="1700" spc="-1" strike="noStrike">
                <a:solidFill>
                  <a:srgbClr val="23313b"/>
                </a:solidFill>
                <a:latin typeface="Courier New"/>
              </a:rPr>
              <a:t>battery 72 · carrying none</a:t>
            </a:r>
            <a:endParaRPr b="0" lang="en-US" sz="1700" spc="-1" strike="noStrike">
              <a:solidFill>
                <a:srgbClr val="23313b"/>
              </a:solidFill>
              <a:latin typeface="Courier New"/>
            </a:endParaRPr>
          </a:p>
          <a:p>
            <a:endParaRPr b="0" lang="en-US" sz="1700" spc="-1" strike="noStrike">
              <a:solidFill>
                <a:srgbClr val="23313b"/>
              </a:solidFill>
              <a:latin typeface="Courier New"/>
            </a:endParaRPr>
          </a:p>
          <a:p>
            <a:r>
              <a:rPr b="0" lang="en-US" sz="1700" spc="-1" strike="noStrike">
                <a:solidFill>
                  <a:srgbClr val="23313b"/>
                </a:solidFill>
                <a:latin typeface="Courier New"/>
              </a:rPr>
              <a:t>Candidate actions</a:t>
            </a:r>
            <a:endParaRPr b="0" lang="en-US" sz="1700" spc="-1" strike="noStrike">
              <a:solidFill>
                <a:srgbClr val="23313b"/>
              </a:solidFill>
              <a:latin typeface="Courier New"/>
            </a:endParaRPr>
          </a:p>
          <a:p>
            <a:r>
              <a:rPr b="0" lang="en-US" sz="1700" spc="-1" strike="noStrike">
                <a:solidFill>
                  <a:srgbClr val="23313b"/>
                </a:solidFill>
                <a:latin typeface="Courier New"/>
              </a:rPr>
              <a:t>0   NOOP       distance 0</a:t>
            </a:r>
            <a:endParaRPr b="0" lang="en-US" sz="1700" spc="-1" strike="noStrike">
              <a:solidFill>
                <a:srgbClr val="23313b"/>
              </a:solidFill>
              <a:latin typeface="Courier New"/>
            </a:endParaRPr>
          </a:p>
          <a:p>
            <a:r>
              <a:rPr b="0" lang="en-US" sz="1700" spc="-1" strike="noStrike">
                <a:solidFill>
                  <a:srgbClr val="23313b"/>
                </a:solidFill>
                <a:latin typeface="Courier New"/>
              </a:rPr>
              <a:t>50  SHELF      distance 8</a:t>
            </a:r>
            <a:endParaRPr b="0" lang="en-US" sz="1700" spc="-1" strike="noStrike">
              <a:solidFill>
                <a:srgbClr val="23313b"/>
              </a:solidFill>
              <a:latin typeface="Courier New"/>
            </a:endParaRPr>
          </a:p>
          <a:p>
            <a:r>
              <a:rPr b="0" lang="en-US" sz="1700" spc="-1" strike="noStrike">
                <a:solidFill>
                  <a:srgbClr val="23313b"/>
                </a:solidFill>
                <a:latin typeface="Courier New"/>
              </a:rPr>
              <a:t>7   CHARGING   distance 11</a:t>
            </a:r>
            <a:endParaRPr b="0" lang="en-US" sz="1700" spc="-1" strike="noStrike">
              <a:solidFill>
                <a:srgbClr val="23313b"/>
              </a:solidFill>
              <a:latin typeface="Courier New"/>
            </a:endParaRPr>
          </a:p>
          <a:p>
            <a:endParaRPr b="0" lang="en-US" sz="1700" spc="-1" strike="noStrike">
              <a:solidFill>
                <a:srgbClr val="23313b"/>
              </a:solidFill>
              <a:latin typeface="Courier New"/>
            </a:endParaRPr>
          </a:p>
          <a:p>
            <a:r>
              <a:rPr b="0" lang="en-US" sz="1700" spc="-1" strike="noStrike">
                <a:solidFill>
                  <a:srgbClr val="23313b"/>
                </a:solidFill>
                <a:latin typeface="Courier New"/>
              </a:rPr>
              <a:t>Shared context</a:t>
            </a:r>
            <a:endParaRPr b="0" lang="en-US" sz="1700" spc="-1" strike="noStrike">
              <a:solidFill>
                <a:srgbClr val="23313b"/>
              </a:solidFill>
              <a:latin typeface="Courier New"/>
            </a:endParaRPr>
          </a:p>
          <a:p>
            <a:r>
              <a:rPr b="0" lang="en-US" sz="1700" spc="-1" strike="noStrike">
                <a:solidFill>
                  <a:srgbClr val="23313b"/>
                </a:solidFill>
                <a:latin typeface="Courier New"/>
              </a:rPr>
              <a:t>requested shelves · support needs</a:t>
            </a:r>
            <a:endParaRPr b="0" lang="en-US" sz="1700" spc="-1" strike="noStrike">
              <a:solidFill>
                <a:srgbClr val="23313b"/>
              </a:solidFill>
              <a:latin typeface="Courier New"/>
            </a:endParaRPr>
          </a:p>
          <a:p>
            <a:r>
              <a:rPr b="0" lang="en-US" sz="1700" spc="-1" strike="noStrike">
                <a:solidFill>
                  <a:srgbClr val="23313b"/>
                </a:solidFill>
                <a:latin typeface="Courier New"/>
              </a:rPr>
              <a:t>charging occupancy · conflict warnings</a:t>
            </a:r>
            <a:endParaRPr b="0" lang="en-US" sz="1700" spc="-1" strike="noStrike">
              <a:solidFill>
                <a:srgbClr val="23313b"/>
              </a:solidFill>
              <a:latin typeface="Courier New"/>
            </a:endParaRPr>
          </a:p>
        </p:txBody>
      </p:sp>
      <p:sp>
        <p:nvSpPr>
          <p:cNvPr id="230" name=""/>
          <p:cNvSpPr/>
          <p:nvPr/>
        </p:nvSpPr>
        <p:spPr>
          <a:xfrm>
            <a:off x="6300000" y="1080000"/>
            <a:ext cx="5328000" cy="1872000"/>
          </a:xfrm>
          <a:prstGeom prst="roundRect">
            <a:avLst/>
          </a:prstGeom>
          <a:solidFill>
            <a:srgbClr val="eaf2f5"/>
          </a:solidFill>
          <a:ln w="12600">
            <a:solidFill>
              <a:srgbClr val="1f7188"/>
            </a:solidFill>
            <a:round/>
          </a:ln>
        </p:spPr>
      </p:sp>
      <p:sp>
        <p:nvSpPr>
          <p:cNvPr id="231" name=""/>
          <p:cNvSpPr txBox="1"/>
          <p:nvPr/>
        </p:nvSpPr>
        <p:spPr>
          <a:xfrm>
            <a:off x="6552000" y="1260000"/>
            <a:ext cx="4824000" cy="251280"/>
          </a:xfrm>
          <a:prstGeom prst="rect">
            <a:avLst/>
          </a:prstGeom>
          <a:noFill/>
          <a:ln w="0">
            <a:noFill/>
          </a:ln>
        </p:spPr>
        <p:txBody>
          <a:bodyPr lIns="43200" rIns="43200" tIns="43200" bIns="43200" anchor="t">
            <a:noAutofit/>
          </a:bodyPr>
          <a:p>
            <a:r>
              <a:rPr b="1" lang="en-US" sz="1300" spc="-1" strike="noStrike">
                <a:solidFill>
                  <a:srgbClr val="1f7188"/>
                </a:solidFill>
                <a:latin typeface="Lato"/>
              </a:rPr>
              <a:t>NATURAL-LANGUAGE OUTPUT</a:t>
            </a:r>
            <a:endParaRPr b="1" lang="en-US" sz="1300" spc="-1" strike="noStrike">
              <a:solidFill>
                <a:srgbClr val="1f7188"/>
              </a:solidFill>
              <a:latin typeface="Lato"/>
            </a:endParaRPr>
          </a:p>
        </p:txBody>
      </p:sp>
      <p:sp>
        <p:nvSpPr>
          <p:cNvPr id="232" name=""/>
          <p:cNvSpPr txBox="1"/>
          <p:nvPr/>
        </p:nvSpPr>
        <p:spPr>
          <a:xfrm>
            <a:off x="6552000" y="1692000"/>
            <a:ext cx="4824000" cy="1123560"/>
          </a:xfrm>
          <a:prstGeom prst="rect">
            <a:avLst/>
          </a:prstGeom>
          <a:noFill/>
          <a:ln w="0">
            <a:noFill/>
          </a:ln>
        </p:spPr>
        <p:txBody>
          <a:bodyPr lIns="43200" rIns="43200" tIns="43200" bIns="43200" anchor="t">
            <a:noAutofit/>
          </a:bodyPr>
          <a:p>
            <a:r>
              <a:rPr b="0" lang="en-US" sz="1800" spc="-1" strike="noStrike">
                <a:solidFill>
                  <a:srgbClr val="23313b"/>
                </a:solidFill>
                <a:latin typeface="Courier New"/>
              </a:rPr>
              <a:t>Action: 50</a:t>
            </a:r>
            <a:endParaRPr b="0" lang="en-US" sz="1800" spc="-1" strike="noStrike">
              <a:solidFill>
                <a:srgbClr val="23313b"/>
              </a:solidFill>
              <a:latin typeface="Courier New"/>
            </a:endParaRPr>
          </a:p>
          <a:p>
            <a:r>
              <a:rPr b="0" lang="en-US" sz="1800" spc="-1" strike="noStrike">
                <a:solidFill>
                  <a:srgbClr val="23313b"/>
                </a:solidFill>
                <a:latin typeface="Courier New"/>
              </a:rPr>
              <a:t>Steps: 8</a:t>
            </a:r>
            <a:endParaRPr b="0" lang="en-US" sz="1800" spc="-1" strike="noStrike">
              <a:solidFill>
                <a:srgbClr val="23313b"/>
              </a:solidFill>
              <a:latin typeface="Courier New"/>
            </a:endParaRPr>
          </a:p>
          <a:p>
            <a:r>
              <a:rPr b="0" lang="en-US" sz="1800" spc="-1" strike="noStrike">
                <a:solidFill>
                  <a:srgbClr val="23313b"/>
                </a:solidFill>
                <a:latin typeface="Courier New"/>
              </a:rPr>
              <a:t>Reason: Move to the requested shelf.</a:t>
            </a:r>
            <a:endParaRPr b="0" lang="en-US" sz="1800" spc="-1" strike="noStrike">
              <a:solidFill>
                <a:srgbClr val="23313b"/>
              </a:solidFill>
              <a:latin typeface="Courier New"/>
            </a:endParaRPr>
          </a:p>
        </p:txBody>
      </p:sp>
      <p:sp>
        <p:nvSpPr>
          <p:cNvPr id="233" name=""/>
          <p:cNvSpPr/>
          <p:nvPr/>
        </p:nvSpPr>
        <p:spPr>
          <a:xfrm>
            <a:off x="6300000" y="3312000"/>
            <a:ext cx="5328000" cy="2052000"/>
          </a:xfrm>
          <a:prstGeom prst="roundRect">
            <a:avLst/>
          </a:prstGeom>
          <a:solidFill>
            <a:srgbClr val="ffffff"/>
          </a:solidFill>
          <a:ln w="12600">
            <a:solidFill>
              <a:srgbClr val="4f4593"/>
            </a:solidFill>
            <a:round/>
          </a:ln>
        </p:spPr>
      </p:sp>
      <p:sp>
        <p:nvSpPr>
          <p:cNvPr id="234" name=""/>
          <p:cNvSpPr txBox="1"/>
          <p:nvPr/>
        </p:nvSpPr>
        <p:spPr>
          <a:xfrm>
            <a:off x="6552000" y="3492000"/>
            <a:ext cx="4824000" cy="251280"/>
          </a:xfrm>
          <a:prstGeom prst="rect">
            <a:avLst/>
          </a:prstGeom>
          <a:noFill/>
          <a:ln w="0">
            <a:noFill/>
          </a:ln>
        </p:spPr>
        <p:txBody>
          <a:bodyPr lIns="43200" rIns="43200" tIns="43200" bIns="43200" anchor="t">
            <a:noAutofit/>
          </a:bodyPr>
          <a:p>
            <a:r>
              <a:rPr b="1" lang="en-US" sz="1300" spc="-1" strike="noStrike">
                <a:solidFill>
                  <a:srgbClr val="4f4593"/>
                </a:solidFill>
                <a:latin typeface="Lato"/>
              </a:rPr>
              <a:t>JSON OUTPUT</a:t>
            </a:r>
            <a:endParaRPr b="1" lang="en-US" sz="1300" spc="-1" strike="noStrike">
              <a:solidFill>
                <a:srgbClr val="4f4593"/>
              </a:solidFill>
              <a:latin typeface="Lato"/>
            </a:endParaRPr>
          </a:p>
        </p:txBody>
      </p:sp>
      <p:sp>
        <p:nvSpPr>
          <p:cNvPr id="235" name=""/>
          <p:cNvSpPr txBox="1"/>
          <p:nvPr/>
        </p:nvSpPr>
        <p:spPr>
          <a:xfrm>
            <a:off x="6552000" y="3996000"/>
            <a:ext cx="4824000" cy="823320"/>
          </a:xfrm>
          <a:prstGeom prst="rect">
            <a:avLst/>
          </a:prstGeom>
          <a:noFill/>
          <a:ln w="0">
            <a:noFill/>
          </a:ln>
        </p:spPr>
        <p:txBody>
          <a:bodyPr lIns="43200" rIns="43200" tIns="43200" bIns="43200" anchor="t">
            <a:noAutofit/>
          </a:bodyPr>
          <a:p>
            <a:r>
              <a:rPr b="0" lang="en-US" sz="1700" spc="-1" strike="noStrike">
                <a:solidFill>
                  <a:srgbClr val="23313b"/>
                </a:solidFill>
                <a:latin typeface="Courier New"/>
              </a:rPr>
              <a:t>{"reason":"Move to the requested shelf.",</a:t>
            </a:r>
            <a:endParaRPr b="0" lang="en-US" sz="1700" spc="-1" strike="noStrike">
              <a:solidFill>
                <a:srgbClr val="23313b"/>
              </a:solidFill>
              <a:latin typeface="Courier New"/>
            </a:endParaRPr>
          </a:p>
          <a:p>
            <a:r>
              <a:rPr b="0" lang="en-US" sz="1700" spc="-1" strike="noStrike">
                <a:solidFill>
                  <a:srgbClr val="23313b"/>
                </a:solidFill>
                <a:latin typeface="Courier New"/>
              </a:rPr>
              <a:t> </a:t>
            </a:r>
            <a:r>
              <a:rPr b="0" lang="en-US" sz="1700" spc="-1" strike="noStrike">
                <a:solidFill>
                  <a:srgbClr val="23313b"/>
                </a:solidFill>
                <a:latin typeface="Courier New"/>
              </a:rPr>
              <a:t>"action":50, "steps":8}</a:t>
            </a:r>
            <a:endParaRPr b="0" lang="en-US" sz="1700" spc="-1" strike="noStrike">
              <a:solidFill>
                <a:srgbClr val="23313b"/>
              </a:solidFill>
              <a:latin typeface="Courier New"/>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6" name=""/>
          <p:cNvSpPr txBox="1"/>
          <p:nvPr/>
        </p:nvSpPr>
        <p:spPr>
          <a:xfrm>
            <a:off x="540000" y="252000"/>
            <a:ext cx="10800000" cy="464400"/>
          </a:xfrm>
          <a:prstGeom prst="rect">
            <a:avLst/>
          </a:prstGeom>
          <a:noFill/>
          <a:ln w="0">
            <a:noFill/>
          </a:ln>
        </p:spPr>
        <p:txBody>
          <a:bodyPr lIns="43200" rIns="43200" tIns="43200" bIns="43200" anchor="t">
            <a:noAutofit/>
          </a:bodyPr>
          <a:p>
            <a:r>
              <a:rPr b="1" lang="en-US" sz="2900" spc="-1" strike="noStrike">
                <a:solidFill>
                  <a:srgbClr val="102b3f"/>
                </a:solidFill>
                <a:latin typeface="Lato"/>
              </a:rPr>
              <a:t>Two planning architectures</a:t>
            </a:r>
            <a:endParaRPr b="1" lang="en-US" sz="2900" spc="-1" strike="noStrike">
              <a:solidFill>
                <a:srgbClr val="102b3f"/>
              </a:solidFill>
              <a:latin typeface="Lato"/>
            </a:endParaRPr>
          </a:p>
        </p:txBody>
      </p:sp>
      <p:sp>
        <p:nvSpPr>
          <p:cNvPr id="237" name=""/>
          <p:cNvSpPr/>
          <p:nvPr/>
        </p:nvSpPr>
        <p:spPr>
          <a:xfrm>
            <a:off x="540000" y="6354000"/>
            <a:ext cx="11088000" cy="7200"/>
          </a:xfrm>
          <a:prstGeom prst="rect">
            <a:avLst/>
          </a:prstGeom>
          <a:solidFill>
            <a:srgbClr val="1f7188"/>
          </a:solidFill>
          <a:ln w="0">
            <a:noFill/>
          </a:ln>
        </p:spPr>
      </p:sp>
      <p:sp>
        <p:nvSpPr>
          <p:cNvPr id="238" name=""/>
          <p:cNvSpPr txBox="1"/>
          <p:nvPr/>
        </p:nvSpPr>
        <p:spPr>
          <a:xfrm>
            <a:off x="540000" y="6415200"/>
            <a:ext cx="7200000" cy="201240"/>
          </a:xfrm>
          <a:prstGeom prst="rect">
            <a:avLst/>
          </a:prstGeom>
          <a:noFill/>
          <a:ln w="0">
            <a:noFill/>
          </a:ln>
        </p:spPr>
        <p:txBody>
          <a:bodyPr lIns="43200" rIns="43200" tIns="43200" bIns="43200" anchor="t">
            <a:noAutofit/>
          </a:bodyPr>
          <a:p>
            <a:r>
              <a:rPr b="0" lang="en-US" sz="900" spc="-1" strike="noStrike">
                <a:solidFill>
                  <a:srgbClr val="5d6b75"/>
                </a:solidFill>
                <a:latin typeface="Lato"/>
              </a:rPr>
              <a:t>Master’s thesis · Uppsala University</a:t>
            </a:r>
            <a:endParaRPr b="0" lang="en-US" sz="900" spc="-1" strike="noStrike">
              <a:solidFill>
                <a:srgbClr val="5d6b75"/>
              </a:solidFill>
              <a:latin typeface="Lato"/>
            </a:endParaRPr>
          </a:p>
        </p:txBody>
      </p:sp>
      <p:sp>
        <p:nvSpPr>
          <p:cNvPr id="239" name=""/>
          <p:cNvSpPr txBox="1"/>
          <p:nvPr/>
        </p:nvSpPr>
        <p:spPr>
          <a:xfrm>
            <a:off x="9612000" y="6415200"/>
            <a:ext cx="2016000" cy="189000"/>
          </a:xfrm>
          <a:prstGeom prst="rect">
            <a:avLst/>
          </a:prstGeom>
          <a:noFill/>
          <a:ln w="0">
            <a:noFill/>
          </a:ln>
        </p:spPr>
        <p:txBody>
          <a:bodyPr lIns="43200" rIns="43200" tIns="43200" bIns="43200" anchor="t">
            <a:noAutofit/>
          </a:bodyPr>
          <a:p>
            <a:pPr algn="r">
              <a:buNone/>
            </a:pPr>
            <a:r>
              <a:rPr b="1" lang="en-US" sz="800" spc="-1" strike="noStrike">
                <a:solidFill>
                  <a:srgbClr val="1f7188"/>
                </a:solidFill>
                <a:latin typeface="Lato"/>
              </a:rPr>
              <a:t>IMPLEMENTATION</a:t>
            </a:r>
            <a:endParaRPr b="1" lang="en-US" sz="800" spc="-1" strike="noStrike">
              <a:solidFill>
                <a:srgbClr val="1f7188"/>
              </a:solidFill>
              <a:latin typeface="Lato"/>
            </a:endParaRPr>
          </a:p>
        </p:txBody>
      </p:sp>
      <p:sp>
        <p:nvSpPr>
          <p:cNvPr id="240" name=""/>
          <p:cNvSpPr/>
          <p:nvPr/>
        </p:nvSpPr>
        <p:spPr>
          <a:xfrm>
            <a:off x="648000" y="1224000"/>
            <a:ext cx="4932000" cy="3708000"/>
          </a:xfrm>
          <a:prstGeom prst="roundRect">
            <a:avLst/>
          </a:prstGeom>
          <a:solidFill>
            <a:srgbClr val="ffffff"/>
          </a:solidFill>
          <a:ln w="12600">
            <a:solidFill>
              <a:srgbClr val="d8e0e5"/>
            </a:solidFill>
            <a:round/>
          </a:ln>
        </p:spPr>
      </p:sp>
      <p:sp>
        <p:nvSpPr>
          <p:cNvPr id="241" name=""/>
          <p:cNvSpPr/>
          <p:nvPr/>
        </p:nvSpPr>
        <p:spPr>
          <a:xfrm>
            <a:off x="648000" y="1224000"/>
            <a:ext cx="64800" cy="3708000"/>
          </a:xfrm>
          <a:prstGeom prst="rect">
            <a:avLst/>
          </a:prstGeom>
          <a:solidFill>
            <a:srgbClr val="3e78b2"/>
          </a:solidFill>
          <a:ln w="0">
            <a:noFill/>
          </a:ln>
        </p:spPr>
      </p:sp>
      <p:sp>
        <p:nvSpPr>
          <p:cNvPr id="242" name=""/>
          <p:cNvSpPr txBox="1"/>
          <p:nvPr/>
        </p:nvSpPr>
        <p:spPr>
          <a:xfrm>
            <a:off x="810000" y="1350000"/>
            <a:ext cx="4680000" cy="240840"/>
          </a:xfrm>
          <a:prstGeom prst="rect">
            <a:avLst/>
          </a:prstGeom>
          <a:noFill/>
          <a:ln w="0">
            <a:noFill/>
          </a:ln>
        </p:spPr>
        <p:txBody>
          <a:bodyPr lIns="43200" rIns="43200" tIns="43200" bIns="43200" anchor="t">
            <a:noAutofit/>
          </a:bodyPr>
          <a:p>
            <a:r>
              <a:rPr b="1" lang="en-US" sz="1200" spc="-1" strike="noStrike">
                <a:solidFill>
                  <a:srgbClr val="3e78b2"/>
                </a:solidFill>
                <a:latin typeface="Lato"/>
              </a:rPr>
              <a:t>CENTRALIZED</a:t>
            </a:r>
            <a:endParaRPr b="1" lang="en-US" sz="1200" spc="-1" strike="noStrike">
              <a:solidFill>
                <a:srgbClr val="3e78b2"/>
              </a:solidFill>
              <a:latin typeface="Lato"/>
            </a:endParaRPr>
          </a:p>
        </p:txBody>
      </p:sp>
      <p:sp>
        <p:nvSpPr>
          <p:cNvPr id="243" name=""/>
          <p:cNvSpPr txBox="1"/>
          <p:nvPr/>
        </p:nvSpPr>
        <p:spPr>
          <a:xfrm>
            <a:off x="810000" y="1602000"/>
            <a:ext cx="4680000" cy="482400"/>
          </a:xfrm>
          <a:prstGeom prst="rect">
            <a:avLst/>
          </a:prstGeom>
          <a:noFill/>
          <a:ln w="0">
            <a:noFill/>
          </a:ln>
        </p:spPr>
        <p:txBody>
          <a:bodyPr lIns="43200" rIns="43200" tIns="43200" bIns="43200" anchor="t">
            <a:noAutofit/>
          </a:bodyPr>
          <a:p>
            <a:r>
              <a:rPr b="1" lang="en-US" sz="2200" spc="-1" strike="noStrike">
                <a:solidFill>
                  <a:srgbClr val="102b3f"/>
                </a:solidFill>
                <a:latin typeface="Lato"/>
              </a:rPr>
              <a:t>One joint call</a:t>
            </a:r>
            <a:endParaRPr b="1" lang="en-US" sz="2200" spc="-1" strike="noStrike">
              <a:solidFill>
                <a:srgbClr val="102b3f"/>
              </a:solidFill>
              <a:latin typeface="Lato"/>
            </a:endParaRPr>
          </a:p>
        </p:txBody>
      </p:sp>
      <p:sp>
        <p:nvSpPr>
          <p:cNvPr id="244" name=""/>
          <p:cNvSpPr txBox="1"/>
          <p:nvPr/>
        </p:nvSpPr>
        <p:spPr>
          <a:xfrm>
            <a:off x="810000" y="2214000"/>
            <a:ext cx="4662000" cy="2588400"/>
          </a:xfrm>
          <a:prstGeom prst="rect">
            <a:avLst/>
          </a:prstGeom>
          <a:noFill/>
          <a:ln w="0">
            <a:noFill/>
          </a:ln>
        </p:spPr>
        <p:txBody>
          <a:bodyPr lIns="43200" rIns="43200" tIns="43200" bIns="43200" anchor="t">
            <a:noAutofit/>
          </a:bodyPr>
          <a:p>
            <a:r>
              <a:rPr b="0" lang="en-US" sz="1600" spc="-1" strike="noStrike">
                <a:solidFill>
                  <a:srgbClr val="23313b"/>
                </a:solidFill>
                <a:latin typeface="Lato"/>
              </a:rPr>
              <a:t>Global snapshot</a:t>
            </a:r>
            <a:endParaRPr b="0" lang="en-US" sz="1600" spc="-1" strike="noStrike">
              <a:solidFill>
                <a:srgbClr val="23313b"/>
              </a:solidFill>
              <a:latin typeface="Lato"/>
            </a:endParaRPr>
          </a:p>
          <a:p>
            <a:r>
              <a:rPr b="0" lang="en-US" sz="1600" spc="-1" strike="noStrike">
                <a:solidFill>
                  <a:srgbClr val="23313b"/>
                </a:solidFill>
                <a:latin typeface="Lato"/>
              </a:rPr>
              <a:t>+ all replanned agents</a:t>
            </a:r>
            <a:endParaRPr b="0" lang="en-US" sz="1600" spc="-1" strike="noStrike">
              <a:solidFill>
                <a:srgbClr val="23313b"/>
              </a:solidFill>
              <a:latin typeface="Lato"/>
            </a:endParaRPr>
          </a:p>
          <a:p>
            <a:endParaRPr b="0" lang="en-US" sz="1600" spc="-1" strike="noStrike">
              <a:solidFill>
                <a:srgbClr val="23313b"/>
              </a:solidFill>
              <a:latin typeface="Lato"/>
            </a:endParaRPr>
          </a:p>
          <a:p>
            <a:r>
              <a:rPr b="0" lang="en-US" sz="1600" spc="-1" strike="noStrike">
                <a:solidFill>
                  <a:srgbClr val="23313b"/>
                </a:solidFill>
                <a:latin typeface="Lato"/>
              </a:rPr>
              <a:t>Output: joint action list</a:t>
            </a:r>
            <a:endParaRPr b="0" lang="en-US" sz="1600" spc="-1" strike="noStrike">
              <a:solidFill>
                <a:srgbClr val="23313b"/>
              </a:solidFill>
              <a:latin typeface="Lato"/>
            </a:endParaRPr>
          </a:p>
          <a:p>
            <a:endParaRPr b="0" lang="en-US" sz="1600" spc="-1" strike="noStrike">
              <a:solidFill>
                <a:srgbClr val="23313b"/>
              </a:solidFill>
              <a:latin typeface="Lato"/>
            </a:endParaRPr>
          </a:p>
          <a:p>
            <a:r>
              <a:rPr b="0" lang="en-US" sz="1600" spc="-1" strike="noStrike">
                <a:solidFill>
                  <a:srgbClr val="23313b"/>
                </a:solidFill>
                <a:latin typeface="Lato"/>
              </a:rPr>
              <a:t>Fewer model interactions,</a:t>
            </a:r>
            <a:endParaRPr b="0" lang="en-US" sz="1600" spc="-1" strike="noStrike">
              <a:solidFill>
                <a:srgbClr val="23313b"/>
              </a:solidFill>
              <a:latin typeface="Lato"/>
            </a:endParaRPr>
          </a:p>
          <a:p>
            <a:r>
              <a:rPr b="0" lang="en-US" sz="1600" spc="-1" strike="noStrike">
                <a:solidFill>
                  <a:srgbClr val="23313b"/>
                </a:solidFill>
                <a:latin typeface="Lato"/>
              </a:rPr>
              <a:t>but a more complex output problem.</a:t>
            </a:r>
            <a:endParaRPr b="0" lang="en-US" sz="1600" spc="-1" strike="noStrike">
              <a:solidFill>
                <a:srgbClr val="23313b"/>
              </a:solidFill>
              <a:latin typeface="Lato"/>
            </a:endParaRPr>
          </a:p>
        </p:txBody>
      </p:sp>
      <p:sp>
        <p:nvSpPr>
          <p:cNvPr id="245" name=""/>
          <p:cNvSpPr/>
          <p:nvPr/>
        </p:nvSpPr>
        <p:spPr>
          <a:xfrm>
            <a:off x="6588000" y="1224000"/>
            <a:ext cx="4932000" cy="3708000"/>
          </a:xfrm>
          <a:prstGeom prst="roundRect">
            <a:avLst/>
          </a:prstGeom>
          <a:solidFill>
            <a:srgbClr val="ffffff"/>
          </a:solidFill>
          <a:ln w="12600">
            <a:solidFill>
              <a:srgbClr val="d8e0e5"/>
            </a:solidFill>
            <a:round/>
          </a:ln>
        </p:spPr>
      </p:sp>
      <p:sp>
        <p:nvSpPr>
          <p:cNvPr id="246" name=""/>
          <p:cNvSpPr/>
          <p:nvPr/>
        </p:nvSpPr>
        <p:spPr>
          <a:xfrm>
            <a:off x="6588000" y="1224000"/>
            <a:ext cx="64800" cy="3708000"/>
          </a:xfrm>
          <a:prstGeom prst="rect">
            <a:avLst/>
          </a:prstGeom>
          <a:solidFill>
            <a:srgbClr val="f28c28"/>
          </a:solidFill>
          <a:ln w="0">
            <a:noFill/>
          </a:ln>
        </p:spPr>
      </p:sp>
      <p:sp>
        <p:nvSpPr>
          <p:cNvPr id="247" name=""/>
          <p:cNvSpPr txBox="1"/>
          <p:nvPr/>
        </p:nvSpPr>
        <p:spPr>
          <a:xfrm>
            <a:off x="6750000" y="1350000"/>
            <a:ext cx="4680000" cy="240840"/>
          </a:xfrm>
          <a:prstGeom prst="rect">
            <a:avLst/>
          </a:prstGeom>
          <a:noFill/>
          <a:ln w="0">
            <a:noFill/>
          </a:ln>
        </p:spPr>
        <p:txBody>
          <a:bodyPr lIns="43200" rIns="43200" tIns="43200" bIns="43200" anchor="t">
            <a:noAutofit/>
          </a:bodyPr>
          <a:p>
            <a:r>
              <a:rPr b="1" lang="en-US" sz="1200" spc="-1" strike="noStrike">
                <a:solidFill>
                  <a:srgbClr val="f28c28"/>
                </a:solidFill>
                <a:latin typeface="Lato"/>
              </a:rPr>
              <a:t>SHARED CONTEXT</a:t>
            </a:r>
            <a:endParaRPr b="1" lang="en-US" sz="1200" spc="-1" strike="noStrike">
              <a:solidFill>
                <a:srgbClr val="f28c28"/>
              </a:solidFill>
              <a:latin typeface="Lato"/>
            </a:endParaRPr>
          </a:p>
        </p:txBody>
      </p:sp>
      <p:sp>
        <p:nvSpPr>
          <p:cNvPr id="248" name=""/>
          <p:cNvSpPr txBox="1"/>
          <p:nvPr/>
        </p:nvSpPr>
        <p:spPr>
          <a:xfrm>
            <a:off x="6750000" y="1602000"/>
            <a:ext cx="4680000" cy="482400"/>
          </a:xfrm>
          <a:prstGeom prst="rect">
            <a:avLst/>
          </a:prstGeom>
          <a:noFill/>
          <a:ln w="0">
            <a:noFill/>
          </a:ln>
        </p:spPr>
        <p:txBody>
          <a:bodyPr lIns="43200" rIns="43200" tIns="43200" bIns="43200" anchor="t">
            <a:noAutofit/>
          </a:bodyPr>
          <a:p>
            <a:r>
              <a:rPr b="1" lang="en-US" sz="2200" spc="-1" strike="noStrike">
                <a:solidFill>
                  <a:srgbClr val="102b3f"/>
                </a:solidFill>
                <a:latin typeface="Lato"/>
              </a:rPr>
              <a:t>One call per agent</a:t>
            </a:r>
            <a:endParaRPr b="1" lang="en-US" sz="2200" spc="-1" strike="noStrike">
              <a:solidFill>
                <a:srgbClr val="102b3f"/>
              </a:solidFill>
              <a:latin typeface="Lato"/>
            </a:endParaRPr>
          </a:p>
        </p:txBody>
      </p:sp>
      <p:sp>
        <p:nvSpPr>
          <p:cNvPr id="249" name=""/>
          <p:cNvSpPr txBox="1"/>
          <p:nvPr/>
        </p:nvSpPr>
        <p:spPr>
          <a:xfrm>
            <a:off x="6750000" y="2214000"/>
            <a:ext cx="4662000" cy="2588400"/>
          </a:xfrm>
          <a:prstGeom prst="rect">
            <a:avLst/>
          </a:prstGeom>
          <a:noFill/>
          <a:ln w="0">
            <a:noFill/>
          </a:ln>
        </p:spPr>
        <p:txBody>
          <a:bodyPr lIns="43200" rIns="43200" tIns="43200" bIns="43200" anchor="t">
            <a:noAutofit/>
          </a:bodyPr>
          <a:p>
            <a:r>
              <a:rPr b="0" lang="en-US" sz="1600" spc="-1" strike="noStrike">
                <a:solidFill>
                  <a:srgbClr val="23313b"/>
                </a:solidFill>
                <a:latin typeface="Lato"/>
              </a:rPr>
              <a:t>Current-agent state</a:t>
            </a:r>
            <a:endParaRPr b="0" lang="en-US" sz="1600" spc="-1" strike="noStrike">
              <a:solidFill>
                <a:srgbClr val="23313b"/>
              </a:solidFill>
              <a:latin typeface="Lato"/>
            </a:endParaRPr>
          </a:p>
          <a:p>
            <a:r>
              <a:rPr b="0" lang="en-US" sz="1600" spc="-1" strike="noStrike">
                <a:solidFill>
                  <a:srgbClr val="23313b"/>
                </a:solidFill>
                <a:latin typeface="Lato"/>
              </a:rPr>
              <a:t>+ relevant shared information</a:t>
            </a:r>
            <a:endParaRPr b="0" lang="en-US" sz="1600" spc="-1" strike="noStrike">
              <a:solidFill>
                <a:srgbClr val="23313b"/>
              </a:solidFill>
              <a:latin typeface="Lato"/>
            </a:endParaRPr>
          </a:p>
          <a:p>
            <a:r>
              <a:rPr b="0" lang="en-US" sz="1600" spc="-1" strike="noStrike">
                <a:solidFill>
                  <a:srgbClr val="23313b"/>
                </a:solidFill>
                <a:latin typeface="Lato"/>
              </a:rPr>
              <a:t>+ accepted commitments</a:t>
            </a:r>
            <a:endParaRPr b="0" lang="en-US" sz="1600" spc="-1" strike="noStrike">
              <a:solidFill>
                <a:srgbClr val="23313b"/>
              </a:solidFill>
              <a:latin typeface="Lato"/>
            </a:endParaRPr>
          </a:p>
          <a:p>
            <a:endParaRPr b="0" lang="en-US" sz="1600" spc="-1" strike="noStrike">
              <a:solidFill>
                <a:srgbClr val="23313b"/>
              </a:solidFill>
              <a:latin typeface="Lato"/>
            </a:endParaRPr>
          </a:p>
          <a:p>
            <a:r>
              <a:rPr b="0" lang="en-US" sz="1600" spc="-1" strike="noStrike">
                <a:solidFill>
                  <a:srgbClr val="23313b"/>
                </a:solidFill>
                <a:latin typeface="Lato"/>
              </a:rPr>
              <a:t>Output: one action</a:t>
            </a:r>
            <a:endParaRPr b="0" lang="en-US" sz="1600" spc="-1" strike="noStrike">
              <a:solidFill>
                <a:srgbClr val="23313b"/>
              </a:solidFill>
              <a:latin typeface="Lato"/>
            </a:endParaRPr>
          </a:p>
          <a:p>
            <a:endParaRPr b="0" lang="en-US" sz="1600" spc="-1" strike="noStrike">
              <a:solidFill>
                <a:srgbClr val="23313b"/>
              </a:solidFill>
              <a:latin typeface="Lato"/>
            </a:endParaRPr>
          </a:p>
          <a:p>
            <a:r>
              <a:rPr b="0" lang="en-US" sz="1600" spc="-1" strike="noStrike">
                <a:solidFill>
                  <a:srgbClr val="23313b"/>
                </a:solidFill>
                <a:latin typeface="Lato"/>
              </a:rPr>
              <a:t>Simpler decisions, but more calls.</a:t>
            </a:r>
            <a:endParaRPr b="0" lang="en-US" sz="1600" spc="-1" strike="noStrike">
              <a:solidFill>
                <a:srgbClr val="23313b"/>
              </a:solidFill>
              <a:latin typeface="Lato"/>
            </a:endParaRPr>
          </a:p>
        </p:txBody>
      </p:sp>
      <p:sp>
        <p:nvSpPr>
          <p:cNvPr id="250" name=""/>
          <p:cNvSpPr txBox="1"/>
          <p:nvPr/>
        </p:nvSpPr>
        <p:spPr>
          <a:xfrm>
            <a:off x="5580000" y="2736000"/>
            <a:ext cx="1008000" cy="379440"/>
          </a:xfrm>
          <a:prstGeom prst="rect">
            <a:avLst/>
          </a:prstGeom>
          <a:noFill/>
          <a:ln w="0">
            <a:noFill/>
          </a:ln>
        </p:spPr>
        <p:txBody>
          <a:bodyPr lIns="43200" rIns="43200" tIns="43200" bIns="43200" anchor="t">
            <a:noAutofit/>
          </a:bodyPr>
          <a:p>
            <a:pPr algn="ctr">
              <a:buNone/>
            </a:pPr>
            <a:r>
              <a:rPr b="1" lang="en-US" sz="2300" spc="-1" strike="noStrike">
                <a:solidFill>
                  <a:srgbClr val="5d6b75"/>
                </a:solidFill>
                <a:latin typeface="Lato"/>
              </a:rPr>
              <a:t>VS</a:t>
            </a:r>
            <a:endParaRPr b="1" lang="en-US" sz="2300" spc="-1" strike="noStrike">
              <a:solidFill>
                <a:srgbClr val="5d6b75"/>
              </a:solidFill>
              <a:latin typeface="Lato"/>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1" name=""/>
          <p:cNvSpPr txBox="1"/>
          <p:nvPr/>
        </p:nvSpPr>
        <p:spPr>
          <a:xfrm>
            <a:off x="540000" y="252000"/>
            <a:ext cx="10800000" cy="464400"/>
          </a:xfrm>
          <a:prstGeom prst="rect">
            <a:avLst/>
          </a:prstGeom>
          <a:noFill/>
          <a:ln w="0">
            <a:noFill/>
          </a:ln>
        </p:spPr>
        <p:txBody>
          <a:bodyPr lIns="43200" rIns="43200" tIns="43200" bIns="43200" anchor="t">
            <a:noAutofit/>
          </a:bodyPr>
          <a:p>
            <a:r>
              <a:rPr b="1" lang="en-US" sz="2900" spc="-1" strike="noStrike">
                <a:solidFill>
                  <a:srgbClr val="102b3f"/>
                </a:solidFill>
                <a:latin typeface="Lato"/>
              </a:rPr>
              <a:t>Models and fixed inference conditions</a:t>
            </a:r>
            <a:endParaRPr b="1" lang="en-US" sz="2900" spc="-1" strike="noStrike">
              <a:solidFill>
                <a:srgbClr val="102b3f"/>
              </a:solidFill>
              <a:latin typeface="Lato"/>
            </a:endParaRPr>
          </a:p>
        </p:txBody>
      </p:sp>
      <p:sp>
        <p:nvSpPr>
          <p:cNvPr id="252" name=""/>
          <p:cNvSpPr/>
          <p:nvPr/>
        </p:nvSpPr>
        <p:spPr>
          <a:xfrm>
            <a:off x="540000" y="6354000"/>
            <a:ext cx="11088000" cy="7200"/>
          </a:xfrm>
          <a:prstGeom prst="rect">
            <a:avLst/>
          </a:prstGeom>
          <a:solidFill>
            <a:srgbClr val="1f7188"/>
          </a:solidFill>
          <a:ln w="0">
            <a:noFill/>
          </a:ln>
        </p:spPr>
      </p:sp>
      <p:sp>
        <p:nvSpPr>
          <p:cNvPr id="253" name=""/>
          <p:cNvSpPr txBox="1"/>
          <p:nvPr/>
        </p:nvSpPr>
        <p:spPr>
          <a:xfrm>
            <a:off x="540000" y="6415200"/>
            <a:ext cx="7200000" cy="201240"/>
          </a:xfrm>
          <a:prstGeom prst="rect">
            <a:avLst/>
          </a:prstGeom>
          <a:noFill/>
          <a:ln w="0">
            <a:noFill/>
          </a:ln>
        </p:spPr>
        <p:txBody>
          <a:bodyPr lIns="43200" rIns="43200" tIns="43200" bIns="43200" anchor="t">
            <a:noAutofit/>
          </a:bodyPr>
          <a:p>
            <a:r>
              <a:rPr b="0" lang="en-US" sz="900" spc="-1" strike="noStrike">
                <a:solidFill>
                  <a:srgbClr val="5d6b75"/>
                </a:solidFill>
                <a:latin typeface="Lato"/>
              </a:rPr>
              <a:t>Master’s thesis · Uppsala University</a:t>
            </a:r>
            <a:endParaRPr b="0" lang="en-US" sz="900" spc="-1" strike="noStrike">
              <a:solidFill>
                <a:srgbClr val="5d6b75"/>
              </a:solidFill>
              <a:latin typeface="Lato"/>
            </a:endParaRPr>
          </a:p>
        </p:txBody>
      </p:sp>
      <p:sp>
        <p:nvSpPr>
          <p:cNvPr id="254" name=""/>
          <p:cNvSpPr txBox="1"/>
          <p:nvPr/>
        </p:nvSpPr>
        <p:spPr>
          <a:xfrm>
            <a:off x="9612000" y="6415200"/>
            <a:ext cx="2016000" cy="189000"/>
          </a:xfrm>
          <a:prstGeom prst="rect">
            <a:avLst/>
          </a:prstGeom>
          <a:noFill/>
          <a:ln w="0">
            <a:noFill/>
          </a:ln>
        </p:spPr>
        <p:txBody>
          <a:bodyPr lIns="43200" rIns="43200" tIns="43200" bIns="43200" anchor="t">
            <a:noAutofit/>
          </a:bodyPr>
          <a:p>
            <a:pPr algn="r">
              <a:buNone/>
            </a:pPr>
            <a:r>
              <a:rPr b="1" lang="en-US" sz="800" spc="-1" strike="noStrike">
                <a:solidFill>
                  <a:srgbClr val="1f7188"/>
                </a:solidFill>
                <a:latin typeface="Lato"/>
              </a:rPr>
              <a:t>EXPERIMENT</a:t>
            </a:r>
            <a:endParaRPr b="1" lang="en-US" sz="800" spc="-1" strike="noStrike">
              <a:solidFill>
                <a:srgbClr val="1f7188"/>
              </a:solidFill>
              <a:latin typeface="Lato"/>
            </a:endParaRPr>
          </a:p>
        </p:txBody>
      </p:sp>
      <p:sp>
        <p:nvSpPr>
          <p:cNvPr id="255" name=""/>
          <p:cNvSpPr/>
          <p:nvPr/>
        </p:nvSpPr>
        <p:spPr>
          <a:xfrm>
            <a:off x="504000" y="1260000"/>
            <a:ext cx="3312000" cy="1296000"/>
          </a:xfrm>
          <a:prstGeom prst="roundRect">
            <a:avLst/>
          </a:prstGeom>
          <a:solidFill>
            <a:srgbClr val="ffffff"/>
          </a:solidFill>
          <a:ln w="12600">
            <a:solidFill>
              <a:srgbClr val="3e78b2"/>
            </a:solidFill>
            <a:round/>
          </a:ln>
        </p:spPr>
      </p:sp>
      <p:sp>
        <p:nvSpPr>
          <p:cNvPr id="256" name=""/>
          <p:cNvSpPr txBox="1"/>
          <p:nvPr/>
        </p:nvSpPr>
        <p:spPr>
          <a:xfrm>
            <a:off x="684000" y="1458000"/>
            <a:ext cx="1872000" cy="353520"/>
          </a:xfrm>
          <a:prstGeom prst="rect">
            <a:avLst/>
          </a:prstGeom>
          <a:noFill/>
          <a:ln w="0">
            <a:noFill/>
          </a:ln>
        </p:spPr>
        <p:txBody>
          <a:bodyPr lIns="43200" rIns="43200" tIns="43200" bIns="43200" anchor="t">
            <a:noAutofit/>
          </a:bodyPr>
          <a:p>
            <a:r>
              <a:rPr b="1" lang="en-US" sz="2100" spc="-1" strike="noStrike">
                <a:solidFill>
                  <a:srgbClr val="102b3f"/>
                </a:solidFill>
                <a:latin typeface="Lato"/>
              </a:rPr>
              <a:t>Llama 3.2</a:t>
            </a:r>
            <a:endParaRPr b="1" lang="en-US" sz="2100" spc="-1" strike="noStrike">
              <a:solidFill>
                <a:srgbClr val="102b3f"/>
              </a:solidFill>
              <a:latin typeface="Lato"/>
            </a:endParaRPr>
          </a:p>
        </p:txBody>
      </p:sp>
      <p:sp>
        <p:nvSpPr>
          <p:cNvPr id="257" name=""/>
          <p:cNvSpPr txBox="1"/>
          <p:nvPr/>
        </p:nvSpPr>
        <p:spPr>
          <a:xfrm>
            <a:off x="2700000" y="1476000"/>
            <a:ext cx="864000" cy="365760"/>
          </a:xfrm>
          <a:prstGeom prst="rect">
            <a:avLst/>
          </a:prstGeom>
          <a:noFill/>
          <a:ln w="0">
            <a:noFill/>
          </a:ln>
        </p:spPr>
        <p:txBody>
          <a:bodyPr lIns="43200" rIns="43200" tIns="43200" bIns="43200" anchor="t">
            <a:noAutofit/>
          </a:bodyPr>
          <a:p>
            <a:pPr algn="r">
              <a:buNone/>
            </a:pPr>
            <a:r>
              <a:rPr b="1" lang="en-US" sz="2200" spc="-1" strike="noStrike">
                <a:solidFill>
                  <a:srgbClr val="3e78b2"/>
                </a:solidFill>
                <a:latin typeface="Lato"/>
              </a:rPr>
              <a:t>1B</a:t>
            </a:r>
            <a:endParaRPr b="1" lang="en-US" sz="2200" spc="-1" strike="noStrike">
              <a:solidFill>
                <a:srgbClr val="3e78b2"/>
              </a:solidFill>
              <a:latin typeface="Lato"/>
            </a:endParaRPr>
          </a:p>
        </p:txBody>
      </p:sp>
      <p:sp>
        <p:nvSpPr>
          <p:cNvPr id="258" name=""/>
          <p:cNvSpPr txBox="1"/>
          <p:nvPr/>
        </p:nvSpPr>
        <p:spPr>
          <a:xfrm>
            <a:off x="684000" y="1944000"/>
            <a:ext cx="2808000" cy="251280"/>
          </a:xfrm>
          <a:prstGeom prst="rect">
            <a:avLst/>
          </a:prstGeom>
          <a:noFill/>
          <a:ln w="0">
            <a:noFill/>
          </a:ln>
        </p:spPr>
        <p:txBody>
          <a:bodyPr lIns="43200" rIns="43200" tIns="43200" bIns="43200" anchor="t">
            <a:noAutofit/>
          </a:bodyPr>
          <a:p>
            <a:r>
              <a:rPr b="0" lang="en-US" sz="1300" spc="-1" strike="noStrike">
                <a:solidFill>
                  <a:srgbClr val="5d6b75"/>
                </a:solidFill>
                <a:latin typeface="Lato"/>
              </a:rPr>
              <a:t>local · unchanged weights</a:t>
            </a:r>
            <a:endParaRPr b="0" lang="en-US" sz="1300" spc="-1" strike="noStrike">
              <a:solidFill>
                <a:srgbClr val="5d6b75"/>
              </a:solidFill>
              <a:latin typeface="Lato"/>
            </a:endParaRPr>
          </a:p>
        </p:txBody>
      </p:sp>
      <p:sp>
        <p:nvSpPr>
          <p:cNvPr id="259" name=""/>
          <p:cNvSpPr/>
          <p:nvPr/>
        </p:nvSpPr>
        <p:spPr>
          <a:xfrm>
            <a:off x="4284000" y="1260000"/>
            <a:ext cx="3312000" cy="1296000"/>
          </a:xfrm>
          <a:prstGeom prst="roundRect">
            <a:avLst/>
          </a:prstGeom>
          <a:solidFill>
            <a:srgbClr val="ffffff"/>
          </a:solidFill>
          <a:ln w="12600">
            <a:solidFill>
              <a:srgbClr val="3e78b2"/>
            </a:solidFill>
            <a:round/>
          </a:ln>
        </p:spPr>
      </p:sp>
      <p:sp>
        <p:nvSpPr>
          <p:cNvPr id="260" name=""/>
          <p:cNvSpPr txBox="1"/>
          <p:nvPr/>
        </p:nvSpPr>
        <p:spPr>
          <a:xfrm>
            <a:off x="4464000" y="1458000"/>
            <a:ext cx="1872000" cy="353520"/>
          </a:xfrm>
          <a:prstGeom prst="rect">
            <a:avLst/>
          </a:prstGeom>
          <a:noFill/>
          <a:ln w="0">
            <a:noFill/>
          </a:ln>
        </p:spPr>
        <p:txBody>
          <a:bodyPr lIns="43200" rIns="43200" tIns="43200" bIns="43200" anchor="t">
            <a:noAutofit/>
          </a:bodyPr>
          <a:p>
            <a:r>
              <a:rPr b="1" lang="en-US" sz="2100" spc="-1" strike="noStrike">
                <a:solidFill>
                  <a:srgbClr val="102b3f"/>
                </a:solidFill>
                <a:latin typeface="Lato"/>
              </a:rPr>
              <a:t>Llama 3.2</a:t>
            </a:r>
            <a:endParaRPr b="1" lang="en-US" sz="2100" spc="-1" strike="noStrike">
              <a:solidFill>
                <a:srgbClr val="102b3f"/>
              </a:solidFill>
              <a:latin typeface="Lato"/>
            </a:endParaRPr>
          </a:p>
        </p:txBody>
      </p:sp>
      <p:sp>
        <p:nvSpPr>
          <p:cNvPr id="261" name=""/>
          <p:cNvSpPr txBox="1"/>
          <p:nvPr/>
        </p:nvSpPr>
        <p:spPr>
          <a:xfrm>
            <a:off x="6480000" y="1476000"/>
            <a:ext cx="864000" cy="365760"/>
          </a:xfrm>
          <a:prstGeom prst="rect">
            <a:avLst/>
          </a:prstGeom>
          <a:noFill/>
          <a:ln w="0">
            <a:noFill/>
          </a:ln>
        </p:spPr>
        <p:txBody>
          <a:bodyPr lIns="43200" rIns="43200" tIns="43200" bIns="43200" anchor="t">
            <a:noAutofit/>
          </a:bodyPr>
          <a:p>
            <a:pPr algn="r">
              <a:buNone/>
            </a:pPr>
            <a:r>
              <a:rPr b="1" lang="en-US" sz="2200" spc="-1" strike="noStrike">
                <a:solidFill>
                  <a:srgbClr val="3e78b2"/>
                </a:solidFill>
                <a:latin typeface="Lato"/>
              </a:rPr>
              <a:t>3B</a:t>
            </a:r>
            <a:endParaRPr b="1" lang="en-US" sz="2200" spc="-1" strike="noStrike">
              <a:solidFill>
                <a:srgbClr val="3e78b2"/>
              </a:solidFill>
              <a:latin typeface="Lato"/>
            </a:endParaRPr>
          </a:p>
        </p:txBody>
      </p:sp>
      <p:sp>
        <p:nvSpPr>
          <p:cNvPr id="262" name=""/>
          <p:cNvSpPr txBox="1"/>
          <p:nvPr/>
        </p:nvSpPr>
        <p:spPr>
          <a:xfrm>
            <a:off x="4464000" y="1944000"/>
            <a:ext cx="2808000" cy="251280"/>
          </a:xfrm>
          <a:prstGeom prst="rect">
            <a:avLst/>
          </a:prstGeom>
          <a:noFill/>
          <a:ln w="0">
            <a:noFill/>
          </a:ln>
        </p:spPr>
        <p:txBody>
          <a:bodyPr lIns="43200" rIns="43200" tIns="43200" bIns="43200" anchor="t">
            <a:noAutofit/>
          </a:bodyPr>
          <a:p>
            <a:r>
              <a:rPr b="0" lang="en-US" sz="1300" spc="-1" strike="noStrike">
                <a:solidFill>
                  <a:srgbClr val="5d6b75"/>
                </a:solidFill>
                <a:latin typeface="Lato"/>
              </a:rPr>
              <a:t>local · unchanged weights</a:t>
            </a:r>
            <a:endParaRPr b="0" lang="en-US" sz="1300" spc="-1" strike="noStrike">
              <a:solidFill>
                <a:srgbClr val="5d6b75"/>
              </a:solidFill>
              <a:latin typeface="Lato"/>
            </a:endParaRPr>
          </a:p>
        </p:txBody>
      </p:sp>
      <p:sp>
        <p:nvSpPr>
          <p:cNvPr id="263" name=""/>
          <p:cNvSpPr/>
          <p:nvPr/>
        </p:nvSpPr>
        <p:spPr>
          <a:xfrm>
            <a:off x="8064000" y="1260000"/>
            <a:ext cx="3312000" cy="1296000"/>
          </a:xfrm>
          <a:prstGeom prst="roundRect">
            <a:avLst/>
          </a:prstGeom>
          <a:solidFill>
            <a:srgbClr val="ffffff"/>
          </a:solidFill>
          <a:ln w="12600">
            <a:solidFill>
              <a:srgbClr val="1f7188"/>
            </a:solidFill>
            <a:round/>
          </a:ln>
        </p:spPr>
      </p:sp>
      <p:sp>
        <p:nvSpPr>
          <p:cNvPr id="264" name=""/>
          <p:cNvSpPr txBox="1"/>
          <p:nvPr/>
        </p:nvSpPr>
        <p:spPr>
          <a:xfrm>
            <a:off x="8244000" y="1458000"/>
            <a:ext cx="1872000" cy="353520"/>
          </a:xfrm>
          <a:prstGeom prst="rect">
            <a:avLst/>
          </a:prstGeom>
          <a:noFill/>
          <a:ln w="0">
            <a:noFill/>
          </a:ln>
        </p:spPr>
        <p:txBody>
          <a:bodyPr lIns="43200" rIns="43200" tIns="43200" bIns="43200" anchor="t">
            <a:noAutofit/>
          </a:bodyPr>
          <a:p>
            <a:r>
              <a:rPr b="1" lang="en-US" sz="2100" spc="-1" strike="noStrike">
                <a:solidFill>
                  <a:srgbClr val="102b3f"/>
                </a:solidFill>
                <a:latin typeface="Lato"/>
              </a:rPr>
              <a:t>Mistral</a:t>
            </a:r>
            <a:endParaRPr b="1" lang="en-US" sz="2100" spc="-1" strike="noStrike">
              <a:solidFill>
                <a:srgbClr val="102b3f"/>
              </a:solidFill>
              <a:latin typeface="Lato"/>
            </a:endParaRPr>
          </a:p>
        </p:txBody>
      </p:sp>
      <p:sp>
        <p:nvSpPr>
          <p:cNvPr id="265" name=""/>
          <p:cNvSpPr txBox="1"/>
          <p:nvPr/>
        </p:nvSpPr>
        <p:spPr>
          <a:xfrm>
            <a:off x="10260000" y="1476000"/>
            <a:ext cx="864000" cy="365760"/>
          </a:xfrm>
          <a:prstGeom prst="rect">
            <a:avLst/>
          </a:prstGeom>
          <a:noFill/>
          <a:ln w="0">
            <a:noFill/>
          </a:ln>
        </p:spPr>
        <p:txBody>
          <a:bodyPr lIns="43200" rIns="43200" tIns="43200" bIns="43200" anchor="t">
            <a:noAutofit/>
          </a:bodyPr>
          <a:p>
            <a:pPr algn="r">
              <a:buNone/>
            </a:pPr>
            <a:r>
              <a:rPr b="1" lang="en-US" sz="2200" spc="-1" strike="noStrike">
                <a:solidFill>
                  <a:srgbClr val="1f7188"/>
                </a:solidFill>
                <a:latin typeface="Lato"/>
              </a:rPr>
              <a:t>7B</a:t>
            </a:r>
            <a:endParaRPr b="1" lang="en-US" sz="2200" spc="-1" strike="noStrike">
              <a:solidFill>
                <a:srgbClr val="1f7188"/>
              </a:solidFill>
              <a:latin typeface="Lato"/>
            </a:endParaRPr>
          </a:p>
        </p:txBody>
      </p:sp>
      <p:sp>
        <p:nvSpPr>
          <p:cNvPr id="266" name=""/>
          <p:cNvSpPr txBox="1"/>
          <p:nvPr/>
        </p:nvSpPr>
        <p:spPr>
          <a:xfrm>
            <a:off x="8244000" y="1944000"/>
            <a:ext cx="2808000" cy="251280"/>
          </a:xfrm>
          <a:prstGeom prst="rect">
            <a:avLst/>
          </a:prstGeom>
          <a:noFill/>
          <a:ln w="0">
            <a:noFill/>
          </a:ln>
        </p:spPr>
        <p:txBody>
          <a:bodyPr lIns="43200" rIns="43200" tIns="43200" bIns="43200" anchor="t">
            <a:noAutofit/>
          </a:bodyPr>
          <a:p>
            <a:r>
              <a:rPr b="0" lang="en-US" sz="1300" spc="-1" strike="noStrike">
                <a:solidFill>
                  <a:srgbClr val="5d6b75"/>
                </a:solidFill>
                <a:latin typeface="Lato"/>
              </a:rPr>
              <a:t>local · unchanged weights</a:t>
            </a:r>
            <a:endParaRPr b="0" lang="en-US" sz="1300" spc="-1" strike="noStrike">
              <a:solidFill>
                <a:srgbClr val="5d6b75"/>
              </a:solidFill>
              <a:latin typeface="Lato"/>
            </a:endParaRPr>
          </a:p>
        </p:txBody>
      </p:sp>
      <p:sp>
        <p:nvSpPr>
          <p:cNvPr id="267" name=""/>
          <p:cNvSpPr/>
          <p:nvPr/>
        </p:nvSpPr>
        <p:spPr>
          <a:xfrm>
            <a:off x="504000" y="2916000"/>
            <a:ext cx="3312000" cy="1296000"/>
          </a:xfrm>
          <a:prstGeom prst="roundRect">
            <a:avLst/>
          </a:prstGeom>
          <a:solidFill>
            <a:srgbClr val="ffffff"/>
          </a:solidFill>
          <a:ln w="12600">
            <a:solidFill>
              <a:srgbClr val="1f8a70"/>
            </a:solidFill>
            <a:round/>
          </a:ln>
        </p:spPr>
      </p:sp>
      <p:sp>
        <p:nvSpPr>
          <p:cNvPr id="268" name=""/>
          <p:cNvSpPr txBox="1"/>
          <p:nvPr/>
        </p:nvSpPr>
        <p:spPr>
          <a:xfrm>
            <a:off x="684000" y="3114000"/>
            <a:ext cx="1872000" cy="353520"/>
          </a:xfrm>
          <a:prstGeom prst="rect">
            <a:avLst/>
          </a:prstGeom>
          <a:noFill/>
          <a:ln w="0">
            <a:noFill/>
          </a:ln>
        </p:spPr>
        <p:txBody>
          <a:bodyPr lIns="43200" rIns="43200" tIns="43200" bIns="43200" anchor="t">
            <a:noAutofit/>
          </a:bodyPr>
          <a:p>
            <a:r>
              <a:rPr b="1" lang="en-US" sz="2100" spc="-1" strike="noStrike">
                <a:solidFill>
                  <a:srgbClr val="102b3f"/>
                </a:solidFill>
                <a:latin typeface="Lato"/>
              </a:rPr>
              <a:t>Gemma 3</a:t>
            </a:r>
            <a:endParaRPr b="1" lang="en-US" sz="2100" spc="-1" strike="noStrike">
              <a:solidFill>
                <a:srgbClr val="102b3f"/>
              </a:solidFill>
              <a:latin typeface="Lato"/>
            </a:endParaRPr>
          </a:p>
        </p:txBody>
      </p:sp>
      <p:sp>
        <p:nvSpPr>
          <p:cNvPr id="269" name=""/>
          <p:cNvSpPr txBox="1"/>
          <p:nvPr/>
        </p:nvSpPr>
        <p:spPr>
          <a:xfrm>
            <a:off x="2700000" y="3132000"/>
            <a:ext cx="864000" cy="365760"/>
          </a:xfrm>
          <a:prstGeom prst="rect">
            <a:avLst/>
          </a:prstGeom>
          <a:noFill/>
          <a:ln w="0">
            <a:noFill/>
          </a:ln>
        </p:spPr>
        <p:txBody>
          <a:bodyPr lIns="43200" rIns="43200" tIns="43200" bIns="43200" anchor="t">
            <a:noAutofit/>
          </a:bodyPr>
          <a:p>
            <a:pPr algn="r">
              <a:buNone/>
            </a:pPr>
            <a:r>
              <a:rPr b="1" lang="en-US" sz="2200" spc="-1" strike="noStrike">
                <a:solidFill>
                  <a:srgbClr val="1f8a70"/>
                </a:solidFill>
                <a:latin typeface="Lato"/>
              </a:rPr>
              <a:t>12B</a:t>
            </a:r>
            <a:endParaRPr b="1" lang="en-US" sz="2200" spc="-1" strike="noStrike">
              <a:solidFill>
                <a:srgbClr val="1f8a70"/>
              </a:solidFill>
              <a:latin typeface="Lato"/>
            </a:endParaRPr>
          </a:p>
        </p:txBody>
      </p:sp>
      <p:sp>
        <p:nvSpPr>
          <p:cNvPr id="270" name=""/>
          <p:cNvSpPr txBox="1"/>
          <p:nvPr/>
        </p:nvSpPr>
        <p:spPr>
          <a:xfrm>
            <a:off x="684000" y="3600000"/>
            <a:ext cx="2808000" cy="251280"/>
          </a:xfrm>
          <a:prstGeom prst="rect">
            <a:avLst/>
          </a:prstGeom>
          <a:noFill/>
          <a:ln w="0">
            <a:noFill/>
          </a:ln>
        </p:spPr>
        <p:txBody>
          <a:bodyPr lIns="43200" rIns="43200" tIns="43200" bIns="43200" anchor="t">
            <a:noAutofit/>
          </a:bodyPr>
          <a:p>
            <a:r>
              <a:rPr b="0" lang="en-US" sz="1300" spc="-1" strike="noStrike">
                <a:solidFill>
                  <a:srgbClr val="5d6b75"/>
                </a:solidFill>
                <a:latin typeface="Lato"/>
              </a:rPr>
              <a:t>local · unchanged weights</a:t>
            </a:r>
            <a:endParaRPr b="0" lang="en-US" sz="1300" spc="-1" strike="noStrike">
              <a:solidFill>
                <a:srgbClr val="5d6b75"/>
              </a:solidFill>
              <a:latin typeface="Lato"/>
            </a:endParaRPr>
          </a:p>
        </p:txBody>
      </p:sp>
      <p:sp>
        <p:nvSpPr>
          <p:cNvPr id="271" name=""/>
          <p:cNvSpPr/>
          <p:nvPr/>
        </p:nvSpPr>
        <p:spPr>
          <a:xfrm>
            <a:off x="4284000" y="2916000"/>
            <a:ext cx="3312000" cy="1296000"/>
          </a:xfrm>
          <a:prstGeom prst="roundRect">
            <a:avLst/>
          </a:prstGeom>
          <a:solidFill>
            <a:srgbClr val="ffffff"/>
          </a:solidFill>
          <a:ln w="12600">
            <a:solidFill>
              <a:srgbClr val="4f4593"/>
            </a:solidFill>
            <a:round/>
          </a:ln>
        </p:spPr>
      </p:sp>
      <p:sp>
        <p:nvSpPr>
          <p:cNvPr id="272" name=""/>
          <p:cNvSpPr txBox="1"/>
          <p:nvPr/>
        </p:nvSpPr>
        <p:spPr>
          <a:xfrm>
            <a:off x="4464000" y="3114000"/>
            <a:ext cx="1872000" cy="353520"/>
          </a:xfrm>
          <a:prstGeom prst="rect">
            <a:avLst/>
          </a:prstGeom>
          <a:noFill/>
          <a:ln w="0">
            <a:noFill/>
          </a:ln>
        </p:spPr>
        <p:txBody>
          <a:bodyPr lIns="43200" rIns="43200" tIns="43200" bIns="43200" anchor="t">
            <a:noAutofit/>
          </a:bodyPr>
          <a:p>
            <a:r>
              <a:rPr b="1" lang="en-US" sz="2100" spc="-1" strike="noStrike">
                <a:solidFill>
                  <a:srgbClr val="102b3f"/>
                </a:solidFill>
                <a:latin typeface="Lato"/>
              </a:rPr>
              <a:t>Phi-4</a:t>
            </a:r>
            <a:endParaRPr b="1" lang="en-US" sz="2100" spc="-1" strike="noStrike">
              <a:solidFill>
                <a:srgbClr val="102b3f"/>
              </a:solidFill>
              <a:latin typeface="Lato"/>
            </a:endParaRPr>
          </a:p>
        </p:txBody>
      </p:sp>
      <p:sp>
        <p:nvSpPr>
          <p:cNvPr id="273" name=""/>
          <p:cNvSpPr txBox="1"/>
          <p:nvPr/>
        </p:nvSpPr>
        <p:spPr>
          <a:xfrm>
            <a:off x="6480000" y="3132000"/>
            <a:ext cx="864000" cy="365760"/>
          </a:xfrm>
          <a:prstGeom prst="rect">
            <a:avLst/>
          </a:prstGeom>
          <a:noFill/>
          <a:ln w="0">
            <a:noFill/>
          </a:ln>
        </p:spPr>
        <p:txBody>
          <a:bodyPr lIns="43200" rIns="43200" tIns="43200" bIns="43200" anchor="t">
            <a:noAutofit/>
          </a:bodyPr>
          <a:p>
            <a:pPr algn="r">
              <a:buNone/>
            </a:pPr>
            <a:r>
              <a:rPr b="1" lang="en-US" sz="2200" spc="-1" strike="noStrike">
                <a:solidFill>
                  <a:srgbClr val="4f4593"/>
                </a:solidFill>
                <a:latin typeface="Lato"/>
              </a:rPr>
              <a:t>≈</a:t>
            </a:r>
            <a:r>
              <a:rPr b="1" lang="en-US" sz="2200" spc="-1" strike="noStrike">
                <a:solidFill>
                  <a:srgbClr val="4f4593"/>
                </a:solidFill>
                <a:latin typeface="Lato"/>
              </a:rPr>
              <a:t>14B</a:t>
            </a:r>
            <a:endParaRPr b="1" lang="en-US" sz="2200" spc="-1" strike="noStrike">
              <a:solidFill>
                <a:srgbClr val="4f4593"/>
              </a:solidFill>
              <a:latin typeface="Lato"/>
            </a:endParaRPr>
          </a:p>
        </p:txBody>
      </p:sp>
      <p:sp>
        <p:nvSpPr>
          <p:cNvPr id="274" name=""/>
          <p:cNvSpPr txBox="1"/>
          <p:nvPr/>
        </p:nvSpPr>
        <p:spPr>
          <a:xfrm>
            <a:off x="4464000" y="3600000"/>
            <a:ext cx="2808000" cy="251280"/>
          </a:xfrm>
          <a:prstGeom prst="rect">
            <a:avLst/>
          </a:prstGeom>
          <a:noFill/>
          <a:ln w="0">
            <a:noFill/>
          </a:ln>
        </p:spPr>
        <p:txBody>
          <a:bodyPr lIns="43200" rIns="43200" tIns="43200" bIns="43200" anchor="t">
            <a:noAutofit/>
          </a:bodyPr>
          <a:p>
            <a:r>
              <a:rPr b="0" lang="en-US" sz="1300" spc="-1" strike="noStrike">
                <a:solidFill>
                  <a:srgbClr val="5d6b75"/>
                </a:solidFill>
                <a:latin typeface="Lato"/>
              </a:rPr>
              <a:t>local · unchanged weights</a:t>
            </a:r>
            <a:endParaRPr b="0" lang="en-US" sz="1300" spc="-1" strike="noStrike">
              <a:solidFill>
                <a:srgbClr val="5d6b75"/>
              </a:solidFill>
              <a:latin typeface="Lato"/>
            </a:endParaRPr>
          </a:p>
        </p:txBody>
      </p:sp>
      <p:sp>
        <p:nvSpPr>
          <p:cNvPr id="275" name=""/>
          <p:cNvSpPr/>
          <p:nvPr/>
        </p:nvSpPr>
        <p:spPr>
          <a:xfrm>
            <a:off x="8064000" y="2916000"/>
            <a:ext cx="3312000" cy="1296000"/>
          </a:xfrm>
          <a:prstGeom prst="roundRect">
            <a:avLst/>
          </a:prstGeom>
          <a:solidFill>
            <a:srgbClr val="ffffff"/>
          </a:solidFill>
          <a:ln w="12600">
            <a:solidFill>
              <a:srgbClr val="f28c28"/>
            </a:solidFill>
            <a:round/>
          </a:ln>
        </p:spPr>
      </p:sp>
      <p:sp>
        <p:nvSpPr>
          <p:cNvPr id="276" name=""/>
          <p:cNvSpPr txBox="1"/>
          <p:nvPr/>
        </p:nvSpPr>
        <p:spPr>
          <a:xfrm>
            <a:off x="8244000" y="3114000"/>
            <a:ext cx="1872000" cy="353520"/>
          </a:xfrm>
          <a:prstGeom prst="rect">
            <a:avLst/>
          </a:prstGeom>
          <a:noFill/>
          <a:ln w="0">
            <a:noFill/>
          </a:ln>
        </p:spPr>
        <p:txBody>
          <a:bodyPr lIns="43200" rIns="43200" tIns="43200" bIns="43200" anchor="t">
            <a:noAutofit/>
          </a:bodyPr>
          <a:p>
            <a:r>
              <a:rPr b="1" lang="en-US" sz="2100" spc="-1" strike="noStrike">
                <a:solidFill>
                  <a:srgbClr val="102b3f"/>
                </a:solidFill>
                <a:latin typeface="Lato"/>
              </a:rPr>
              <a:t>Qwen 2.5</a:t>
            </a:r>
            <a:endParaRPr b="1" lang="en-US" sz="2100" spc="-1" strike="noStrike">
              <a:solidFill>
                <a:srgbClr val="102b3f"/>
              </a:solidFill>
              <a:latin typeface="Lato"/>
            </a:endParaRPr>
          </a:p>
        </p:txBody>
      </p:sp>
      <p:sp>
        <p:nvSpPr>
          <p:cNvPr id="277" name=""/>
          <p:cNvSpPr txBox="1"/>
          <p:nvPr/>
        </p:nvSpPr>
        <p:spPr>
          <a:xfrm>
            <a:off x="10260000" y="3132000"/>
            <a:ext cx="864000" cy="365760"/>
          </a:xfrm>
          <a:prstGeom prst="rect">
            <a:avLst/>
          </a:prstGeom>
          <a:noFill/>
          <a:ln w="0">
            <a:noFill/>
          </a:ln>
        </p:spPr>
        <p:txBody>
          <a:bodyPr lIns="43200" rIns="43200" tIns="43200" bIns="43200" anchor="t">
            <a:noAutofit/>
          </a:bodyPr>
          <a:p>
            <a:pPr algn="r">
              <a:buNone/>
            </a:pPr>
            <a:r>
              <a:rPr b="1" lang="en-US" sz="2200" spc="-1" strike="noStrike">
                <a:solidFill>
                  <a:srgbClr val="f28c28"/>
                </a:solidFill>
                <a:latin typeface="Lato"/>
              </a:rPr>
              <a:t>14B</a:t>
            </a:r>
            <a:endParaRPr b="1" lang="en-US" sz="2200" spc="-1" strike="noStrike">
              <a:solidFill>
                <a:srgbClr val="f28c28"/>
              </a:solidFill>
              <a:latin typeface="Lato"/>
            </a:endParaRPr>
          </a:p>
        </p:txBody>
      </p:sp>
      <p:sp>
        <p:nvSpPr>
          <p:cNvPr id="278" name=""/>
          <p:cNvSpPr txBox="1"/>
          <p:nvPr/>
        </p:nvSpPr>
        <p:spPr>
          <a:xfrm>
            <a:off x="8244000" y="3600000"/>
            <a:ext cx="2808000" cy="251280"/>
          </a:xfrm>
          <a:prstGeom prst="rect">
            <a:avLst/>
          </a:prstGeom>
          <a:noFill/>
          <a:ln w="0">
            <a:noFill/>
          </a:ln>
        </p:spPr>
        <p:txBody>
          <a:bodyPr lIns="43200" rIns="43200" tIns="43200" bIns="43200" anchor="t">
            <a:noAutofit/>
          </a:bodyPr>
          <a:p>
            <a:r>
              <a:rPr b="0" lang="en-US" sz="1300" spc="-1" strike="noStrike">
                <a:solidFill>
                  <a:srgbClr val="5d6b75"/>
                </a:solidFill>
                <a:latin typeface="Lato"/>
              </a:rPr>
              <a:t>local · unchanged weights</a:t>
            </a:r>
            <a:endParaRPr b="0" lang="en-US" sz="1300" spc="-1" strike="noStrike">
              <a:solidFill>
                <a:srgbClr val="5d6b75"/>
              </a:solidFill>
              <a:latin typeface="Lato"/>
            </a:endParaRPr>
          </a:p>
        </p:txBody>
      </p:sp>
      <p:sp>
        <p:nvSpPr>
          <p:cNvPr id="279" name=""/>
          <p:cNvSpPr/>
          <p:nvPr/>
        </p:nvSpPr>
        <p:spPr>
          <a:xfrm>
            <a:off x="2196000" y="4752000"/>
            <a:ext cx="7776000" cy="540000"/>
          </a:xfrm>
          <a:prstGeom prst="roundRect">
            <a:avLst/>
          </a:prstGeom>
          <a:solidFill>
            <a:srgbClr val="102b3f"/>
          </a:solidFill>
          <a:ln w="12600">
            <a:solidFill>
              <a:srgbClr val="102b3f"/>
            </a:solidFill>
            <a:round/>
          </a:ln>
        </p:spPr>
        <p:txBody>
          <a:bodyPr lIns="64800" rIns="64800" tIns="43200" bIns="43200" anchor="b" anchorCtr="1">
            <a:noAutofit/>
          </a:bodyPr>
          <a:p>
            <a:pPr algn="ctr">
              <a:buNone/>
            </a:pPr>
            <a:r>
              <a:rPr b="1" lang="en-US" sz="1800" spc="-1" strike="noStrike">
                <a:solidFill>
                  <a:srgbClr val="ffffff"/>
                </a:solidFill>
                <a:latin typeface="Lato"/>
              </a:rPr>
              <a:t>Fixed platform: NVIDIA RTX A4000 · Ollama · temperature 0.1</a:t>
            </a:r>
            <a:endParaRPr b="1" lang="en-US" sz="1800" spc="-1" strike="noStrike">
              <a:solidFill>
                <a:srgbClr val="ffffff"/>
              </a:solidFill>
              <a:latin typeface="Lato"/>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0" name=""/>
          <p:cNvSpPr txBox="1"/>
          <p:nvPr/>
        </p:nvSpPr>
        <p:spPr>
          <a:xfrm>
            <a:off x="540000" y="252000"/>
            <a:ext cx="10800000" cy="464400"/>
          </a:xfrm>
          <a:prstGeom prst="rect">
            <a:avLst/>
          </a:prstGeom>
          <a:noFill/>
          <a:ln w="0">
            <a:noFill/>
          </a:ln>
        </p:spPr>
        <p:txBody>
          <a:bodyPr lIns="43200" rIns="43200" tIns="43200" bIns="43200" anchor="t">
            <a:noAutofit/>
          </a:bodyPr>
          <a:p>
            <a:r>
              <a:rPr b="1" lang="en-US" sz="2900" spc="-1" strike="noStrike">
                <a:solidFill>
                  <a:srgbClr val="102b3f"/>
                </a:solidFill>
                <a:latin typeface="Lato"/>
              </a:rPr>
              <a:t>Controlled comparison and outcome measures</a:t>
            </a:r>
            <a:endParaRPr b="1" lang="en-US" sz="2900" spc="-1" strike="noStrike">
              <a:solidFill>
                <a:srgbClr val="102b3f"/>
              </a:solidFill>
              <a:latin typeface="Lato"/>
            </a:endParaRPr>
          </a:p>
        </p:txBody>
      </p:sp>
      <p:sp>
        <p:nvSpPr>
          <p:cNvPr id="281" name=""/>
          <p:cNvSpPr/>
          <p:nvPr/>
        </p:nvSpPr>
        <p:spPr>
          <a:xfrm>
            <a:off x="540000" y="6354000"/>
            <a:ext cx="11088000" cy="7200"/>
          </a:xfrm>
          <a:prstGeom prst="rect">
            <a:avLst/>
          </a:prstGeom>
          <a:solidFill>
            <a:srgbClr val="1f7188"/>
          </a:solidFill>
          <a:ln w="0">
            <a:noFill/>
          </a:ln>
        </p:spPr>
      </p:sp>
      <p:sp>
        <p:nvSpPr>
          <p:cNvPr id="282" name=""/>
          <p:cNvSpPr txBox="1"/>
          <p:nvPr/>
        </p:nvSpPr>
        <p:spPr>
          <a:xfrm>
            <a:off x="540000" y="6415200"/>
            <a:ext cx="7200000" cy="201240"/>
          </a:xfrm>
          <a:prstGeom prst="rect">
            <a:avLst/>
          </a:prstGeom>
          <a:noFill/>
          <a:ln w="0">
            <a:noFill/>
          </a:ln>
        </p:spPr>
        <p:txBody>
          <a:bodyPr lIns="43200" rIns="43200" tIns="43200" bIns="43200" anchor="t">
            <a:noAutofit/>
          </a:bodyPr>
          <a:p>
            <a:r>
              <a:rPr b="0" lang="en-US" sz="900" spc="-1" strike="noStrike">
                <a:solidFill>
                  <a:srgbClr val="5d6b75"/>
                </a:solidFill>
                <a:latin typeface="Lato"/>
              </a:rPr>
              <a:t>Master’s thesis · Uppsala University</a:t>
            </a:r>
            <a:endParaRPr b="0" lang="en-US" sz="900" spc="-1" strike="noStrike">
              <a:solidFill>
                <a:srgbClr val="5d6b75"/>
              </a:solidFill>
              <a:latin typeface="Lato"/>
            </a:endParaRPr>
          </a:p>
        </p:txBody>
      </p:sp>
      <p:sp>
        <p:nvSpPr>
          <p:cNvPr id="283" name=""/>
          <p:cNvSpPr txBox="1"/>
          <p:nvPr/>
        </p:nvSpPr>
        <p:spPr>
          <a:xfrm>
            <a:off x="9612000" y="6415200"/>
            <a:ext cx="2016000" cy="189000"/>
          </a:xfrm>
          <a:prstGeom prst="rect">
            <a:avLst/>
          </a:prstGeom>
          <a:noFill/>
          <a:ln w="0">
            <a:noFill/>
          </a:ln>
        </p:spPr>
        <p:txBody>
          <a:bodyPr lIns="43200" rIns="43200" tIns="43200" bIns="43200" anchor="t">
            <a:noAutofit/>
          </a:bodyPr>
          <a:p>
            <a:pPr algn="r">
              <a:buNone/>
            </a:pPr>
            <a:r>
              <a:rPr b="1" lang="en-US" sz="800" spc="-1" strike="noStrike">
                <a:solidFill>
                  <a:srgbClr val="1f7188"/>
                </a:solidFill>
                <a:latin typeface="Lato"/>
              </a:rPr>
              <a:t>EXPERIMENT</a:t>
            </a:r>
            <a:endParaRPr b="1" lang="en-US" sz="800" spc="-1" strike="noStrike">
              <a:solidFill>
                <a:srgbClr val="1f7188"/>
              </a:solidFill>
              <a:latin typeface="Lato"/>
            </a:endParaRPr>
          </a:p>
        </p:txBody>
      </p:sp>
      <p:sp>
        <p:nvSpPr>
          <p:cNvPr id="284" name=""/>
          <p:cNvSpPr txBox="1"/>
          <p:nvPr/>
        </p:nvSpPr>
        <p:spPr>
          <a:xfrm>
            <a:off x="612000" y="1116000"/>
            <a:ext cx="5220000" cy="251280"/>
          </a:xfrm>
          <a:prstGeom prst="rect">
            <a:avLst/>
          </a:prstGeom>
          <a:noFill/>
          <a:ln w="0">
            <a:noFill/>
          </a:ln>
        </p:spPr>
        <p:txBody>
          <a:bodyPr lIns="43200" rIns="43200" tIns="43200" bIns="43200" anchor="t">
            <a:noAutofit/>
          </a:bodyPr>
          <a:p>
            <a:r>
              <a:rPr b="1" lang="en-US" sz="1300" spc="-1" strike="noStrike">
                <a:solidFill>
                  <a:srgbClr val="1f7188"/>
                </a:solidFill>
                <a:latin typeface="Lato"/>
              </a:rPr>
              <a:t>SYSTEMATICALLY VARIED</a:t>
            </a:r>
            <a:endParaRPr b="1" lang="en-US" sz="1300" spc="-1" strike="noStrike">
              <a:solidFill>
                <a:srgbClr val="1f7188"/>
              </a:solidFill>
              <a:latin typeface="Lato"/>
            </a:endParaRPr>
          </a:p>
        </p:txBody>
      </p:sp>
      <p:sp>
        <p:nvSpPr>
          <p:cNvPr id="285" name=""/>
          <p:cNvSpPr/>
          <p:nvPr/>
        </p:nvSpPr>
        <p:spPr>
          <a:xfrm>
            <a:off x="612000" y="1548000"/>
            <a:ext cx="4536000" cy="486000"/>
          </a:xfrm>
          <a:prstGeom prst="roundRect">
            <a:avLst/>
          </a:prstGeom>
          <a:solidFill>
            <a:srgbClr val="ffffff"/>
          </a:solidFill>
          <a:ln w="12600">
            <a:solidFill>
              <a:srgbClr val="3e78b2"/>
            </a:solidFill>
            <a:round/>
          </a:ln>
        </p:spPr>
        <p:txBody>
          <a:bodyPr lIns="64800" rIns="64800" tIns="43200" bIns="43200" anchor="b" anchorCtr="1">
            <a:noAutofit/>
          </a:bodyPr>
          <a:p>
            <a:pPr algn="ctr">
              <a:buNone/>
            </a:pPr>
            <a:r>
              <a:rPr b="1" lang="en-US" sz="1900" spc="-1" strike="noStrike">
                <a:solidFill>
                  <a:srgbClr val="102b3f"/>
                </a:solidFill>
                <a:latin typeface="Lato"/>
              </a:rPr>
              <a:t>Model</a:t>
            </a:r>
            <a:endParaRPr b="1" lang="en-US" sz="1900" spc="-1" strike="noStrike">
              <a:solidFill>
                <a:srgbClr val="102b3f"/>
              </a:solidFill>
              <a:latin typeface="Lato"/>
            </a:endParaRPr>
          </a:p>
        </p:txBody>
      </p:sp>
      <p:sp>
        <p:nvSpPr>
          <p:cNvPr id="286" name=""/>
          <p:cNvSpPr/>
          <p:nvPr/>
        </p:nvSpPr>
        <p:spPr>
          <a:xfrm>
            <a:off x="612000" y="2232000"/>
            <a:ext cx="4536000" cy="486000"/>
          </a:xfrm>
          <a:prstGeom prst="roundRect">
            <a:avLst/>
          </a:prstGeom>
          <a:solidFill>
            <a:srgbClr val="ffffff"/>
          </a:solidFill>
          <a:ln w="12600">
            <a:solidFill>
              <a:srgbClr val="f28c28"/>
            </a:solidFill>
            <a:round/>
          </a:ln>
        </p:spPr>
        <p:txBody>
          <a:bodyPr lIns="64800" rIns="64800" tIns="43200" bIns="43200" anchor="b" anchorCtr="1">
            <a:noAutofit/>
          </a:bodyPr>
          <a:p>
            <a:pPr algn="ctr">
              <a:buNone/>
            </a:pPr>
            <a:r>
              <a:rPr b="1" lang="en-US" sz="1900" spc="-1" strike="noStrike">
                <a:solidFill>
                  <a:srgbClr val="102b3f"/>
                </a:solidFill>
                <a:latin typeface="Lato"/>
              </a:rPr>
              <a:t>Architecture</a:t>
            </a:r>
            <a:endParaRPr b="1" lang="en-US" sz="1900" spc="-1" strike="noStrike">
              <a:solidFill>
                <a:srgbClr val="102b3f"/>
              </a:solidFill>
              <a:latin typeface="Lato"/>
            </a:endParaRPr>
          </a:p>
        </p:txBody>
      </p:sp>
      <p:sp>
        <p:nvSpPr>
          <p:cNvPr id="287" name=""/>
          <p:cNvSpPr/>
          <p:nvPr/>
        </p:nvSpPr>
        <p:spPr>
          <a:xfrm>
            <a:off x="612000" y="2916000"/>
            <a:ext cx="4536000" cy="486000"/>
          </a:xfrm>
          <a:prstGeom prst="roundRect">
            <a:avLst/>
          </a:prstGeom>
          <a:solidFill>
            <a:srgbClr val="ffffff"/>
          </a:solidFill>
          <a:ln w="12600">
            <a:solidFill>
              <a:srgbClr val="1f8a70"/>
            </a:solidFill>
            <a:round/>
          </a:ln>
        </p:spPr>
        <p:txBody>
          <a:bodyPr lIns="64800" rIns="64800" tIns="43200" bIns="43200" anchor="b" anchorCtr="1">
            <a:noAutofit/>
          </a:bodyPr>
          <a:p>
            <a:pPr algn="ctr">
              <a:buNone/>
            </a:pPr>
            <a:r>
              <a:rPr b="1" lang="en-US" sz="1900" spc="-1" strike="noStrike">
                <a:solidFill>
                  <a:srgbClr val="102b3f"/>
                </a:solidFill>
                <a:latin typeface="Lato"/>
              </a:rPr>
              <a:t>Prompt</a:t>
            </a:r>
            <a:endParaRPr b="1" lang="en-US" sz="1900" spc="-1" strike="noStrike">
              <a:solidFill>
                <a:srgbClr val="102b3f"/>
              </a:solidFill>
              <a:latin typeface="Lato"/>
            </a:endParaRPr>
          </a:p>
        </p:txBody>
      </p:sp>
      <p:sp>
        <p:nvSpPr>
          <p:cNvPr id="288" name=""/>
          <p:cNvSpPr/>
          <p:nvPr/>
        </p:nvSpPr>
        <p:spPr>
          <a:xfrm>
            <a:off x="612000" y="3600000"/>
            <a:ext cx="4536000" cy="486000"/>
          </a:xfrm>
          <a:prstGeom prst="roundRect">
            <a:avLst/>
          </a:prstGeom>
          <a:solidFill>
            <a:srgbClr val="ffffff"/>
          </a:solidFill>
          <a:ln w="12600">
            <a:solidFill>
              <a:srgbClr val="4f4593"/>
            </a:solidFill>
            <a:round/>
          </a:ln>
        </p:spPr>
        <p:txBody>
          <a:bodyPr lIns="64800" rIns="64800" tIns="43200" bIns="43200" anchor="b" anchorCtr="1">
            <a:noAutofit/>
          </a:bodyPr>
          <a:p>
            <a:pPr algn="ctr">
              <a:buNone/>
            </a:pPr>
            <a:r>
              <a:rPr b="1" lang="en-US" sz="1900" spc="-1" strike="noStrike">
                <a:solidFill>
                  <a:srgbClr val="102b3f"/>
                </a:solidFill>
                <a:latin typeface="Lato"/>
              </a:rPr>
              <a:t>Scenario</a:t>
            </a:r>
            <a:endParaRPr b="1" lang="en-US" sz="1900" spc="-1" strike="noStrike">
              <a:solidFill>
                <a:srgbClr val="102b3f"/>
              </a:solidFill>
              <a:latin typeface="Lato"/>
            </a:endParaRPr>
          </a:p>
        </p:txBody>
      </p:sp>
      <p:sp>
        <p:nvSpPr>
          <p:cNvPr id="289" name=""/>
          <p:cNvSpPr/>
          <p:nvPr/>
        </p:nvSpPr>
        <p:spPr>
          <a:xfrm>
            <a:off x="612000" y="4284000"/>
            <a:ext cx="4536000" cy="486000"/>
          </a:xfrm>
          <a:prstGeom prst="roundRect">
            <a:avLst/>
          </a:prstGeom>
          <a:solidFill>
            <a:srgbClr val="ffffff"/>
          </a:solidFill>
          <a:ln w="12600">
            <a:solidFill>
              <a:srgbClr val="1f7188"/>
            </a:solidFill>
            <a:round/>
          </a:ln>
        </p:spPr>
        <p:txBody>
          <a:bodyPr lIns="64800" rIns="64800" tIns="43200" bIns="43200" anchor="b" anchorCtr="1">
            <a:noAutofit/>
          </a:bodyPr>
          <a:p>
            <a:pPr algn="ctr">
              <a:buNone/>
            </a:pPr>
            <a:r>
              <a:rPr b="1" lang="en-US" sz="1900" spc="-1" strike="noStrike">
                <a:solidFill>
                  <a:srgbClr val="102b3f"/>
                </a:solidFill>
                <a:latin typeface="Lato"/>
              </a:rPr>
              <a:t>Objective</a:t>
            </a:r>
            <a:endParaRPr b="1" lang="en-US" sz="1900" spc="-1" strike="noStrike">
              <a:solidFill>
                <a:srgbClr val="102b3f"/>
              </a:solidFill>
              <a:latin typeface="Lato"/>
            </a:endParaRPr>
          </a:p>
        </p:txBody>
      </p:sp>
      <p:sp>
        <p:nvSpPr>
          <p:cNvPr id="290" name=""/>
          <p:cNvSpPr txBox="1"/>
          <p:nvPr/>
        </p:nvSpPr>
        <p:spPr>
          <a:xfrm>
            <a:off x="6408000" y="1116000"/>
            <a:ext cx="5220000" cy="251280"/>
          </a:xfrm>
          <a:prstGeom prst="rect">
            <a:avLst/>
          </a:prstGeom>
          <a:noFill/>
          <a:ln w="0">
            <a:noFill/>
          </a:ln>
        </p:spPr>
        <p:txBody>
          <a:bodyPr lIns="43200" rIns="43200" tIns="43200" bIns="43200" anchor="t">
            <a:noAutofit/>
          </a:bodyPr>
          <a:p>
            <a:r>
              <a:rPr b="1" lang="en-US" sz="1300" spc="-1" strike="noStrike">
                <a:solidFill>
                  <a:srgbClr val="f28c28"/>
                </a:solidFill>
                <a:latin typeface="Lato"/>
              </a:rPr>
              <a:t>REPORTED MEASURES</a:t>
            </a:r>
            <a:endParaRPr b="1" lang="en-US" sz="1300" spc="-1" strike="noStrike">
              <a:solidFill>
                <a:srgbClr val="f28c28"/>
              </a:solidFill>
              <a:latin typeface="Lato"/>
            </a:endParaRPr>
          </a:p>
        </p:txBody>
      </p:sp>
      <p:sp>
        <p:nvSpPr>
          <p:cNvPr id="291" name=""/>
          <p:cNvSpPr/>
          <p:nvPr/>
        </p:nvSpPr>
        <p:spPr>
          <a:xfrm>
            <a:off x="6300000" y="1548000"/>
            <a:ext cx="5220000" cy="972000"/>
          </a:xfrm>
          <a:prstGeom prst="roundRect">
            <a:avLst/>
          </a:prstGeom>
          <a:solidFill>
            <a:srgbClr val="ffffff"/>
          </a:solidFill>
          <a:ln w="12600">
            <a:solidFill>
              <a:srgbClr val="d8e0e5"/>
            </a:solidFill>
            <a:round/>
          </a:ln>
        </p:spPr>
      </p:sp>
      <p:sp>
        <p:nvSpPr>
          <p:cNvPr id="292" name=""/>
          <p:cNvSpPr/>
          <p:nvPr/>
        </p:nvSpPr>
        <p:spPr>
          <a:xfrm>
            <a:off x="6300000" y="1548000"/>
            <a:ext cx="64800" cy="972000"/>
          </a:xfrm>
          <a:prstGeom prst="rect">
            <a:avLst/>
          </a:prstGeom>
          <a:solidFill>
            <a:srgbClr val="1f8a70"/>
          </a:solidFill>
          <a:ln w="0">
            <a:noFill/>
          </a:ln>
        </p:spPr>
      </p:sp>
      <p:sp>
        <p:nvSpPr>
          <p:cNvPr id="293" name=""/>
          <p:cNvSpPr txBox="1"/>
          <p:nvPr/>
        </p:nvSpPr>
        <p:spPr>
          <a:xfrm>
            <a:off x="6462000" y="1674000"/>
            <a:ext cx="4968000" cy="240840"/>
          </a:xfrm>
          <a:prstGeom prst="rect">
            <a:avLst/>
          </a:prstGeom>
          <a:noFill/>
          <a:ln w="0">
            <a:noFill/>
          </a:ln>
        </p:spPr>
        <p:txBody>
          <a:bodyPr lIns="43200" rIns="43200" tIns="43200" bIns="43200" anchor="t">
            <a:noAutofit/>
          </a:bodyPr>
          <a:p>
            <a:r>
              <a:rPr b="1" lang="en-US" sz="1200" spc="-1" strike="noStrike">
                <a:solidFill>
                  <a:srgbClr val="1f8a70"/>
                </a:solidFill>
                <a:latin typeface="Lato"/>
              </a:rPr>
              <a:t>PRIMARY</a:t>
            </a:r>
            <a:endParaRPr b="1" lang="en-US" sz="1200" spc="-1" strike="noStrike">
              <a:solidFill>
                <a:srgbClr val="1f8a70"/>
              </a:solidFill>
              <a:latin typeface="Lato"/>
            </a:endParaRPr>
          </a:p>
        </p:txBody>
      </p:sp>
      <p:sp>
        <p:nvSpPr>
          <p:cNvPr id="294" name=""/>
          <p:cNvSpPr txBox="1"/>
          <p:nvPr/>
        </p:nvSpPr>
        <p:spPr>
          <a:xfrm>
            <a:off x="6462000" y="1926000"/>
            <a:ext cx="4968000" cy="482400"/>
          </a:xfrm>
          <a:prstGeom prst="rect">
            <a:avLst/>
          </a:prstGeom>
          <a:noFill/>
          <a:ln w="0">
            <a:noFill/>
          </a:ln>
        </p:spPr>
        <p:txBody>
          <a:bodyPr lIns="43200" rIns="43200" tIns="43200" bIns="43200" anchor="t">
            <a:noAutofit/>
          </a:bodyPr>
          <a:p>
            <a:r>
              <a:rPr b="1" lang="en-US" sz="2200" spc="-1" strike="noStrike">
                <a:solidFill>
                  <a:srgbClr val="102b3f"/>
                </a:solidFill>
                <a:latin typeface="Lato"/>
              </a:rPr>
              <a:t>Mean shelf deliveries</a:t>
            </a:r>
            <a:endParaRPr b="1" lang="en-US" sz="2200" spc="-1" strike="noStrike">
              <a:solidFill>
                <a:srgbClr val="102b3f"/>
              </a:solidFill>
              <a:latin typeface="Lato"/>
            </a:endParaRPr>
          </a:p>
        </p:txBody>
      </p:sp>
      <p:sp>
        <p:nvSpPr>
          <p:cNvPr id="295" name=""/>
          <p:cNvSpPr txBox="1"/>
          <p:nvPr/>
        </p:nvSpPr>
        <p:spPr>
          <a:xfrm>
            <a:off x="6462000" y="2394000"/>
            <a:ext cx="4950000" cy="492120"/>
          </a:xfrm>
          <a:prstGeom prst="rect">
            <a:avLst/>
          </a:prstGeom>
          <a:noFill/>
          <a:ln w="0">
            <a:noFill/>
          </a:ln>
        </p:spPr>
        <p:txBody>
          <a:bodyPr lIns="43200" rIns="43200" tIns="43200" bIns="43200" anchor="t">
            <a:noAutofit/>
          </a:bodyPr>
          <a:p>
            <a:r>
              <a:rPr b="0" lang="en-US" sz="1600" spc="-1" strike="noStrike">
                <a:solidFill>
                  <a:srgbClr val="23313b"/>
                </a:solidFill>
                <a:latin typeface="Lato"/>
              </a:rPr>
              <a:t>How much of the common collaborative task was completed.</a:t>
            </a:r>
            <a:endParaRPr b="0" lang="en-US" sz="1600" spc="-1" strike="noStrike">
              <a:solidFill>
                <a:srgbClr val="23313b"/>
              </a:solidFill>
              <a:latin typeface="Lato"/>
            </a:endParaRPr>
          </a:p>
        </p:txBody>
      </p:sp>
      <p:sp>
        <p:nvSpPr>
          <p:cNvPr id="296" name=""/>
          <p:cNvSpPr/>
          <p:nvPr/>
        </p:nvSpPr>
        <p:spPr>
          <a:xfrm>
            <a:off x="6300000" y="2736000"/>
            <a:ext cx="5220000" cy="972000"/>
          </a:xfrm>
          <a:prstGeom prst="roundRect">
            <a:avLst/>
          </a:prstGeom>
          <a:solidFill>
            <a:srgbClr val="ffffff"/>
          </a:solidFill>
          <a:ln w="12600">
            <a:solidFill>
              <a:srgbClr val="d8e0e5"/>
            </a:solidFill>
            <a:round/>
          </a:ln>
        </p:spPr>
      </p:sp>
      <p:sp>
        <p:nvSpPr>
          <p:cNvPr id="297" name=""/>
          <p:cNvSpPr/>
          <p:nvPr/>
        </p:nvSpPr>
        <p:spPr>
          <a:xfrm>
            <a:off x="6300000" y="2736000"/>
            <a:ext cx="64800" cy="972000"/>
          </a:xfrm>
          <a:prstGeom prst="rect">
            <a:avLst/>
          </a:prstGeom>
          <a:solidFill>
            <a:srgbClr val="f28c28"/>
          </a:solidFill>
          <a:ln w="0">
            <a:noFill/>
          </a:ln>
        </p:spPr>
      </p:sp>
      <p:sp>
        <p:nvSpPr>
          <p:cNvPr id="298" name=""/>
          <p:cNvSpPr txBox="1"/>
          <p:nvPr/>
        </p:nvSpPr>
        <p:spPr>
          <a:xfrm>
            <a:off x="6462000" y="2862000"/>
            <a:ext cx="4968000" cy="240840"/>
          </a:xfrm>
          <a:prstGeom prst="rect">
            <a:avLst/>
          </a:prstGeom>
          <a:noFill/>
          <a:ln w="0">
            <a:noFill/>
          </a:ln>
        </p:spPr>
        <p:txBody>
          <a:bodyPr lIns="43200" rIns="43200" tIns="43200" bIns="43200" anchor="t">
            <a:noAutofit/>
          </a:bodyPr>
          <a:p>
            <a:r>
              <a:rPr b="1" lang="en-US" sz="1200" spc="-1" strike="noStrike">
                <a:solidFill>
                  <a:srgbClr val="f28c28"/>
                </a:solidFill>
                <a:latin typeface="Lato"/>
              </a:rPr>
              <a:t>SECONDARY</a:t>
            </a:r>
            <a:endParaRPr b="1" lang="en-US" sz="1200" spc="-1" strike="noStrike">
              <a:solidFill>
                <a:srgbClr val="f28c28"/>
              </a:solidFill>
              <a:latin typeface="Lato"/>
            </a:endParaRPr>
          </a:p>
        </p:txBody>
      </p:sp>
      <p:sp>
        <p:nvSpPr>
          <p:cNvPr id="299" name=""/>
          <p:cNvSpPr txBox="1"/>
          <p:nvPr/>
        </p:nvSpPr>
        <p:spPr>
          <a:xfrm>
            <a:off x="6462000" y="3114000"/>
            <a:ext cx="4968000" cy="482400"/>
          </a:xfrm>
          <a:prstGeom prst="rect">
            <a:avLst/>
          </a:prstGeom>
          <a:noFill/>
          <a:ln w="0">
            <a:noFill/>
          </a:ln>
        </p:spPr>
        <p:txBody>
          <a:bodyPr lIns="43200" rIns="43200" tIns="43200" bIns="43200" anchor="t">
            <a:noAutofit/>
          </a:bodyPr>
          <a:p>
            <a:r>
              <a:rPr b="1" lang="en-US" sz="2200" spc="-1" strike="noStrike">
                <a:solidFill>
                  <a:srgbClr val="102b3f"/>
                </a:solidFill>
                <a:latin typeface="Lato"/>
              </a:rPr>
              <a:t>Mean LLM calls</a:t>
            </a:r>
            <a:endParaRPr b="1" lang="en-US" sz="2200" spc="-1" strike="noStrike">
              <a:solidFill>
                <a:srgbClr val="102b3f"/>
              </a:solidFill>
              <a:latin typeface="Lato"/>
            </a:endParaRPr>
          </a:p>
        </p:txBody>
      </p:sp>
      <p:sp>
        <p:nvSpPr>
          <p:cNvPr id="300" name=""/>
          <p:cNvSpPr txBox="1"/>
          <p:nvPr/>
        </p:nvSpPr>
        <p:spPr>
          <a:xfrm>
            <a:off x="6462000" y="3582000"/>
            <a:ext cx="4950000" cy="289440"/>
          </a:xfrm>
          <a:prstGeom prst="rect">
            <a:avLst/>
          </a:prstGeom>
          <a:noFill/>
          <a:ln w="0">
            <a:noFill/>
          </a:ln>
        </p:spPr>
        <p:txBody>
          <a:bodyPr lIns="43200" rIns="43200" tIns="43200" bIns="43200" anchor="t">
            <a:noAutofit/>
          </a:bodyPr>
          <a:p>
            <a:r>
              <a:rPr b="0" lang="en-US" sz="1600" spc="-1" strike="noStrike">
                <a:solidFill>
                  <a:srgbClr val="23313b"/>
                </a:solidFill>
                <a:latin typeface="Lato"/>
              </a:rPr>
              <a:t>Frequency of model interactions during a run.</a:t>
            </a:r>
            <a:endParaRPr b="0" lang="en-US" sz="1600" spc="-1" strike="noStrike">
              <a:solidFill>
                <a:srgbClr val="23313b"/>
              </a:solidFill>
              <a:latin typeface="Lato"/>
            </a:endParaRPr>
          </a:p>
        </p:txBody>
      </p:sp>
      <p:sp>
        <p:nvSpPr>
          <p:cNvPr id="301" name=""/>
          <p:cNvSpPr/>
          <p:nvPr/>
        </p:nvSpPr>
        <p:spPr>
          <a:xfrm>
            <a:off x="6300000" y="3924000"/>
            <a:ext cx="5220000" cy="972000"/>
          </a:xfrm>
          <a:prstGeom prst="roundRect">
            <a:avLst/>
          </a:prstGeom>
          <a:solidFill>
            <a:srgbClr val="ffffff"/>
          </a:solidFill>
          <a:ln w="12600">
            <a:solidFill>
              <a:srgbClr val="d8e0e5"/>
            </a:solidFill>
            <a:round/>
          </a:ln>
        </p:spPr>
      </p:sp>
      <p:sp>
        <p:nvSpPr>
          <p:cNvPr id="302" name=""/>
          <p:cNvSpPr/>
          <p:nvPr/>
        </p:nvSpPr>
        <p:spPr>
          <a:xfrm>
            <a:off x="6300000" y="3924000"/>
            <a:ext cx="64800" cy="972000"/>
          </a:xfrm>
          <a:prstGeom prst="rect">
            <a:avLst/>
          </a:prstGeom>
          <a:solidFill>
            <a:srgbClr val="3e78b2"/>
          </a:solidFill>
          <a:ln w="0">
            <a:noFill/>
          </a:ln>
        </p:spPr>
      </p:sp>
      <p:sp>
        <p:nvSpPr>
          <p:cNvPr id="303" name=""/>
          <p:cNvSpPr txBox="1"/>
          <p:nvPr/>
        </p:nvSpPr>
        <p:spPr>
          <a:xfrm>
            <a:off x="6462000" y="4050000"/>
            <a:ext cx="4968000" cy="240840"/>
          </a:xfrm>
          <a:prstGeom prst="rect">
            <a:avLst/>
          </a:prstGeom>
          <a:noFill/>
          <a:ln w="0">
            <a:noFill/>
          </a:ln>
        </p:spPr>
        <p:txBody>
          <a:bodyPr lIns="43200" rIns="43200" tIns="43200" bIns="43200" anchor="t">
            <a:noAutofit/>
          </a:bodyPr>
          <a:p>
            <a:r>
              <a:rPr b="1" lang="en-US" sz="1200" spc="-1" strike="noStrike">
                <a:solidFill>
                  <a:srgbClr val="3e78b2"/>
                </a:solidFill>
                <a:latin typeface="Lato"/>
              </a:rPr>
              <a:t>SECONDARY</a:t>
            </a:r>
            <a:endParaRPr b="1" lang="en-US" sz="1200" spc="-1" strike="noStrike">
              <a:solidFill>
                <a:srgbClr val="3e78b2"/>
              </a:solidFill>
              <a:latin typeface="Lato"/>
            </a:endParaRPr>
          </a:p>
        </p:txBody>
      </p:sp>
      <p:sp>
        <p:nvSpPr>
          <p:cNvPr id="304" name=""/>
          <p:cNvSpPr txBox="1"/>
          <p:nvPr/>
        </p:nvSpPr>
        <p:spPr>
          <a:xfrm>
            <a:off x="6462000" y="4302000"/>
            <a:ext cx="4968000" cy="482400"/>
          </a:xfrm>
          <a:prstGeom prst="rect">
            <a:avLst/>
          </a:prstGeom>
          <a:noFill/>
          <a:ln w="0">
            <a:noFill/>
          </a:ln>
        </p:spPr>
        <p:txBody>
          <a:bodyPr lIns="43200" rIns="43200" tIns="43200" bIns="43200" anchor="t">
            <a:noAutofit/>
          </a:bodyPr>
          <a:p>
            <a:r>
              <a:rPr b="1" lang="en-US" sz="2200" spc="-1" strike="noStrike">
                <a:solidFill>
                  <a:srgbClr val="102b3f"/>
                </a:solidFill>
                <a:latin typeface="Lato"/>
              </a:rPr>
              <a:t>Deliveries / 1000 calls</a:t>
            </a:r>
            <a:endParaRPr b="1" lang="en-US" sz="2200" spc="-1" strike="noStrike">
              <a:solidFill>
                <a:srgbClr val="102b3f"/>
              </a:solidFill>
              <a:latin typeface="Lato"/>
            </a:endParaRPr>
          </a:p>
        </p:txBody>
      </p:sp>
      <p:sp>
        <p:nvSpPr>
          <p:cNvPr id="305" name=""/>
          <p:cNvSpPr txBox="1"/>
          <p:nvPr/>
        </p:nvSpPr>
        <p:spPr>
          <a:xfrm>
            <a:off x="6462000" y="4770000"/>
            <a:ext cx="4950000" cy="492120"/>
          </a:xfrm>
          <a:prstGeom prst="rect">
            <a:avLst/>
          </a:prstGeom>
          <a:noFill/>
          <a:ln w="0">
            <a:noFill/>
          </a:ln>
        </p:spPr>
        <p:txBody>
          <a:bodyPr lIns="43200" rIns="43200" tIns="43200" bIns="43200" anchor="t">
            <a:noAutofit/>
          </a:bodyPr>
          <a:p>
            <a:r>
              <a:rPr b="0" lang="en-US" sz="1600" spc="-1" strike="noStrike">
                <a:solidFill>
                  <a:srgbClr val="23313b"/>
                </a:solidFill>
                <a:latin typeface="Lato"/>
              </a:rPr>
              <a:t>Call-normalised productivity; not latency or compute cost.</a:t>
            </a:r>
            <a:endParaRPr b="0" lang="en-US" sz="1600" spc="-1" strike="noStrike">
              <a:solidFill>
                <a:srgbClr val="23313b"/>
              </a:solidFill>
              <a:latin typeface="Lato"/>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6" name=""/>
          <p:cNvSpPr txBox="1"/>
          <p:nvPr/>
        </p:nvSpPr>
        <p:spPr>
          <a:xfrm>
            <a:off x="540000" y="252000"/>
            <a:ext cx="10800000" cy="464400"/>
          </a:xfrm>
          <a:prstGeom prst="rect">
            <a:avLst/>
          </a:prstGeom>
          <a:noFill/>
          <a:ln w="0">
            <a:noFill/>
          </a:ln>
        </p:spPr>
        <p:txBody>
          <a:bodyPr lIns="43200" rIns="43200" tIns="43200" bIns="43200" anchor="t">
            <a:noAutofit/>
          </a:bodyPr>
          <a:p>
            <a:r>
              <a:rPr b="1" lang="en-US" sz="2900" spc="-1" strike="noStrike">
                <a:solidFill>
                  <a:srgbClr val="102b3f"/>
                </a:solidFill>
                <a:latin typeface="Lato"/>
              </a:rPr>
              <a:t>Results at a glance</a:t>
            </a:r>
            <a:endParaRPr b="1" lang="en-US" sz="2900" spc="-1" strike="noStrike">
              <a:solidFill>
                <a:srgbClr val="102b3f"/>
              </a:solidFill>
              <a:latin typeface="Lato"/>
            </a:endParaRPr>
          </a:p>
        </p:txBody>
      </p:sp>
      <p:sp>
        <p:nvSpPr>
          <p:cNvPr id="307" name=""/>
          <p:cNvSpPr/>
          <p:nvPr/>
        </p:nvSpPr>
        <p:spPr>
          <a:xfrm>
            <a:off x="540000" y="6354000"/>
            <a:ext cx="11088000" cy="7200"/>
          </a:xfrm>
          <a:prstGeom prst="rect">
            <a:avLst/>
          </a:prstGeom>
          <a:solidFill>
            <a:srgbClr val="1f7188"/>
          </a:solidFill>
          <a:ln w="0">
            <a:noFill/>
          </a:ln>
        </p:spPr>
      </p:sp>
      <p:sp>
        <p:nvSpPr>
          <p:cNvPr id="308" name=""/>
          <p:cNvSpPr txBox="1"/>
          <p:nvPr/>
        </p:nvSpPr>
        <p:spPr>
          <a:xfrm>
            <a:off x="540000" y="6415200"/>
            <a:ext cx="7200000" cy="201240"/>
          </a:xfrm>
          <a:prstGeom prst="rect">
            <a:avLst/>
          </a:prstGeom>
          <a:noFill/>
          <a:ln w="0">
            <a:noFill/>
          </a:ln>
        </p:spPr>
        <p:txBody>
          <a:bodyPr lIns="43200" rIns="43200" tIns="43200" bIns="43200" anchor="t">
            <a:noAutofit/>
          </a:bodyPr>
          <a:p>
            <a:r>
              <a:rPr b="0" lang="en-US" sz="900" spc="-1" strike="noStrike">
                <a:solidFill>
                  <a:srgbClr val="5d6b75"/>
                </a:solidFill>
                <a:latin typeface="Lato"/>
              </a:rPr>
              <a:t>Master’s thesis · Uppsala University</a:t>
            </a:r>
            <a:endParaRPr b="0" lang="en-US" sz="900" spc="-1" strike="noStrike">
              <a:solidFill>
                <a:srgbClr val="5d6b75"/>
              </a:solidFill>
              <a:latin typeface="Lato"/>
            </a:endParaRPr>
          </a:p>
        </p:txBody>
      </p:sp>
      <p:sp>
        <p:nvSpPr>
          <p:cNvPr id="309" name=""/>
          <p:cNvSpPr txBox="1"/>
          <p:nvPr/>
        </p:nvSpPr>
        <p:spPr>
          <a:xfrm>
            <a:off x="9612000" y="6415200"/>
            <a:ext cx="2016000" cy="189000"/>
          </a:xfrm>
          <a:prstGeom prst="rect">
            <a:avLst/>
          </a:prstGeom>
          <a:noFill/>
          <a:ln w="0">
            <a:noFill/>
          </a:ln>
        </p:spPr>
        <p:txBody>
          <a:bodyPr lIns="43200" rIns="43200" tIns="43200" bIns="43200" anchor="t">
            <a:noAutofit/>
          </a:bodyPr>
          <a:p>
            <a:pPr algn="r">
              <a:buNone/>
            </a:pPr>
            <a:r>
              <a:rPr b="1" lang="en-US" sz="800" spc="-1" strike="noStrike">
                <a:solidFill>
                  <a:srgbClr val="1f7188"/>
                </a:solidFill>
                <a:latin typeface="Lato"/>
              </a:rPr>
              <a:t>RESULTS</a:t>
            </a:r>
            <a:endParaRPr b="1" lang="en-US" sz="800" spc="-1" strike="noStrike">
              <a:solidFill>
                <a:srgbClr val="1f7188"/>
              </a:solidFill>
              <a:latin typeface="Lato"/>
            </a:endParaRPr>
          </a:p>
        </p:txBody>
      </p:sp>
      <p:sp>
        <p:nvSpPr>
          <p:cNvPr id="310" name=""/>
          <p:cNvSpPr/>
          <p:nvPr/>
        </p:nvSpPr>
        <p:spPr>
          <a:xfrm>
            <a:off x="504000" y="1296000"/>
            <a:ext cx="3456000" cy="3060000"/>
          </a:xfrm>
          <a:prstGeom prst="roundRect">
            <a:avLst/>
          </a:prstGeom>
          <a:solidFill>
            <a:srgbClr val="ffffff"/>
          </a:solidFill>
          <a:ln w="12600">
            <a:solidFill>
              <a:srgbClr val="d8e0e5"/>
            </a:solidFill>
            <a:round/>
          </a:ln>
        </p:spPr>
      </p:sp>
      <p:sp>
        <p:nvSpPr>
          <p:cNvPr id="311" name=""/>
          <p:cNvSpPr/>
          <p:nvPr/>
        </p:nvSpPr>
        <p:spPr>
          <a:xfrm>
            <a:off x="504000" y="1296000"/>
            <a:ext cx="64800" cy="3060000"/>
          </a:xfrm>
          <a:prstGeom prst="rect">
            <a:avLst/>
          </a:prstGeom>
          <a:solidFill>
            <a:srgbClr val="3e78b2"/>
          </a:solidFill>
          <a:ln w="0">
            <a:noFill/>
          </a:ln>
        </p:spPr>
      </p:sp>
      <p:sp>
        <p:nvSpPr>
          <p:cNvPr id="312" name=""/>
          <p:cNvSpPr txBox="1"/>
          <p:nvPr/>
        </p:nvSpPr>
        <p:spPr>
          <a:xfrm>
            <a:off x="666000" y="1422000"/>
            <a:ext cx="3204000" cy="240840"/>
          </a:xfrm>
          <a:prstGeom prst="rect">
            <a:avLst/>
          </a:prstGeom>
          <a:noFill/>
          <a:ln w="0">
            <a:noFill/>
          </a:ln>
        </p:spPr>
        <p:txBody>
          <a:bodyPr lIns="43200" rIns="43200" tIns="43200" bIns="43200" anchor="t">
            <a:noAutofit/>
          </a:bodyPr>
          <a:p>
            <a:r>
              <a:rPr b="1" lang="en-US" sz="1200" spc="-1" strike="noStrike">
                <a:solidFill>
                  <a:srgbClr val="3e78b2"/>
                </a:solidFill>
                <a:latin typeface="Lato"/>
              </a:rPr>
              <a:t>RQ1</a:t>
            </a:r>
            <a:endParaRPr b="1" lang="en-US" sz="1200" spc="-1" strike="noStrike">
              <a:solidFill>
                <a:srgbClr val="3e78b2"/>
              </a:solidFill>
              <a:latin typeface="Lato"/>
            </a:endParaRPr>
          </a:p>
        </p:txBody>
      </p:sp>
      <p:sp>
        <p:nvSpPr>
          <p:cNvPr id="313" name=""/>
          <p:cNvSpPr txBox="1"/>
          <p:nvPr/>
        </p:nvSpPr>
        <p:spPr>
          <a:xfrm>
            <a:off x="666000" y="1674000"/>
            <a:ext cx="3204000" cy="482400"/>
          </a:xfrm>
          <a:prstGeom prst="rect">
            <a:avLst/>
          </a:prstGeom>
          <a:noFill/>
          <a:ln w="0">
            <a:noFill/>
          </a:ln>
        </p:spPr>
        <p:txBody>
          <a:bodyPr lIns="43200" rIns="43200" tIns="43200" bIns="43200" anchor="t">
            <a:noAutofit/>
          </a:bodyPr>
          <a:p>
            <a:r>
              <a:rPr b="1" lang="en-US" sz="2200" spc="-1" strike="noStrike">
                <a:solidFill>
                  <a:srgbClr val="102b3f"/>
                </a:solidFill>
                <a:latin typeface="Lato"/>
              </a:rPr>
              <a:t>Model choice mattered</a:t>
            </a:r>
            <a:endParaRPr b="1" lang="en-US" sz="2200" spc="-1" strike="noStrike">
              <a:solidFill>
                <a:srgbClr val="102b3f"/>
              </a:solidFill>
              <a:latin typeface="Lato"/>
            </a:endParaRPr>
          </a:p>
        </p:txBody>
      </p:sp>
      <p:sp>
        <p:nvSpPr>
          <p:cNvPr id="314" name=""/>
          <p:cNvSpPr txBox="1"/>
          <p:nvPr/>
        </p:nvSpPr>
        <p:spPr>
          <a:xfrm>
            <a:off x="666000" y="2286000"/>
            <a:ext cx="3186000" cy="1940400"/>
          </a:xfrm>
          <a:prstGeom prst="rect">
            <a:avLst/>
          </a:prstGeom>
          <a:noFill/>
          <a:ln w="0">
            <a:noFill/>
          </a:ln>
        </p:spPr>
        <p:txBody>
          <a:bodyPr lIns="43200" rIns="43200" tIns="43200" bIns="43200" anchor="t">
            <a:noAutofit/>
          </a:bodyPr>
          <a:p>
            <a:r>
              <a:rPr b="0" lang="en-US" sz="1600" spc="-1" strike="noStrike">
                <a:solidFill>
                  <a:srgbClr val="23313b"/>
                </a:solidFill>
                <a:latin typeface="Lato"/>
              </a:rPr>
              <a:t>Llama 3B: highest mean deliveries</a:t>
            </a:r>
            <a:endParaRPr b="0" lang="en-US" sz="1600" spc="-1" strike="noStrike">
              <a:solidFill>
                <a:srgbClr val="23313b"/>
              </a:solidFill>
              <a:latin typeface="Lato"/>
            </a:endParaRPr>
          </a:p>
          <a:p>
            <a:r>
              <a:rPr b="0" lang="en-US" sz="1600" spc="-1" strike="noStrike">
                <a:solidFill>
                  <a:srgbClr val="23313b"/>
                </a:solidFill>
                <a:latin typeface="Lato"/>
              </a:rPr>
              <a:t>Phi-4: highest call-normalised value</a:t>
            </a:r>
            <a:endParaRPr b="0" lang="en-US" sz="1600" spc="-1" strike="noStrike">
              <a:solidFill>
                <a:srgbClr val="23313b"/>
              </a:solidFill>
              <a:latin typeface="Lato"/>
            </a:endParaRPr>
          </a:p>
          <a:p>
            <a:endParaRPr b="0" lang="en-US" sz="1600" spc="-1" strike="noStrike">
              <a:solidFill>
                <a:srgbClr val="23313b"/>
              </a:solidFill>
              <a:latin typeface="Lato"/>
            </a:endParaRPr>
          </a:p>
          <a:p>
            <a:r>
              <a:rPr b="0" lang="en-US" sz="1600" spc="-1" strike="noStrike">
                <a:solidFill>
                  <a:srgbClr val="23313b"/>
                </a:solidFill>
                <a:latin typeface="Lato"/>
              </a:rPr>
              <a:t>Nominal size alone did not predict performance.</a:t>
            </a:r>
            <a:endParaRPr b="0" lang="en-US" sz="1600" spc="-1" strike="noStrike">
              <a:solidFill>
                <a:srgbClr val="23313b"/>
              </a:solidFill>
              <a:latin typeface="Lato"/>
            </a:endParaRPr>
          </a:p>
        </p:txBody>
      </p:sp>
      <p:sp>
        <p:nvSpPr>
          <p:cNvPr id="315" name=""/>
          <p:cNvSpPr/>
          <p:nvPr/>
        </p:nvSpPr>
        <p:spPr>
          <a:xfrm>
            <a:off x="4356000" y="1296000"/>
            <a:ext cx="3456000" cy="3060000"/>
          </a:xfrm>
          <a:prstGeom prst="roundRect">
            <a:avLst/>
          </a:prstGeom>
          <a:solidFill>
            <a:srgbClr val="ffffff"/>
          </a:solidFill>
          <a:ln w="12600">
            <a:solidFill>
              <a:srgbClr val="d8e0e5"/>
            </a:solidFill>
            <a:round/>
          </a:ln>
        </p:spPr>
      </p:sp>
      <p:sp>
        <p:nvSpPr>
          <p:cNvPr id="316" name=""/>
          <p:cNvSpPr/>
          <p:nvPr/>
        </p:nvSpPr>
        <p:spPr>
          <a:xfrm>
            <a:off x="4356000" y="1296000"/>
            <a:ext cx="64800" cy="3060000"/>
          </a:xfrm>
          <a:prstGeom prst="rect">
            <a:avLst/>
          </a:prstGeom>
          <a:solidFill>
            <a:srgbClr val="f28c28"/>
          </a:solidFill>
          <a:ln w="0">
            <a:noFill/>
          </a:ln>
        </p:spPr>
      </p:sp>
      <p:sp>
        <p:nvSpPr>
          <p:cNvPr id="317" name=""/>
          <p:cNvSpPr txBox="1"/>
          <p:nvPr/>
        </p:nvSpPr>
        <p:spPr>
          <a:xfrm>
            <a:off x="4518000" y="1422000"/>
            <a:ext cx="3204000" cy="240840"/>
          </a:xfrm>
          <a:prstGeom prst="rect">
            <a:avLst/>
          </a:prstGeom>
          <a:noFill/>
          <a:ln w="0">
            <a:noFill/>
          </a:ln>
        </p:spPr>
        <p:txBody>
          <a:bodyPr lIns="43200" rIns="43200" tIns="43200" bIns="43200" anchor="t">
            <a:noAutofit/>
          </a:bodyPr>
          <a:p>
            <a:r>
              <a:rPr b="1" lang="en-US" sz="1200" spc="-1" strike="noStrike">
                <a:solidFill>
                  <a:srgbClr val="f28c28"/>
                </a:solidFill>
                <a:latin typeface="Lato"/>
              </a:rPr>
              <a:t>RQ2</a:t>
            </a:r>
            <a:endParaRPr b="1" lang="en-US" sz="1200" spc="-1" strike="noStrike">
              <a:solidFill>
                <a:srgbClr val="f28c28"/>
              </a:solidFill>
              <a:latin typeface="Lato"/>
            </a:endParaRPr>
          </a:p>
        </p:txBody>
      </p:sp>
      <p:sp>
        <p:nvSpPr>
          <p:cNvPr id="318" name=""/>
          <p:cNvSpPr txBox="1"/>
          <p:nvPr/>
        </p:nvSpPr>
        <p:spPr>
          <a:xfrm>
            <a:off x="4518000" y="1674000"/>
            <a:ext cx="3204000" cy="644760"/>
          </a:xfrm>
          <a:prstGeom prst="rect">
            <a:avLst/>
          </a:prstGeom>
          <a:noFill/>
          <a:ln w="0">
            <a:noFill/>
          </a:ln>
        </p:spPr>
        <p:txBody>
          <a:bodyPr lIns="43200" rIns="43200" tIns="43200" bIns="43200" anchor="t">
            <a:noAutofit/>
          </a:bodyPr>
          <a:p>
            <a:r>
              <a:rPr b="1" lang="en-US" sz="2200" spc="-1" strike="noStrike">
                <a:solidFill>
                  <a:srgbClr val="102b3f"/>
                </a:solidFill>
                <a:latin typeface="Lato"/>
              </a:rPr>
              <a:t>Shared context delivered more</a:t>
            </a:r>
            <a:endParaRPr b="1" lang="en-US" sz="2200" spc="-1" strike="noStrike">
              <a:solidFill>
                <a:srgbClr val="102b3f"/>
              </a:solidFill>
              <a:latin typeface="Lato"/>
            </a:endParaRPr>
          </a:p>
        </p:txBody>
      </p:sp>
      <p:sp>
        <p:nvSpPr>
          <p:cNvPr id="319" name=""/>
          <p:cNvSpPr txBox="1"/>
          <p:nvPr/>
        </p:nvSpPr>
        <p:spPr>
          <a:xfrm>
            <a:off x="4518000" y="2286000"/>
            <a:ext cx="3186000" cy="1940400"/>
          </a:xfrm>
          <a:prstGeom prst="rect">
            <a:avLst/>
          </a:prstGeom>
          <a:noFill/>
          <a:ln w="0">
            <a:noFill/>
          </a:ln>
        </p:spPr>
        <p:txBody>
          <a:bodyPr lIns="43200" rIns="43200" tIns="43200" bIns="43200" anchor="t">
            <a:noAutofit/>
          </a:bodyPr>
          <a:p>
            <a:r>
              <a:rPr b="0" lang="en-US" sz="1600" spc="-1" strike="noStrike">
                <a:solidFill>
                  <a:srgbClr val="23313b"/>
                </a:solidFill>
                <a:latin typeface="Lato"/>
              </a:rPr>
              <a:t>Higher mean deliveries in all six scenarios and for five of six models.</a:t>
            </a:r>
            <a:endParaRPr b="0" lang="en-US" sz="1600" spc="-1" strike="noStrike">
              <a:solidFill>
                <a:srgbClr val="23313b"/>
              </a:solidFill>
              <a:latin typeface="Lato"/>
            </a:endParaRPr>
          </a:p>
          <a:p>
            <a:endParaRPr b="0" lang="en-US" sz="1600" spc="-1" strike="noStrike">
              <a:solidFill>
                <a:srgbClr val="23313b"/>
              </a:solidFill>
              <a:latin typeface="Lato"/>
            </a:endParaRPr>
          </a:p>
          <a:p>
            <a:r>
              <a:rPr b="0" lang="en-US" sz="1600" spc="-1" strike="noStrike">
                <a:solidFill>
                  <a:srgbClr val="23313b"/>
                </a:solidFill>
                <a:latin typeface="Lato"/>
              </a:rPr>
              <a:t>Centralized planning required fewer calls.</a:t>
            </a:r>
            <a:endParaRPr b="0" lang="en-US" sz="1600" spc="-1" strike="noStrike">
              <a:solidFill>
                <a:srgbClr val="23313b"/>
              </a:solidFill>
              <a:latin typeface="Lato"/>
            </a:endParaRPr>
          </a:p>
        </p:txBody>
      </p:sp>
      <p:sp>
        <p:nvSpPr>
          <p:cNvPr id="320" name=""/>
          <p:cNvSpPr/>
          <p:nvPr/>
        </p:nvSpPr>
        <p:spPr>
          <a:xfrm>
            <a:off x="8208000" y="1296000"/>
            <a:ext cx="3456000" cy="3060000"/>
          </a:xfrm>
          <a:prstGeom prst="roundRect">
            <a:avLst/>
          </a:prstGeom>
          <a:solidFill>
            <a:srgbClr val="ffffff"/>
          </a:solidFill>
          <a:ln w="12600">
            <a:solidFill>
              <a:srgbClr val="d8e0e5"/>
            </a:solidFill>
            <a:round/>
          </a:ln>
        </p:spPr>
      </p:sp>
      <p:sp>
        <p:nvSpPr>
          <p:cNvPr id="321" name=""/>
          <p:cNvSpPr/>
          <p:nvPr/>
        </p:nvSpPr>
        <p:spPr>
          <a:xfrm>
            <a:off x="8208000" y="1296000"/>
            <a:ext cx="64800" cy="3060000"/>
          </a:xfrm>
          <a:prstGeom prst="rect">
            <a:avLst/>
          </a:prstGeom>
          <a:solidFill>
            <a:srgbClr val="1f8a70"/>
          </a:solidFill>
          <a:ln w="0">
            <a:noFill/>
          </a:ln>
        </p:spPr>
      </p:sp>
      <p:sp>
        <p:nvSpPr>
          <p:cNvPr id="322" name=""/>
          <p:cNvSpPr txBox="1"/>
          <p:nvPr/>
        </p:nvSpPr>
        <p:spPr>
          <a:xfrm>
            <a:off x="8370000" y="1422000"/>
            <a:ext cx="3204000" cy="240840"/>
          </a:xfrm>
          <a:prstGeom prst="rect">
            <a:avLst/>
          </a:prstGeom>
          <a:noFill/>
          <a:ln w="0">
            <a:noFill/>
          </a:ln>
        </p:spPr>
        <p:txBody>
          <a:bodyPr lIns="43200" rIns="43200" tIns="43200" bIns="43200" anchor="t">
            <a:noAutofit/>
          </a:bodyPr>
          <a:p>
            <a:r>
              <a:rPr b="1" lang="en-US" sz="1200" spc="-1" strike="noStrike">
                <a:solidFill>
                  <a:srgbClr val="1f8a70"/>
                </a:solidFill>
                <a:latin typeface="Lato"/>
              </a:rPr>
              <a:t>RQ3</a:t>
            </a:r>
            <a:endParaRPr b="1" lang="en-US" sz="1200" spc="-1" strike="noStrike">
              <a:solidFill>
                <a:srgbClr val="1f8a70"/>
              </a:solidFill>
              <a:latin typeface="Lato"/>
            </a:endParaRPr>
          </a:p>
        </p:txBody>
      </p:sp>
      <p:sp>
        <p:nvSpPr>
          <p:cNvPr id="323" name=""/>
          <p:cNvSpPr txBox="1"/>
          <p:nvPr/>
        </p:nvSpPr>
        <p:spPr>
          <a:xfrm>
            <a:off x="8370000" y="1674000"/>
            <a:ext cx="3204000" cy="644760"/>
          </a:xfrm>
          <a:prstGeom prst="rect">
            <a:avLst/>
          </a:prstGeom>
          <a:noFill/>
          <a:ln w="0">
            <a:noFill/>
          </a:ln>
        </p:spPr>
        <p:txBody>
          <a:bodyPr lIns="43200" rIns="43200" tIns="43200" bIns="43200" anchor="t">
            <a:noAutofit/>
          </a:bodyPr>
          <a:p>
            <a:r>
              <a:rPr b="1" lang="en-US" sz="2200" spc="-1" strike="noStrike">
                <a:solidFill>
                  <a:srgbClr val="102b3f"/>
                </a:solidFill>
                <a:latin typeface="Lato"/>
              </a:rPr>
              <a:t>Natural language led overall</a:t>
            </a:r>
            <a:endParaRPr b="1" lang="en-US" sz="2200" spc="-1" strike="noStrike">
              <a:solidFill>
                <a:srgbClr val="102b3f"/>
              </a:solidFill>
              <a:latin typeface="Lato"/>
            </a:endParaRPr>
          </a:p>
        </p:txBody>
      </p:sp>
      <p:sp>
        <p:nvSpPr>
          <p:cNvPr id="324" name=""/>
          <p:cNvSpPr txBox="1"/>
          <p:nvPr/>
        </p:nvSpPr>
        <p:spPr>
          <a:xfrm>
            <a:off x="8370000" y="2286000"/>
            <a:ext cx="3186000" cy="1940400"/>
          </a:xfrm>
          <a:prstGeom prst="rect">
            <a:avLst/>
          </a:prstGeom>
          <a:noFill/>
          <a:ln w="0">
            <a:noFill/>
          </a:ln>
        </p:spPr>
        <p:txBody>
          <a:bodyPr lIns="43200" rIns="43200" tIns="43200" bIns="43200" anchor="t">
            <a:noAutofit/>
          </a:bodyPr>
          <a:p>
            <a:r>
              <a:rPr b="0" lang="en-US" sz="1600" spc="-1" strike="noStrike">
                <a:solidFill>
                  <a:srgbClr val="23313b"/>
                </a:solidFill>
                <a:latin typeface="Lato"/>
              </a:rPr>
              <a:t>Higher deliveries and call-normalised values in all six scenarios.</a:t>
            </a:r>
            <a:endParaRPr b="0" lang="en-US" sz="1600" spc="-1" strike="noStrike">
              <a:solidFill>
                <a:srgbClr val="23313b"/>
              </a:solidFill>
              <a:latin typeface="Lato"/>
            </a:endParaRPr>
          </a:p>
          <a:p>
            <a:endParaRPr b="0" lang="en-US" sz="1600" spc="-1" strike="noStrike">
              <a:solidFill>
                <a:srgbClr val="23313b"/>
              </a:solidFill>
              <a:latin typeface="Lato"/>
            </a:endParaRPr>
          </a:p>
          <a:p>
            <a:r>
              <a:rPr b="0" lang="en-US" sz="1600" spc="-1" strike="noStrike">
                <a:solidFill>
                  <a:srgbClr val="23313b"/>
                </a:solidFill>
                <a:latin typeface="Lato"/>
              </a:rPr>
              <a:t>Phi-4 was the model-level exception.</a:t>
            </a:r>
            <a:endParaRPr b="0" lang="en-US" sz="1600" spc="-1" strike="noStrike">
              <a:solidFill>
                <a:srgbClr val="23313b"/>
              </a:solidFill>
              <a:latin typeface="Lato"/>
            </a:endParaRPr>
          </a:p>
        </p:txBody>
      </p:sp>
      <p:sp>
        <p:nvSpPr>
          <p:cNvPr id="325" name=""/>
          <p:cNvSpPr/>
          <p:nvPr/>
        </p:nvSpPr>
        <p:spPr>
          <a:xfrm>
            <a:off x="2160000" y="4788000"/>
            <a:ext cx="7848000" cy="504000"/>
          </a:xfrm>
          <a:prstGeom prst="roundRect">
            <a:avLst/>
          </a:prstGeom>
          <a:solidFill>
            <a:srgbClr val="102b3f"/>
          </a:solidFill>
          <a:ln w="12600">
            <a:solidFill>
              <a:srgbClr val="102b3f"/>
            </a:solidFill>
            <a:round/>
          </a:ln>
        </p:spPr>
        <p:txBody>
          <a:bodyPr lIns="64800" rIns="64800" tIns="43200" bIns="43200" anchor="b" anchorCtr="1">
            <a:noAutofit/>
          </a:bodyPr>
          <a:p>
            <a:pPr algn="ctr">
              <a:buNone/>
            </a:pPr>
            <a:r>
              <a:rPr b="1" lang="en-US" sz="1800" spc="-1" strike="noStrike">
                <a:solidFill>
                  <a:srgbClr val="ffffff"/>
                </a:solidFill>
                <a:latin typeface="Lato"/>
              </a:rPr>
              <a:t>Main claim: feasible in Battery-TA-RWARE—not proven better than established planners.</a:t>
            </a:r>
            <a:endParaRPr b="1" lang="en-US" sz="1800" spc="-1" strike="noStrike">
              <a:solidFill>
                <a:srgbClr val="ffffff"/>
              </a:solidFill>
              <a:latin typeface="Lato"/>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6" name=""/>
          <p:cNvSpPr txBox="1"/>
          <p:nvPr/>
        </p:nvSpPr>
        <p:spPr>
          <a:xfrm>
            <a:off x="540000" y="252000"/>
            <a:ext cx="10800000" cy="464400"/>
          </a:xfrm>
          <a:prstGeom prst="rect">
            <a:avLst/>
          </a:prstGeom>
          <a:noFill/>
          <a:ln w="0">
            <a:noFill/>
          </a:ln>
        </p:spPr>
        <p:txBody>
          <a:bodyPr lIns="43200" rIns="43200" tIns="43200" bIns="43200" anchor="t">
            <a:noAutofit/>
          </a:bodyPr>
          <a:p>
            <a:r>
              <a:rPr b="1" lang="en-US" sz="2900" spc="-1" strike="noStrike">
                <a:solidFill>
                  <a:srgbClr val="102b3f"/>
                </a:solidFill>
                <a:latin typeface="Lato"/>
              </a:rPr>
              <a:t>RQ1 — performance did not scale monotonically</a:t>
            </a:r>
            <a:endParaRPr b="1" lang="en-US" sz="2900" spc="-1" strike="noStrike">
              <a:solidFill>
                <a:srgbClr val="102b3f"/>
              </a:solidFill>
              <a:latin typeface="Lato"/>
            </a:endParaRPr>
          </a:p>
        </p:txBody>
      </p:sp>
      <p:sp>
        <p:nvSpPr>
          <p:cNvPr id="327" name=""/>
          <p:cNvSpPr/>
          <p:nvPr/>
        </p:nvSpPr>
        <p:spPr>
          <a:xfrm>
            <a:off x="540000" y="6354000"/>
            <a:ext cx="11088000" cy="7200"/>
          </a:xfrm>
          <a:prstGeom prst="rect">
            <a:avLst/>
          </a:prstGeom>
          <a:solidFill>
            <a:srgbClr val="1f7188"/>
          </a:solidFill>
          <a:ln w="0">
            <a:noFill/>
          </a:ln>
        </p:spPr>
      </p:sp>
      <p:sp>
        <p:nvSpPr>
          <p:cNvPr id="328" name=""/>
          <p:cNvSpPr txBox="1"/>
          <p:nvPr/>
        </p:nvSpPr>
        <p:spPr>
          <a:xfrm>
            <a:off x="540000" y="6415200"/>
            <a:ext cx="7200000" cy="201240"/>
          </a:xfrm>
          <a:prstGeom prst="rect">
            <a:avLst/>
          </a:prstGeom>
          <a:noFill/>
          <a:ln w="0">
            <a:noFill/>
          </a:ln>
        </p:spPr>
        <p:txBody>
          <a:bodyPr lIns="43200" rIns="43200" tIns="43200" bIns="43200" anchor="t">
            <a:noAutofit/>
          </a:bodyPr>
          <a:p>
            <a:r>
              <a:rPr b="0" lang="en-US" sz="900" spc="-1" strike="noStrike">
                <a:solidFill>
                  <a:srgbClr val="5d6b75"/>
                </a:solidFill>
                <a:latin typeface="Lato"/>
              </a:rPr>
              <a:t>Master’s thesis · Uppsala University</a:t>
            </a:r>
            <a:endParaRPr b="0" lang="en-US" sz="900" spc="-1" strike="noStrike">
              <a:solidFill>
                <a:srgbClr val="5d6b75"/>
              </a:solidFill>
              <a:latin typeface="Lato"/>
            </a:endParaRPr>
          </a:p>
        </p:txBody>
      </p:sp>
      <p:sp>
        <p:nvSpPr>
          <p:cNvPr id="329" name=""/>
          <p:cNvSpPr txBox="1"/>
          <p:nvPr/>
        </p:nvSpPr>
        <p:spPr>
          <a:xfrm>
            <a:off x="9612000" y="6415200"/>
            <a:ext cx="2016000" cy="189000"/>
          </a:xfrm>
          <a:prstGeom prst="rect">
            <a:avLst/>
          </a:prstGeom>
          <a:noFill/>
          <a:ln w="0">
            <a:noFill/>
          </a:ln>
        </p:spPr>
        <p:txBody>
          <a:bodyPr lIns="43200" rIns="43200" tIns="43200" bIns="43200" anchor="t">
            <a:noAutofit/>
          </a:bodyPr>
          <a:p>
            <a:pPr algn="r">
              <a:buNone/>
            </a:pPr>
            <a:r>
              <a:rPr b="1" lang="en-US" sz="800" spc="-1" strike="noStrike">
                <a:solidFill>
                  <a:srgbClr val="1f7188"/>
                </a:solidFill>
                <a:latin typeface="Lato"/>
              </a:rPr>
              <a:t>RESULTS</a:t>
            </a:r>
            <a:endParaRPr b="1" lang="en-US" sz="800" spc="-1" strike="noStrike">
              <a:solidFill>
                <a:srgbClr val="1f7188"/>
              </a:solidFill>
              <a:latin typeface="Lato"/>
            </a:endParaRPr>
          </a:p>
        </p:txBody>
      </p:sp>
      <p:pic>
        <p:nvPicPr>
          <p:cNvPr id="330" name="" descr=""/>
          <p:cNvPicPr/>
          <p:nvPr/>
        </p:nvPicPr>
        <p:blipFill>
          <a:blip r:embed="rId1"/>
          <a:stretch/>
        </p:blipFill>
        <p:spPr>
          <a:xfrm>
            <a:off x="576000" y="972000"/>
            <a:ext cx="11016000" cy="4572000"/>
          </a:xfrm>
          <a:prstGeom prst="rect">
            <a:avLst/>
          </a:prstGeom>
          <a:ln w="0">
            <a:noFill/>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1" name=""/>
          <p:cNvSpPr txBox="1"/>
          <p:nvPr/>
        </p:nvSpPr>
        <p:spPr>
          <a:xfrm>
            <a:off x="540000" y="252000"/>
            <a:ext cx="10800000" cy="464400"/>
          </a:xfrm>
          <a:prstGeom prst="rect">
            <a:avLst/>
          </a:prstGeom>
          <a:noFill/>
          <a:ln w="0">
            <a:noFill/>
          </a:ln>
        </p:spPr>
        <p:txBody>
          <a:bodyPr lIns="43200" rIns="43200" tIns="43200" bIns="43200" anchor="t">
            <a:noAutofit/>
          </a:bodyPr>
          <a:p>
            <a:r>
              <a:rPr b="1" lang="en-US" sz="2900" spc="-1" strike="noStrike">
                <a:solidFill>
                  <a:srgbClr val="102b3f"/>
                </a:solidFill>
                <a:latin typeface="Lato"/>
              </a:rPr>
              <a:t>RQ1 — the engineering takeaway</a:t>
            </a:r>
            <a:endParaRPr b="1" lang="en-US" sz="2900" spc="-1" strike="noStrike">
              <a:solidFill>
                <a:srgbClr val="102b3f"/>
              </a:solidFill>
              <a:latin typeface="Lato"/>
            </a:endParaRPr>
          </a:p>
        </p:txBody>
      </p:sp>
      <p:sp>
        <p:nvSpPr>
          <p:cNvPr id="332" name=""/>
          <p:cNvSpPr/>
          <p:nvPr/>
        </p:nvSpPr>
        <p:spPr>
          <a:xfrm>
            <a:off x="540000" y="6354000"/>
            <a:ext cx="11088000" cy="7200"/>
          </a:xfrm>
          <a:prstGeom prst="rect">
            <a:avLst/>
          </a:prstGeom>
          <a:solidFill>
            <a:srgbClr val="1f7188"/>
          </a:solidFill>
          <a:ln w="0">
            <a:noFill/>
          </a:ln>
        </p:spPr>
      </p:sp>
      <p:sp>
        <p:nvSpPr>
          <p:cNvPr id="333" name=""/>
          <p:cNvSpPr txBox="1"/>
          <p:nvPr/>
        </p:nvSpPr>
        <p:spPr>
          <a:xfrm>
            <a:off x="540000" y="6415200"/>
            <a:ext cx="7200000" cy="201240"/>
          </a:xfrm>
          <a:prstGeom prst="rect">
            <a:avLst/>
          </a:prstGeom>
          <a:noFill/>
          <a:ln w="0">
            <a:noFill/>
          </a:ln>
        </p:spPr>
        <p:txBody>
          <a:bodyPr lIns="43200" rIns="43200" tIns="43200" bIns="43200" anchor="t">
            <a:noAutofit/>
          </a:bodyPr>
          <a:p>
            <a:r>
              <a:rPr b="0" lang="en-US" sz="900" spc="-1" strike="noStrike">
                <a:solidFill>
                  <a:srgbClr val="5d6b75"/>
                </a:solidFill>
                <a:latin typeface="Lato"/>
              </a:rPr>
              <a:t>Master’s thesis · Uppsala University</a:t>
            </a:r>
            <a:endParaRPr b="0" lang="en-US" sz="900" spc="-1" strike="noStrike">
              <a:solidFill>
                <a:srgbClr val="5d6b75"/>
              </a:solidFill>
              <a:latin typeface="Lato"/>
            </a:endParaRPr>
          </a:p>
        </p:txBody>
      </p:sp>
      <p:sp>
        <p:nvSpPr>
          <p:cNvPr id="334" name=""/>
          <p:cNvSpPr txBox="1"/>
          <p:nvPr/>
        </p:nvSpPr>
        <p:spPr>
          <a:xfrm>
            <a:off x="9612000" y="6415200"/>
            <a:ext cx="2016000" cy="189000"/>
          </a:xfrm>
          <a:prstGeom prst="rect">
            <a:avLst/>
          </a:prstGeom>
          <a:noFill/>
          <a:ln w="0">
            <a:noFill/>
          </a:ln>
        </p:spPr>
        <p:txBody>
          <a:bodyPr lIns="43200" rIns="43200" tIns="43200" bIns="43200" anchor="t">
            <a:noAutofit/>
          </a:bodyPr>
          <a:p>
            <a:pPr algn="r">
              <a:buNone/>
            </a:pPr>
            <a:r>
              <a:rPr b="1" lang="en-US" sz="800" spc="-1" strike="noStrike">
                <a:solidFill>
                  <a:srgbClr val="1f7188"/>
                </a:solidFill>
                <a:latin typeface="Lato"/>
              </a:rPr>
              <a:t>RESULTS</a:t>
            </a:r>
            <a:endParaRPr b="1" lang="en-US" sz="800" spc="-1" strike="noStrike">
              <a:solidFill>
                <a:srgbClr val="1f7188"/>
              </a:solidFill>
              <a:latin typeface="Lato"/>
            </a:endParaRPr>
          </a:p>
        </p:txBody>
      </p:sp>
      <p:sp>
        <p:nvSpPr>
          <p:cNvPr id="335" name=""/>
          <p:cNvSpPr/>
          <p:nvPr/>
        </p:nvSpPr>
        <p:spPr>
          <a:xfrm>
            <a:off x="648000" y="1404000"/>
            <a:ext cx="3312000" cy="2952000"/>
          </a:xfrm>
          <a:prstGeom prst="roundRect">
            <a:avLst/>
          </a:prstGeom>
          <a:solidFill>
            <a:srgbClr val="ffffff"/>
          </a:solidFill>
          <a:ln w="12600">
            <a:solidFill>
              <a:srgbClr val="d8e0e5"/>
            </a:solidFill>
            <a:round/>
          </a:ln>
        </p:spPr>
      </p:sp>
      <p:sp>
        <p:nvSpPr>
          <p:cNvPr id="336" name=""/>
          <p:cNvSpPr/>
          <p:nvPr/>
        </p:nvSpPr>
        <p:spPr>
          <a:xfrm>
            <a:off x="648000" y="1404000"/>
            <a:ext cx="64800" cy="2952000"/>
          </a:xfrm>
          <a:prstGeom prst="rect">
            <a:avLst/>
          </a:prstGeom>
          <a:solidFill>
            <a:srgbClr val="3e78b2"/>
          </a:solidFill>
          <a:ln w="0">
            <a:noFill/>
          </a:ln>
        </p:spPr>
      </p:sp>
      <p:sp>
        <p:nvSpPr>
          <p:cNvPr id="337" name=""/>
          <p:cNvSpPr txBox="1"/>
          <p:nvPr/>
        </p:nvSpPr>
        <p:spPr>
          <a:xfrm>
            <a:off x="810000" y="1530000"/>
            <a:ext cx="3060000" cy="240840"/>
          </a:xfrm>
          <a:prstGeom prst="rect">
            <a:avLst/>
          </a:prstGeom>
          <a:noFill/>
          <a:ln w="0">
            <a:noFill/>
          </a:ln>
        </p:spPr>
        <p:txBody>
          <a:bodyPr lIns="43200" rIns="43200" tIns="43200" bIns="43200" anchor="t">
            <a:noAutofit/>
          </a:bodyPr>
          <a:p>
            <a:r>
              <a:rPr b="1" lang="en-US" sz="1200" spc="-1" strike="noStrike">
                <a:solidFill>
                  <a:srgbClr val="3e78b2"/>
                </a:solidFill>
                <a:latin typeface="Lato"/>
              </a:rPr>
              <a:t>OBSERVED</a:t>
            </a:r>
            <a:endParaRPr b="1" lang="en-US" sz="1200" spc="-1" strike="noStrike">
              <a:solidFill>
                <a:srgbClr val="3e78b2"/>
              </a:solidFill>
              <a:latin typeface="Lato"/>
            </a:endParaRPr>
          </a:p>
        </p:txBody>
      </p:sp>
      <p:sp>
        <p:nvSpPr>
          <p:cNvPr id="338" name=""/>
          <p:cNvSpPr txBox="1"/>
          <p:nvPr/>
        </p:nvSpPr>
        <p:spPr>
          <a:xfrm>
            <a:off x="810000" y="1782000"/>
            <a:ext cx="3060000" cy="482400"/>
          </a:xfrm>
          <a:prstGeom prst="rect">
            <a:avLst/>
          </a:prstGeom>
          <a:noFill/>
          <a:ln w="0">
            <a:noFill/>
          </a:ln>
        </p:spPr>
        <p:txBody>
          <a:bodyPr lIns="43200" rIns="43200" tIns="43200" bIns="43200" anchor="t">
            <a:noAutofit/>
          </a:bodyPr>
          <a:p>
            <a:r>
              <a:rPr b="1" lang="en-US" sz="2200" spc="-1" strike="noStrike">
                <a:solidFill>
                  <a:srgbClr val="102b3f"/>
                </a:solidFill>
                <a:latin typeface="Lato"/>
              </a:rPr>
              <a:t>Rankings changed</a:t>
            </a:r>
            <a:endParaRPr b="1" lang="en-US" sz="2200" spc="-1" strike="noStrike">
              <a:solidFill>
                <a:srgbClr val="102b3f"/>
              </a:solidFill>
              <a:latin typeface="Lato"/>
            </a:endParaRPr>
          </a:p>
        </p:txBody>
      </p:sp>
      <p:sp>
        <p:nvSpPr>
          <p:cNvPr id="339" name=""/>
          <p:cNvSpPr txBox="1"/>
          <p:nvPr/>
        </p:nvSpPr>
        <p:spPr>
          <a:xfrm>
            <a:off x="810000" y="2394000"/>
            <a:ext cx="3042000" cy="1832400"/>
          </a:xfrm>
          <a:prstGeom prst="rect">
            <a:avLst/>
          </a:prstGeom>
          <a:noFill/>
          <a:ln w="0">
            <a:noFill/>
          </a:ln>
        </p:spPr>
        <p:txBody>
          <a:bodyPr lIns="43200" rIns="43200" tIns="43200" bIns="43200" anchor="t">
            <a:noAutofit/>
          </a:bodyPr>
          <a:p>
            <a:r>
              <a:rPr b="0" lang="en-US" sz="1600" spc="-1" strike="noStrike">
                <a:solidFill>
                  <a:srgbClr val="23313b"/>
                </a:solidFill>
                <a:latin typeface="Lato"/>
              </a:rPr>
              <a:t>Llama 3B led mean deliveries.</a:t>
            </a:r>
            <a:endParaRPr b="0" lang="en-US" sz="1600" spc="-1" strike="noStrike">
              <a:solidFill>
                <a:srgbClr val="23313b"/>
              </a:solidFill>
              <a:latin typeface="Lato"/>
            </a:endParaRPr>
          </a:p>
          <a:p>
            <a:r>
              <a:rPr b="0" lang="en-US" sz="1600" spc="-1" strike="noStrike">
                <a:solidFill>
                  <a:srgbClr val="23313b"/>
                </a:solidFill>
                <a:latin typeface="Lato"/>
              </a:rPr>
              <a:t>Phi-4 led the call-normalised measure.</a:t>
            </a:r>
            <a:endParaRPr b="0" lang="en-US" sz="1600" spc="-1" strike="noStrike">
              <a:solidFill>
                <a:srgbClr val="23313b"/>
              </a:solidFill>
              <a:latin typeface="Lato"/>
            </a:endParaRPr>
          </a:p>
          <a:p>
            <a:r>
              <a:rPr b="0" lang="en-US" sz="1600" spc="-1" strike="noStrike">
                <a:solidFill>
                  <a:srgbClr val="23313b"/>
                </a:solidFill>
                <a:latin typeface="Lato"/>
              </a:rPr>
              <a:t>No monotonic size trend appeared.</a:t>
            </a:r>
            <a:endParaRPr b="0" lang="en-US" sz="1600" spc="-1" strike="noStrike">
              <a:solidFill>
                <a:srgbClr val="23313b"/>
              </a:solidFill>
              <a:latin typeface="Lato"/>
            </a:endParaRPr>
          </a:p>
        </p:txBody>
      </p:sp>
      <p:sp>
        <p:nvSpPr>
          <p:cNvPr id="340" name=""/>
          <p:cNvSpPr/>
          <p:nvPr/>
        </p:nvSpPr>
        <p:spPr>
          <a:xfrm>
            <a:off x="4428000" y="1404000"/>
            <a:ext cx="3312000" cy="2952000"/>
          </a:xfrm>
          <a:prstGeom prst="roundRect">
            <a:avLst/>
          </a:prstGeom>
          <a:solidFill>
            <a:srgbClr val="ffffff"/>
          </a:solidFill>
          <a:ln w="12600">
            <a:solidFill>
              <a:srgbClr val="d8e0e5"/>
            </a:solidFill>
            <a:round/>
          </a:ln>
        </p:spPr>
      </p:sp>
      <p:sp>
        <p:nvSpPr>
          <p:cNvPr id="341" name=""/>
          <p:cNvSpPr/>
          <p:nvPr/>
        </p:nvSpPr>
        <p:spPr>
          <a:xfrm>
            <a:off x="4428000" y="1404000"/>
            <a:ext cx="64800" cy="2952000"/>
          </a:xfrm>
          <a:prstGeom prst="rect">
            <a:avLst/>
          </a:prstGeom>
          <a:solidFill>
            <a:srgbClr val="d9534f"/>
          </a:solidFill>
          <a:ln w="0">
            <a:noFill/>
          </a:ln>
        </p:spPr>
      </p:sp>
      <p:sp>
        <p:nvSpPr>
          <p:cNvPr id="342" name=""/>
          <p:cNvSpPr txBox="1"/>
          <p:nvPr/>
        </p:nvSpPr>
        <p:spPr>
          <a:xfrm>
            <a:off x="4590000" y="1530000"/>
            <a:ext cx="3060000" cy="240840"/>
          </a:xfrm>
          <a:prstGeom prst="rect">
            <a:avLst/>
          </a:prstGeom>
          <a:noFill/>
          <a:ln w="0">
            <a:noFill/>
          </a:ln>
        </p:spPr>
        <p:txBody>
          <a:bodyPr lIns="43200" rIns="43200" tIns="43200" bIns="43200" anchor="t">
            <a:noAutofit/>
          </a:bodyPr>
          <a:p>
            <a:r>
              <a:rPr b="1" lang="en-US" sz="1200" spc="-1" strike="noStrike">
                <a:solidFill>
                  <a:srgbClr val="d9534f"/>
                </a:solidFill>
                <a:latin typeface="Lato"/>
              </a:rPr>
              <a:t>DO NOT CLAIM</a:t>
            </a:r>
            <a:endParaRPr b="1" lang="en-US" sz="1200" spc="-1" strike="noStrike">
              <a:solidFill>
                <a:srgbClr val="d9534f"/>
              </a:solidFill>
              <a:latin typeface="Lato"/>
            </a:endParaRPr>
          </a:p>
        </p:txBody>
      </p:sp>
      <p:sp>
        <p:nvSpPr>
          <p:cNvPr id="343" name=""/>
          <p:cNvSpPr txBox="1"/>
          <p:nvPr/>
        </p:nvSpPr>
        <p:spPr>
          <a:xfrm>
            <a:off x="4590000" y="1782000"/>
            <a:ext cx="3060000" cy="482400"/>
          </a:xfrm>
          <a:prstGeom prst="rect">
            <a:avLst/>
          </a:prstGeom>
          <a:noFill/>
          <a:ln w="0">
            <a:noFill/>
          </a:ln>
        </p:spPr>
        <p:txBody>
          <a:bodyPr lIns="43200" rIns="43200" tIns="43200" bIns="43200" anchor="t">
            <a:noAutofit/>
          </a:bodyPr>
          <a:p>
            <a:r>
              <a:rPr b="1" lang="en-US" sz="2200" spc="-1" strike="noStrike">
                <a:solidFill>
                  <a:srgbClr val="102b3f"/>
                </a:solidFill>
                <a:latin typeface="Lato"/>
              </a:rPr>
              <a:t>Size caused the result</a:t>
            </a:r>
            <a:endParaRPr b="1" lang="en-US" sz="2200" spc="-1" strike="noStrike">
              <a:solidFill>
                <a:srgbClr val="102b3f"/>
              </a:solidFill>
              <a:latin typeface="Lato"/>
            </a:endParaRPr>
          </a:p>
        </p:txBody>
      </p:sp>
      <p:sp>
        <p:nvSpPr>
          <p:cNvPr id="344" name=""/>
          <p:cNvSpPr txBox="1"/>
          <p:nvPr/>
        </p:nvSpPr>
        <p:spPr>
          <a:xfrm>
            <a:off x="4590000" y="2394000"/>
            <a:ext cx="3042000" cy="1832400"/>
          </a:xfrm>
          <a:prstGeom prst="rect">
            <a:avLst/>
          </a:prstGeom>
          <a:noFill/>
          <a:ln w="0">
            <a:noFill/>
          </a:ln>
        </p:spPr>
        <p:txBody>
          <a:bodyPr lIns="43200" rIns="43200" tIns="43200" bIns="43200" anchor="t">
            <a:noAutofit/>
          </a:bodyPr>
          <a:p>
            <a:r>
              <a:rPr b="0" lang="en-US" sz="1600" spc="-1" strike="noStrike">
                <a:solidFill>
                  <a:srgbClr val="23313b"/>
                </a:solidFill>
                <a:latin typeface="Lato"/>
              </a:rPr>
              <a:t>Models come from different families and differ in training, architecture, and post-training.</a:t>
            </a:r>
            <a:endParaRPr b="0" lang="en-US" sz="1600" spc="-1" strike="noStrike">
              <a:solidFill>
                <a:srgbClr val="23313b"/>
              </a:solidFill>
              <a:latin typeface="Lato"/>
            </a:endParaRPr>
          </a:p>
        </p:txBody>
      </p:sp>
      <p:sp>
        <p:nvSpPr>
          <p:cNvPr id="345" name=""/>
          <p:cNvSpPr/>
          <p:nvPr/>
        </p:nvSpPr>
        <p:spPr>
          <a:xfrm>
            <a:off x="8208000" y="1404000"/>
            <a:ext cx="3312000" cy="2952000"/>
          </a:xfrm>
          <a:prstGeom prst="roundRect">
            <a:avLst/>
          </a:prstGeom>
          <a:solidFill>
            <a:srgbClr val="ffffff"/>
          </a:solidFill>
          <a:ln w="12600">
            <a:solidFill>
              <a:srgbClr val="d8e0e5"/>
            </a:solidFill>
            <a:round/>
          </a:ln>
        </p:spPr>
      </p:sp>
      <p:sp>
        <p:nvSpPr>
          <p:cNvPr id="346" name=""/>
          <p:cNvSpPr/>
          <p:nvPr/>
        </p:nvSpPr>
        <p:spPr>
          <a:xfrm>
            <a:off x="8208000" y="1404000"/>
            <a:ext cx="64800" cy="2952000"/>
          </a:xfrm>
          <a:prstGeom prst="rect">
            <a:avLst/>
          </a:prstGeom>
          <a:solidFill>
            <a:srgbClr val="1f8a70"/>
          </a:solidFill>
          <a:ln w="0">
            <a:noFill/>
          </a:ln>
        </p:spPr>
      </p:sp>
      <p:sp>
        <p:nvSpPr>
          <p:cNvPr id="347" name=""/>
          <p:cNvSpPr txBox="1"/>
          <p:nvPr/>
        </p:nvSpPr>
        <p:spPr>
          <a:xfrm>
            <a:off x="8370000" y="1530000"/>
            <a:ext cx="3060000" cy="240840"/>
          </a:xfrm>
          <a:prstGeom prst="rect">
            <a:avLst/>
          </a:prstGeom>
          <a:noFill/>
          <a:ln w="0">
            <a:noFill/>
          </a:ln>
        </p:spPr>
        <p:txBody>
          <a:bodyPr lIns="43200" rIns="43200" tIns="43200" bIns="43200" anchor="t">
            <a:noAutofit/>
          </a:bodyPr>
          <a:p>
            <a:r>
              <a:rPr b="1" lang="en-US" sz="1200" spc="-1" strike="noStrike">
                <a:solidFill>
                  <a:srgbClr val="1f8a70"/>
                </a:solidFill>
                <a:latin typeface="Lato"/>
              </a:rPr>
              <a:t>IMPLICATION</a:t>
            </a:r>
            <a:endParaRPr b="1" lang="en-US" sz="1200" spc="-1" strike="noStrike">
              <a:solidFill>
                <a:srgbClr val="1f8a70"/>
              </a:solidFill>
              <a:latin typeface="Lato"/>
            </a:endParaRPr>
          </a:p>
        </p:txBody>
      </p:sp>
      <p:sp>
        <p:nvSpPr>
          <p:cNvPr id="348" name=""/>
          <p:cNvSpPr txBox="1"/>
          <p:nvPr/>
        </p:nvSpPr>
        <p:spPr>
          <a:xfrm>
            <a:off x="8370000" y="1782000"/>
            <a:ext cx="3060000" cy="644760"/>
          </a:xfrm>
          <a:prstGeom prst="rect">
            <a:avLst/>
          </a:prstGeom>
          <a:noFill/>
          <a:ln w="0">
            <a:noFill/>
          </a:ln>
        </p:spPr>
        <p:txBody>
          <a:bodyPr lIns="43200" rIns="43200" tIns="43200" bIns="43200" anchor="t">
            <a:noAutofit/>
          </a:bodyPr>
          <a:p>
            <a:r>
              <a:rPr b="1" lang="en-US" sz="2200" spc="-1" strike="noStrike">
                <a:solidFill>
                  <a:srgbClr val="102b3f"/>
                </a:solidFill>
                <a:latin typeface="Lato"/>
              </a:rPr>
              <a:t>Benchmark the full setup</a:t>
            </a:r>
            <a:endParaRPr b="1" lang="en-US" sz="2200" spc="-1" strike="noStrike">
              <a:solidFill>
                <a:srgbClr val="102b3f"/>
              </a:solidFill>
              <a:latin typeface="Lato"/>
            </a:endParaRPr>
          </a:p>
        </p:txBody>
      </p:sp>
      <p:sp>
        <p:nvSpPr>
          <p:cNvPr id="349" name=""/>
          <p:cNvSpPr txBox="1"/>
          <p:nvPr/>
        </p:nvSpPr>
        <p:spPr>
          <a:xfrm>
            <a:off x="8370000" y="2394000"/>
            <a:ext cx="3042000" cy="1832400"/>
          </a:xfrm>
          <a:prstGeom prst="rect">
            <a:avLst/>
          </a:prstGeom>
          <a:noFill/>
          <a:ln w="0">
            <a:noFill/>
          </a:ln>
        </p:spPr>
        <p:txBody>
          <a:bodyPr lIns="43200" rIns="43200" tIns="43200" bIns="43200" anchor="t">
            <a:noAutofit/>
          </a:bodyPr>
          <a:p>
            <a:r>
              <a:rPr b="0" lang="en-US" sz="1600" spc="-1" strike="noStrike">
                <a:solidFill>
                  <a:srgbClr val="23313b"/>
                </a:solidFill>
                <a:latin typeface="Lato"/>
              </a:rPr>
              <a:t>Choose the model together with the prompt, architecture, task, and deployment constraints.</a:t>
            </a:r>
            <a:endParaRPr b="0" lang="en-US" sz="1600" spc="-1" strike="noStrike">
              <a:solidFill>
                <a:srgbClr val="23313b"/>
              </a:solidFill>
              <a:latin typeface="Lato"/>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0" name=""/>
          <p:cNvSpPr txBox="1"/>
          <p:nvPr/>
        </p:nvSpPr>
        <p:spPr>
          <a:xfrm>
            <a:off x="540000" y="252000"/>
            <a:ext cx="10800000" cy="464400"/>
          </a:xfrm>
          <a:prstGeom prst="rect">
            <a:avLst/>
          </a:prstGeom>
          <a:noFill/>
          <a:ln w="0">
            <a:noFill/>
          </a:ln>
        </p:spPr>
        <p:txBody>
          <a:bodyPr lIns="43200" rIns="43200" tIns="43200" bIns="43200" anchor="t">
            <a:noAutofit/>
          </a:bodyPr>
          <a:p>
            <a:r>
              <a:rPr b="1" lang="en-US" sz="2900" spc="-1" strike="noStrike">
                <a:solidFill>
                  <a:srgbClr val="102b3f"/>
                </a:solidFill>
                <a:latin typeface="Lato"/>
              </a:rPr>
              <a:t>RQ2 — shared context improved deliveries</a:t>
            </a:r>
            <a:endParaRPr b="1" lang="en-US" sz="2900" spc="-1" strike="noStrike">
              <a:solidFill>
                <a:srgbClr val="102b3f"/>
              </a:solidFill>
              <a:latin typeface="Lato"/>
            </a:endParaRPr>
          </a:p>
        </p:txBody>
      </p:sp>
      <p:sp>
        <p:nvSpPr>
          <p:cNvPr id="351" name=""/>
          <p:cNvSpPr/>
          <p:nvPr/>
        </p:nvSpPr>
        <p:spPr>
          <a:xfrm>
            <a:off x="540000" y="6354000"/>
            <a:ext cx="11088000" cy="7200"/>
          </a:xfrm>
          <a:prstGeom prst="rect">
            <a:avLst/>
          </a:prstGeom>
          <a:solidFill>
            <a:srgbClr val="1f7188"/>
          </a:solidFill>
          <a:ln w="0">
            <a:noFill/>
          </a:ln>
        </p:spPr>
      </p:sp>
      <p:sp>
        <p:nvSpPr>
          <p:cNvPr id="352" name=""/>
          <p:cNvSpPr txBox="1"/>
          <p:nvPr/>
        </p:nvSpPr>
        <p:spPr>
          <a:xfrm>
            <a:off x="540000" y="6415200"/>
            <a:ext cx="7200000" cy="201240"/>
          </a:xfrm>
          <a:prstGeom prst="rect">
            <a:avLst/>
          </a:prstGeom>
          <a:noFill/>
          <a:ln w="0">
            <a:noFill/>
          </a:ln>
        </p:spPr>
        <p:txBody>
          <a:bodyPr lIns="43200" rIns="43200" tIns="43200" bIns="43200" anchor="t">
            <a:noAutofit/>
          </a:bodyPr>
          <a:p>
            <a:r>
              <a:rPr b="0" lang="en-US" sz="900" spc="-1" strike="noStrike">
                <a:solidFill>
                  <a:srgbClr val="5d6b75"/>
                </a:solidFill>
                <a:latin typeface="Lato"/>
              </a:rPr>
              <a:t>Master’s thesis · Uppsala University</a:t>
            </a:r>
            <a:endParaRPr b="0" lang="en-US" sz="900" spc="-1" strike="noStrike">
              <a:solidFill>
                <a:srgbClr val="5d6b75"/>
              </a:solidFill>
              <a:latin typeface="Lato"/>
            </a:endParaRPr>
          </a:p>
        </p:txBody>
      </p:sp>
      <p:sp>
        <p:nvSpPr>
          <p:cNvPr id="353" name=""/>
          <p:cNvSpPr txBox="1"/>
          <p:nvPr/>
        </p:nvSpPr>
        <p:spPr>
          <a:xfrm>
            <a:off x="9612000" y="6415200"/>
            <a:ext cx="2016000" cy="189000"/>
          </a:xfrm>
          <a:prstGeom prst="rect">
            <a:avLst/>
          </a:prstGeom>
          <a:noFill/>
          <a:ln w="0">
            <a:noFill/>
          </a:ln>
        </p:spPr>
        <p:txBody>
          <a:bodyPr lIns="43200" rIns="43200" tIns="43200" bIns="43200" anchor="t">
            <a:noAutofit/>
          </a:bodyPr>
          <a:p>
            <a:pPr algn="r">
              <a:buNone/>
            </a:pPr>
            <a:r>
              <a:rPr b="1" lang="en-US" sz="800" spc="-1" strike="noStrike">
                <a:solidFill>
                  <a:srgbClr val="1f7188"/>
                </a:solidFill>
                <a:latin typeface="Lato"/>
              </a:rPr>
              <a:t>RESULTS</a:t>
            </a:r>
            <a:endParaRPr b="1" lang="en-US" sz="800" spc="-1" strike="noStrike">
              <a:solidFill>
                <a:srgbClr val="1f7188"/>
              </a:solidFill>
              <a:latin typeface="Lato"/>
            </a:endParaRPr>
          </a:p>
        </p:txBody>
      </p:sp>
      <p:pic>
        <p:nvPicPr>
          <p:cNvPr id="354" name="" descr=""/>
          <p:cNvPicPr/>
          <p:nvPr/>
        </p:nvPicPr>
        <p:blipFill>
          <a:blip r:embed="rId1"/>
          <a:stretch/>
        </p:blipFill>
        <p:spPr>
          <a:xfrm>
            <a:off x="540000" y="972000"/>
            <a:ext cx="11088000" cy="4572000"/>
          </a:xfrm>
          <a:prstGeom prst="rect">
            <a:avLst/>
          </a:prstGeom>
          <a:ln w="0">
            <a:noFill/>
          </a:ln>
        </p:spPr>
      </p:pic>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5" name=""/>
          <p:cNvSpPr txBox="1"/>
          <p:nvPr/>
        </p:nvSpPr>
        <p:spPr>
          <a:xfrm>
            <a:off x="540000" y="252000"/>
            <a:ext cx="10800000" cy="464400"/>
          </a:xfrm>
          <a:prstGeom prst="rect">
            <a:avLst/>
          </a:prstGeom>
          <a:noFill/>
          <a:ln w="0">
            <a:noFill/>
          </a:ln>
        </p:spPr>
        <p:txBody>
          <a:bodyPr lIns="43200" rIns="43200" tIns="43200" bIns="43200" anchor="t">
            <a:noAutofit/>
          </a:bodyPr>
          <a:p>
            <a:r>
              <a:rPr b="1" lang="en-US" sz="2900" spc="-1" strike="noStrike">
                <a:solidFill>
                  <a:srgbClr val="102b3f"/>
                </a:solidFill>
                <a:latin typeface="Lato"/>
              </a:rPr>
              <a:t>RQ2 — an architecture–model trade-off</a:t>
            </a:r>
            <a:endParaRPr b="1" lang="en-US" sz="2900" spc="-1" strike="noStrike">
              <a:solidFill>
                <a:srgbClr val="102b3f"/>
              </a:solidFill>
              <a:latin typeface="Lato"/>
            </a:endParaRPr>
          </a:p>
        </p:txBody>
      </p:sp>
      <p:sp>
        <p:nvSpPr>
          <p:cNvPr id="356" name=""/>
          <p:cNvSpPr/>
          <p:nvPr/>
        </p:nvSpPr>
        <p:spPr>
          <a:xfrm>
            <a:off x="540000" y="6354000"/>
            <a:ext cx="11088000" cy="7200"/>
          </a:xfrm>
          <a:prstGeom prst="rect">
            <a:avLst/>
          </a:prstGeom>
          <a:solidFill>
            <a:srgbClr val="1f7188"/>
          </a:solidFill>
          <a:ln w="0">
            <a:noFill/>
          </a:ln>
        </p:spPr>
      </p:sp>
      <p:sp>
        <p:nvSpPr>
          <p:cNvPr id="357" name=""/>
          <p:cNvSpPr txBox="1"/>
          <p:nvPr/>
        </p:nvSpPr>
        <p:spPr>
          <a:xfrm>
            <a:off x="540000" y="6415200"/>
            <a:ext cx="7200000" cy="201240"/>
          </a:xfrm>
          <a:prstGeom prst="rect">
            <a:avLst/>
          </a:prstGeom>
          <a:noFill/>
          <a:ln w="0">
            <a:noFill/>
          </a:ln>
        </p:spPr>
        <p:txBody>
          <a:bodyPr lIns="43200" rIns="43200" tIns="43200" bIns="43200" anchor="t">
            <a:noAutofit/>
          </a:bodyPr>
          <a:p>
            <a:r>
              <a:rPr b="0" lang="en-US" sz="900" spc="-1" strike="noStrike">
                <a:solidFill>
                  <a:srgbClr val="5d6b75"/>
                </a:solidFill>
                <a:latin typeface="Lato"/>
              </a:rPr>
              <a:t>Master’s thesis · Uppsala University</a:t>
            </a:r>
            <a:endParaRPr b="0" lang="en-US" sz="900" spc="-1" strike="noStrike">
              <a:solidFill>
                <a:srgbClr val="5d6b75"/>
              </a:solidFill>
              <a:latin typeface="Lato"/>
            </a:endParaRPr>
          </a:p>
        </p:txBody>
      </p:sp>
      <p:sp>
        <p:nvSpPr>
          <p:cNvPr id="358" name=""/>
          <p:cNvSpPr txBox="1"/>
          <p:nvPr/>
        </p:nvSpPr>
        <p:spPr>
          <a:xfrm>
            <a:off x="9612000" y="6415200"/>
            <a:ext cx="2016000" cy="189000"/>
          </a:xfrm>
          <a:prstGeom prst="rect">
            <a:avLst/>
          </a:prstGeom>
          <a:noFill/>
          <a:ln w="0">
            <a:noFill/>
          </a:ln>
        </p:spPr>
        <p:txBody>
          <a:bodyPr lIns="43200" rIns="43200" tIns="43200" bIns="43200" anchor="t">
            <a:noAutofit/>
          </a:bodyPr>
          <a:p>
            <a:pPr algn="r">
              <a:buNone/>
            </a:pPr>
            <a:r>
              <a:rPr b="1" lang="en-US" sz="800" spc="-1" strike="noStrike">
                <a:solidFill>
                  <a:srgbClr val="1f7188"/>
                </a:solidFill>
                <a:latin typeface="Lato"/>
              </a:rPr>
              <a:t>RESULTS</a:t>
            </a:r>
            <a:endParaRPr b="1" lang="en-US" sz="800" spc="-1" strike="noStrike">
              <a:solidFill>
                <a:srgbClr val="1f7188"/>
              </a:solidFill>
              <a:latin typeface="Lato"/>
            </a:endParaRPr>
          </a:p>
        </p:txBody>
      </p:sp>
      <p:pic>
        <p:nvPicPr>
          <p:cNvPr id="359" name="" descr=""/>
          <p:cNvPicPr/>
          <p:nvPr/>
        </p:nvPicPr>
        <p:blipFill>
          <a:blip r:embed="rId1"/>
          <a:stretch/>
        </p:blipFill>
        <p:spPr>
          <a:xfrm>
            <a:off x="504000" y="1044000"/>
            <a:ext cx="6840000" cy="4248000"/>
          </a:xfrm>
          <a:prstGeom prst="rect">
            <a:avLst/>
          </a:prstGeom>
          <a:ln w="0">
            <a:noFill/>
          </a:ln>
        </p:spPr>
      </p:pic>
      <p:sp>
        <p:nvSpPr>
          <p:cNvPr id="360" name=""/>
          <p:cNvSpPr/>
          <p:nvPr/>
        </p:nvSpPr>
        <p:spPr>
          <a:xfrm>
            <a:off x="7848000" y="1476000"/>
            <a:ext cx="3528000" cy="1368000"/>
          </a:xfrm>
          <a:prstGeom prst="roundRect">
            <a:avLst/>
          </a:prstGeom>
          <a:solidFill>
            <a:srgbClr val="ffffff"/>
          </a:solidFill>
          <a:ln w="12600">
            <a:solidFill>
              <a:srgbClr val="d8e0e5"/>
            </a:solidFill>
            <a:round/>
          </a:ln>
        </p:spPr>
      </p:sp>
      <p:sp>
        <p:nvSpPr>
          <p:cNvPr id="361" name=""/>
          <p:cNvSpPr/>
          <p:nvPr/>
        </p:nvSpPr>
        <p:spPr>
          <a:xfrm>
            <a:off x="7848000" y="1476000"/>
            <a:ext cx="64800" cy="1368000"/>
          </a:xfrm>
          <a:prstGeom prst="rect">
            <a:avLst/>
          </a:prstGeom>
          <a:solidFill>
            <a:srgbClr val="f28c28"/>
          </a:solidFill>
          <a:ln w="0">
            <a:noFill/>
          </a:ln>
        </p:spPr>
      </p:sp>
      <p:sp>
        <p:nvSpPr>
          <p:cNvPr id="362" name=""/>
          <p:cNvSpPr txBox="1"/>
          <p:nvPr/>
        </p:nvSpPr>
        <p:spPr>
          <a:xfrm>
            <a:off x="8010000" y="1602000"/>
            <a:ext cx="3276000" cy="240840"/>
          </a:xfrm>
          <a:prstGeom prst="rect">
            <a:avLst/>
          </a:prstGeom>
          <a:noFill/>
          <a:ln w="0">
            <a:noFill/>
          </a:ln>
        </p:spPr>
        <p:txBody>
          <a:bodyPr lIns="43200" rIns="43200" tIns="43200" bIns="43200" anchor="t">
            <a:noAutofit/>
          </a:bodyPr>
          <a:p>
            <a:r>
              <a:rPr b="1" lang="en-US" sz="1200" spc="-1" strike="noStrike">
                <a:solidFill>
                  <a:srgbClr val="f28c28"/>
                </a:solidFill>
                <a:latin typeface="Lato"/>
              </a:rPr>
              <a:t>GENERAL PATTERN</a:t>
            </a:r>
            <a:endParaRPr b="1" lang="en-US" sz="1200" spc="-1" strike="noStrike">
              <a:solidFill>
                <a:srgbClr val="f28c28"/>
              </a:solidFill>
              <a:latin typeface="Lato"/>
            </a:endParaRPr>
          </a:p>
        </p:txBody>
      </p:sp>
      <p:sp>
        <p:nvSpPr>
          <p:cNvPr id="363" name=""/>
          <p:cNvSpPr txBox="1"/>
          <p:nvPr/>
        </p:nvSpPr>
        <p:spPr>
          <a:xfrm>
            <a:off x="8010000" y="1854000"/>
            <a:ext cx="3276000" cy="482400"/>
          </a:xfrm>
          <a:prstGeom prst="rect">
            <a:avLst/>
          </a:prstGeom>
          <a:noFill/>
          <a:ln w="0">
            <a:noFill/>
          </a:ln>
        </p:spPr>
        <p:txBody>
          <a:bodyPr lIns="43200" rIns="43200" tIns="43200" bIns="43200" anchor="t">
            <a:noAutofit/>
          </a:bodyPr>
          <a:p>
            <a:r>
              <a:rPr b="1" lang="en-US" sz="2200" spc="-1" strike="noStrike">
                <a:solidFill>
                  <a:srgbClr val="102b3f"/>
                </a:solidFill>
                <a:latin typeface="Lato"/>
              </a:rPr>
              <a:t>Shared context</a:t>
            </a:r>
            <a:endParaRPr b="1" lang="en-US" sz="2200" spc="-1" strike="noStrike">
              <a:solidFill>
                <a:srgbClr val="102b3f"/>
              </a:solidFill>
              <a:latin typeface="Lato"/>
            </a:endParaRPr>
          </a:p>
        </p:txBody>
      </p:sp>
      <p:sp>
        <p:nvSpPr>
          <p:cNvPr id="364" name=""/>
          <p:cNvSpPr txBox="1"/>
          <p:nvPr/>
        </p:nvSpPr>
        <p:spPr>
          <a:xfrm>
            <a:off x="8010000" y="2466000"/>
            <a:ext cx="3258000" cy="492120"/>
          </a:xfrm>
          <a:prstGeom prst="rect">
            <a:avLst/>
          </a:prstGeom>
          <a:noFill/>
          <a:ln w="0">
            <a:noFill/>
          </a:ln>
        </p:spPr>
        <p:txBody>
          <a:bodyPr lIns="43200" rIns="43200" tIns="43200" bIns="43200" anchor="t">
            <a:noAutofit/>
          </a:bodyPr>
          <a:p>
            <a:r>
              <a:rPr b="0" lang="en-US" sz="1600" spc="-1" strike="noStrike">
                <a:solidFill>
                  <a:srgbClr val="23313b"/>
                </a:solidFill>
                <a:latin typeface="Lato"/>
              </a:rPr>
              <a:t>Higher delivery performance</a:t>
            </a:r>
            <a:endParaRPr b="0" lang="en-US" sz="1600" spc="-1" strike="noStrike">
              <a:solidFill>
                <a:srgbClr val="23313b"/>
              </a:solidFill>
              <a:latin typeface="Lato"/>
            </a:endParaRPr>
          </a:p>
          <a:p>
            <a:r>
              <a:rPr b="0" lang="en-US" sz="1600" spc="-1" strike="noStrike">
                <a:solidFill>
                  <a:srgbClr val="23313b"/>
                </a:solidFill>
                <a:latin typeface="Lato"/>
              </a:rPr>
              <a:t>5 of 6 models</a:t>
            </a:r>
            <a:endParaRPr b="0" lang="en-US" sz="1600" spc="-1" strike="noStrike">
              <a:solidFill>
                <a:srgbClr val="23313b"/>
              </a:solidFill>
              <a:latin typeface="Lato"/>
            </a:endParaRPr>
          </a:p>
        </p:txBody>
      </p:sp>
      <p:sp>
        <p:nvSpPr>
          <p:cNvPr id="365" name=""/>
          <p:cNvSpPr/>
          <p:nvPr/>
        </p:nvSpPr>
        <p:spPr>
          <a:xfrm>
            <a:off x="7848000" y="3168000"/>
            <a:ext cx="3528000" cy="1368000"/>
          </a:xfrm>
          <a:prstGeom prst="roundRect">
            <a:avLst/>
          </a:prstGeom>
          <a:solidFill>
            <a:srgbClr val="ffffff"/>
          </a:solidFill>
          <a:ln w="12600">
            <a:solidFill>
              <a:srgbClr val="d8e0e5"/>
            </a:solidFill>
            <a:round/>
          </a:ln>
        </p:spPr>
      </p:sp>
      <p:sp>
        <p:nvSpPr>
          <p:cNvPr id="366" name=""/>
          <p:cNvSpPr/>
          <p:nvPr/>
        </p:nvSpPr>
        <p:spPr>
          <a:xfrm>
            <a:off x="7848000" y="3168000"/>
            <a:ext cx="64800" cy="1368000"/>
          </a:xfrm>
          <a:prstGeom prst="rect">
            <a:avLst/>
          </a:prstGeom>
          <a:solidFill>
            <a:srgbClr val="3e78b2"/>
          </a:solidFill>
          <a:ln w="0">
            <a:noFill/>
          </a:ln>
        </p:spPr>
      </p:sp>
      <p:sp>
        <p:nvSpPr>
          <p:cNvPr id="367" name=""/>
          <p:cNvSpPr txBox="1"/>
          <p:nvPr/>
        </p:nvSpPr>
        <p:spPr>
          <a:xfrm>
            <a:off x="8010000" y="3294000"/>
            <a:ext cx="3276000" cy="240840"/>
          </a:xfrm>
          <a:prstGeom prst="rect">
            <a:avLst/>
          </a:prstGeom>
          <a:noFill/>
          <a:ln w="0">
            <a:noFill/>
          </a:ln>
        </p:spPr>
        <p:txBody>
          <a:bodyPr lIns="43200" rIns="43200" tIns="43200" bIns="43200" anchor="t">
            <a:noAutofit/>
          </a:bodyPr>
          <a:p>
            <a:r>
              <a:rPr b="1" lang="en-US" sz="1200" spc="-1" strike="noStrike">
                <a:solidFill>
                  <a:srgbClr val="3e78b2"/>
                </a:solidFill>
                <a:latin typeface="Lato"/>
              </a:rPr>
              <a:t>TRADE-OFF</a:t>
            </a:r>
            <a:endParaRPr b="1" lang="en-US" sz="1200" spc="-1" strike="noStrike">
              <a:solidFill>
                <a:srgbClr val="3e78b2"/>
              </a:solidFill>
              <a:latin typeface="Lato"/>
            </a:endParaRPr>
          </a:p>
        </p:txBody>
      </p:sp>
      <p:sp>
        <p:nvSpPr>
          <p:cNvPr id="368" name=""/>
          <p:cNvSpPr txBox="1"/>
          <p:nvPr/>
        </p:nvSpPr>
        <p:spPr>
          <a:xfrm>
            <a:off x="8010000" y="3546000"/>
            <a:ext cx="3276000" cy="482400"/>
          </a:xfrm>
          <a:prstGeom prst="rect">
            <a:avLst/>
          </a:prstGeom>
          <a:noFill/>
          <a:ln w="0">
            <a:noFill/>
          </a:ln>
        </p:spPr>
        <p:txBody>
          <a:bodyPr lIns="43200" rIns="43200" tIns="43200" bIns="43200" anchor="t">
            <a:noAutofit/>
          </a:bodyPr>
          <a:p>
            <a:r>
              <a:rPr b="1" lang="en-US" sz="2200" spc="-1" strike="noStrike">
                <a:solidFill>
                  <a:srgbClr val="102b3f"/>
                </a:solidFill>
                <a:latin typeface="Lato"/>
              </a:rPr>
              <a:t>Centralized</a:t>
            </a:r>
            <a:endParaRPr b="1" lang="en-US" sz="2200" spc="-1" strike="noStrike">
              <a:solidFill>
                <a:srgbClr val="102b3f"/>
              </a:solidFill>
              <a:latin typeface="Lato"/>
            </a:endParaRPr>
          </a:p>
        </p:txBody>
      </p:sp>
      <p:sp>
        <p:nvSpPr>
          <p:cNvPr id="369" name=""/>
          <p:cNvSpPr txBox="1"/>
          <p:nvPr/>
        </p:nvSpPr>
        <p:spPr>
          <a:xfrm>
            <a:off x="8010000" y="4158000"/>
            <a:ext cx="3258000" cy="492120"/>
          </a:xfrm>
          <a:prstGeom prst="rect">
            <a:avLst/>
          </a:prstGeom>
          <a:noFill/>
          <a:ln w="0">
            <a:noFill/>
          </a:ln>
        </p:spPr>
        <p:txBody>
          <a:bodyPr lIns="43200" rIns="43200" tIns="43200" bIns="43200" anchor="t">
            <a:noAutofit/>
          </a:bodyPr>
          <a:p>
            <a:r>
              <a:rPr b="0" lang="en-US" sz="1600" spc="-1" strike="noStrike">
                <a:solidFill>
                  <a:srgbClr val="23313b"/>
                </a:solidFill>
                <a:latin typeface="Lato"/>
              </a:rPr>
              <a:t>Fewer model interactions</a:t>
            </a:r>
            <a:endParaRPr b="0" lang="en-US" sz="1600" spc="-1" strike="noStrike">
              <a:solidFill>
                <a:srgbClr val="23313b"/>
              </a:solidFill>
              <a:latin typeface="Lato"/>
            </a:endParaRPr>
          </a:p>
          <a:p>
            <a:r>
              <a:rPr b="0" lang="en-US" sz="1600" spc="-1" strike="noStrike">
                <a:solidFill>
                  <a:srgbClr val="23313b"/>
                </a:solidFill>
                <a:latin typeface="Lato"/>
              </a:rPr>
              <a:t>Qwen reversed the trend</a:t>
            </a:r>
            <a:endParaRPr b="0" lang="en-US" sz="1600" spc="-1" strike="noStrike">
              <a:solidFill>
                <a:srgbClr val="23313b"/>
              </a:solidFill>
              <a:latin typeface="Lato"/>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0" name=""/>
          <p:cNvSpPr txBox="1"/>
          <p:nvPr/>
        </p:nvSpPr>
        <p:spPr>
          <a:xfrm>
            <a:off x="540000" y="252000"/>
            <a:ext cx="10800000" cy="464400"/>
          </a:xfrm>
          <a:prstGeom prst="rect">
            <a:avLst/>
          </a:prstGeom>
          <a:noFill/>
          <a:ln w="0">
            <a:noFill/>
          </a:ln>
        </p:spPr>
        <p:txBody>
          <a:bodyPr lIns="43200" rIns="43200" tIns="43200" bIns="43200" anchor="t">
            <a:noAutofit/>
          </a:bodyPr>
          <a:p>
            <a:r>
              <a:rPr b="1" lang="en-US" sz="2900" spc="-1" strike="noStrike">
                <a:solidFill>
                  <a:srgbClr val="102b3f"/>
                </a:solidFill>
                <a:latin typeface="Lato"/>
              </a:rPr>
              <a:t>RQ3 — natural language was stronger across scenarios</a:t>
            </a:r>
            <a:endParaRPr b="1" lang="en-US" sz="2900" spc="-1" strike="noStrike">
              <a:solidFill>
                <a:srgbClr val="102b3f"/>
              </a:solidFill>
              <a:latin typeface="Lato"/>
            </a:endParaRPr>
          </a:p>
        </p:txBody>
      </p:sp>
      <p:sp>
        <p:nvSpPr>
          <p:cNvPr id="371" name=""/>
          <p:cNvSpPr/>
          <p:nvPr/>
        </p:nvSpPr>
        <p:spPr>
          <a:xfrm>
            <a:off x="540000" y="6354000"/>
            <a:ext cx="11088000" cy="7200"/>
          </a:xfrm>
          <a:prstGeom prst="rect">
            <a:avLst/>
          </a:prstGeom>
          <a:solidFill>
            <a:srgbClr val="1f7188"/>
          </a:solidFill>
          <a:ln w="0">
            <a:noFill/>
          </a:ln>
        </p:spPr>
      </p:sp>
      <p:sp>
        <p:nvSpPr>
          <p:cNvPr id="372" name=""/>
          <p:cNvSpPr txBox="1"/>
          <p:nvPr/>
        </p:nvSpPr>
        <p:spPr>
          <a:xfrm>
            <a:off x="540000" y="6415200"/>
            <a:ext cx="7200000" cy="201240"/>
          </a:xfrm>
          <a:prstGeom prst="rect">
            <a:avLst/>
          </a:prstGeom>
          <a:noFill/>
          <a:ln w="0">
            <a:noFill/>
          </a:ln>
        </p:spPr>
        <p:txBody>
          <a:bodyPr lIns="43200" rIns="43200" tIns="43200" bIns="43200" anchor="t">
            <a:noAutofit/>
          </a:bodyPr>
          <a:p>
            <a:r>
              <a:rPr b="0" lang="en-US" sz="900" spc="-1" strike="noStrike">
                <a:solidFill>
                  <a:srgbClr val="5d6b75"/>
                </a:solidFill>
                <a:latin typeface="Lato"/>
              </a:rPr>
              <a:t>Master’s thesis · Uppsala University</a:t>
            </a:r>
            <a:endParaRPr b="0" lang="en-US" sz="900" spc="-1" strike="noStrike">
              <a:solidFill>
                <a:srgbClr val="5d6b75"/>
              </a:solidFill>
              <a:latin typeface="Lato"/>
            </a:endParaRPr>
          </a:p>
        </p:txBody>
      </p:sp>
      <p:sp>
        <p:nvSpPr>
          <p:cNvPr id="373" name=""/>
          <p:cNvSpPr txBox="1"/>
          <p:nvPr/>
        </p:nvSpPr>
        <p:spPr>
          <a:xfrm>
            <a:off x="9612000" y="6415200"/>
            <a:ext cx="2016000" cy="189000"/>
          </a:xfrm>
          <a:prstGeom prst="rect">
            <a:avLst/>
          </a:prstGeom>
          <a:noFill/>
          <a:ln w="0">
            <a:noFill/>
          </a:ln>
        </p:spPr>
        <p:txBody>
          <a:bodyPr lIns="43200" rIns="43200" tIns="43200" bIns="43200" anchor="t">
            <a:noAutofit/>
          </a:bodyPr>
          <a:p>
            <a:pPr algn="r">
              <a:buNone/>
            </a:pPr>
            <a:r>
              <a:rPr b="1" lang="en-US" sz="800" spc="-1" strike="noStrike">
                <a:solidFill>
                  <a:srgbClr val="1f7188"/>
                </a:solidFill>
                <a:latin typeface="Lato"/>
              </a:rPr>
              <a:t>RESULTS</a:t>
            </a:r>
            <a:endParaRPr b="1" lang="en-US" sz="800" spc="-1" strike="noStrike">
              <a:solidFill>
                <a:srgbClr val="1f7188"/>
              </a:solidFill>
              <a:latin typeface="Lato"/>
            </a:endParaRPr>
          </a:p>
        </p:txBody>
      </p:sp>
      <p:pic>
        <p:nvPicPr>
          <p:cNvPr id="374" name="" descr=""/>
          <p:cNvPicPr/>
          <p:nvPr/>
        </p:nvPicPr>
        <p:blipFill>
          <a:blip r:embed="rId1"/>
          <a:stretch/>
        </p:blipFill>
        <p:spPr>
          <a:xfrm>
            <a:off x="540000" y="972000"/>
            <a:ext cx="11088000" cy="4572000"/>
          </a:xfrm>
          <a:prstGeom prst="rect">
            <a:avLst/>
          </a:prstGeom>
          <a:ln w="0">
            <a:noFill/>
          </a:ln>
        </p:spPr>
      </p:pic>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5" name=""/>
          <p:cNvSpPr txBox="1"/>
          <p:nvPr/>
        </p:nvSpPr>
        <p:spPr>
          <a:xfrm>
            <a:off x="540000" y="252000"/>
            <a:ext cx="10800000" cy="464400"/>
          </a:xfrm>
          <a:prstGeom prst="rect">
            <a:avLst/>
          </a:prstGeom>
          <a:noFill/>
          <a:ln w="0">
            <a:noFill/>
          </a:ln>
        </p:spPr>
        <p:txBody>
          <a:bodyPr lIns="43200" rIns="43200" tIns="43200" bIns="43200" anchor="t">
            <a:noAutofit/>
          </a:bodyPr>
          <a:p>
            <a:r>
              <a:rPr b="1" lang="en-US" sz="2900" spc="-1" strike="noStrike">
                <a:solidFill>
                  <a:srgbClr val="102b3f"/>
                </a:solidFill>
                <a:latin typeface="Lato"/>
              </a:rPr>
              <a:t>RQ3 — consistent overall, but model-dependent</a:t>
            </a:r>
            <a:endParaRPr b="1" lang="en-US" sz="2900" spc="-1" strike="noStrike">
              <a:solidFill>
                <a:srgbClr val="102b3f"/>
              </a:solidFill>
              <a:latin typeface="Lato"/>
            </a:endParaRPr>
          </a:p>
        </p:txBody>
      </p:sp>
      <p:sp>
        <p:nvSpPr>
          <p:cNvPr id="376" name=""/>
          <p:cNvSpPr/>
          <p:nvPr/>
        </p:nvSpPr>
        <p:spPr>
          <a:xfrm>
            <a:off x="540000" y="6354000"/>
            <a:ext cx="11088000" cy="7200"/>
          </a:xfrm>
          <a:prstGeom prst="rect">
            <a:avLst/>
          </a:prstGeom>
          <a:solidFill>
            <a:srgbClr val="1f7188"/>
          </a:solidFill>
          <a:ln w="0">
            <a:noFill/>
          </a:ln>
        </p:spPr>
      </p:sp>
      <p:sp>
        <p:nvSpPr>
          <p:cNvPr id="377" name=""/>
          <p:cNvSpPr txBox="1"/>
          <p:nvPr/>
        </p:nvSpPr>
        <p:spPr>
          <a:xfrm>
            <a:off x="540000" y="6415200"/>
            <a:ext cx="7200000" cy="201240"/>
          </a:xfrm>
          <a:prstGeom prst="rect">
            <a:avLst/>
          </a:prstGeom>
          <a:noFill/>
          <a:ln w="0">
            <a:noFill/>
          </a:ln>
        </p:spPr>
        <p:txBody>
          <a:bodyPr lIns="43200" rIns="43200" tIns="43200" bIns="43200" anchor="t">
            <a:noAutofit/>
          </a:bodyPr>
          <a:p>
            <a:r>
              <a:rPr b="0" lang="en-US" sz="900" spc="-1" strike="noStrike">
                <a:solidFill>
                  <a:srgbClr val="5d6b75"/>
                </a:solidFill>
                <a:latin typeface="Lato"/>
              </a:rPr>
              <a:t>Master’s thesis · Uppsala University</a:t>
            </a:r>
            <a:endParaRPr b="0" lang="en-US" sz="900" spc="-1" strike="noStrike">
              <a:solidFill>
                <a:srgbClr val="5d6b75"/>
              </a:solidFill>
              <a:latin typeface="Lato"/>
            </a:endParaRPr>
          </a:p>
        </p:txBody>
      </p:sp>
      <p:sp>
        <p:nvSpPr>
          <p:cNvPr id="378" name=""/>
          <p:cNvSpPr txBox="1"/>
          <p:nvPr/>
        </p:nvSpPr>
        <p:spPr>
          <a:xfrm>
            <a:off x="9612000" y="6415200"/>
            <a:ext cx="2016000" cy="189000"/>
          </a:xfrm>
          <a:prstGeom prst="rect">
            <a:avLst/>
          </a:prstGeom>
          <a:noFill/>
          <a:ln w="0">
            <a:noFill/>
          </a:ln>
        </p:spPr>
        <p:txBody>
          <a:bodyPr lIns="43200" rIns="43200" tIns="43200" bIns="43200" anchor="t">
            <a:noAutofit/>
          </a:bodyPr>
          <a:p>
            <a:pPr algn="r">
              <a:buNone/>
            </a:pPr>
            <a:r>
              <a:rPr b="1" lang="en-US" sz="800" spc="-1" strike="noStrike">
                <a:solidFill>
                  <a:srgbClr val="1f7188"/>
                </a:solidFill>
                <a:latin typeface="Lato"/>
              </a:rPr>
              <a:t>RESULTS</a:t>
            </a:r>
            <a:endParaRPr b="1" lang="en-US" sz="800" spc="-1" strike="noStrike">
              <a:solidFill>
                <a:srgbClr val="1f7188"/>
              </a:solidFill>
              <a:latin typeface="Lato"/>
            </a:endParaRPr>
          </a:p>
        </p:txBody>
      </p:sp>
      <p:pic>
        <p:nvPicPr>
          <p:cNvPr id="379" name="" descr=""/>
          <p:cNvPicPr/>
          <p:nvPr/>
        </p:nvPicPr>
        <p:blipFill>
          <a:blip r:embed="rId1"/>
          <a:stretch/>
        </p:blipFill>
        <p:spPr>
          <a:xfrm>
            <a:off x="468000" y="1116000"/>
            <a:ext cx="5328000" cy="3744000"/>
          </a:xfrm>
          <a:prstGeom prst="rect">
            <a:avLst/>
          </a:prstGeom>
          <a:ln w="0">
            <a:noFill/>
          </a:ln>
        </p:spPr>
      </p:pic>
      <p:pic>
        <p:nvPicPr>
          <p:cNvPr id="380" name="" descr=""/>
          <p:cNvPicPr/>
          <p:nvPr/>
        </p:nvPicPr>
        <p:blipFill>
          <a:blip r:embed="rId2"/>
          <a:stretch/>
        </p:blipFill>
        <p:spPr>
          <a:xfrm>
            <a:off x="6192000" y="1116000"/>
            <a:ext cx="5328000" cy="3744000"/>
          </a:xfrm>
          <a:prstGeom prst="rect">
            <a:avLst/>
          </a:prstGeom>
          <a:ln w="0">
            <a:noFill/>
          </a:ln>
        </p:spPr>
      </p:pic>
      <p:sp>
        <p:nvSpPr>
          <p:cNvPr id="381" name=""/>
          <p:cNvSpPr txBox="1"/>
          <p:nvPr/>
        </p:nvSpPr>
        <p:spPr>
          <a:xfrm>
            <a:off x="756000" y="5076000"/>
            <a:ext cx="10656000" cy="315360"/>
          </a:xfrm>
          <a:prstGeom prst="rect">
            <a:avLst/>
          </a:prstGeom>
          <a:noFill/>
          <a:ln w="0">
            <a:noFill/>
          </a:ln>
        </p:spPr>
        <p:txBody>
          <a:bodyPr lIns="43200" rIns="43200" tIns="43200" bIns="43200" anchor="t">
            <a:noAutofit/>
          </a:bodyPr>
          <a:p>
            <a:pPr algn="ctr">
              <a:buNone/>
            </a:pPr>
            <a:r>
              <a:rPr b="1" lang="en-US" sz="1800" spc="-1" strike="noStrike">
                <a:solidFill>
                  <a:srgbClr val="102b3f"/>
                </a:solidFill>
                <a:latin typeface="Lato"/>
              </a:rPr>
              <a:t>Interpretation boundary: compare complete prompt configurations—not JSON syntax alone.</a:t>
            </a:r>
            <a:endParaRPr b="1" lang="en-US" sz="1800" spc="-1" strike="noStrike">
              <a:solidFill>
                <a:srgbClr val="102b3f"/>
              </a:solidFill>
              <a:latin typeface="Lato"/>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2" name=""/>
          <p:cNvSpPr txBox="1"/>
          <p:nvPr/>
        </p:nvSpPr>
        <p:spPr>
          <a:xfrm>
            <a:off x="540000" y="252000"/>
            <a:ext cx="10800000" cy="464400"/>
          </a:xfrm>
          <a:prstGeom prst="rect">
            <a:avLst/>
          </a:prstGeom>
          <a:noFill/>
          <a:ln w="0">
            <a:noFill/>
          </a:ln>
        </p:spPr>
        <p:txBody>
          <a:bodyPr lIns="43200" rIns="43200" tIns="43200" bIns="43200" anchor="t">
            <a:noAutofit/>
          </a:bodyPr>
          <a:p>
            <a:r>
              <a:rPr b="1" lang="en-US" sz="2900" spc="-1" strike="noStrike">
                <a:solidFill>
                  <a:srgbClr val="102b3f"/>
                </a:solidFill>
                <a:latin typeface="Lato"/>
              </a:rPr>
              <a:t>Supplementary result — objective sensitivity was limited</a:t>
            </a:r>
            <a:endParaRPr b="1" lang="en-US" sz="2900" spc="-1" strike="noStrike">
              <a:solidFill>
                <a:srgbClr val="102b3f"/>
              </a:solidFill>
              <a:latin typeface="Lato"/>
            </a:endParaRPr>
          </a:p>
        </p:txBody>
      </p:sp>
      <p:sp>
        <p:nvSpPr>
          <p:cNvPr id="383" name=""/>
          <p:cNvSpPr/>
          <p:nvPr/>
        </p:nvSpPr>
        <p:spPr>
          <a:xfrm>
            <a:off x="540000" y="6354000"/>
            <a:ext cx="11088000" cy="7200"/>
          </a:xfrm>
          <a:prstGeom prst="rect">
            <a:avLst/>
          </a:prstGeom>
          <a:solidFill>
            <a:srgbClr val="1f7188"/>
          </a:solidFill>
          <a:ln w="0">
            <a:noFill/>
          </a:ln>
        </p:spPr>
      </p:sp>
      <p:sp>
        <p:nvSpPr>
          <p:cNvPr id="384" name=""/>
          <p:cNvSpPr txBox="1"/>
          <p:nvPr/>
        </p:nvSpPr>
        <p:spPr>
          <a:xfrm>
            <a:off x="540000" y="6415200"/>
            <a:ext cx="7200000" cy="201240"/>
          </a:xfrm>
          <a:prstGeom prst="rect">
            <a:avLst/>
          </a:prstGeom>
          <a:noFill/>
          <a:ln w="0">
            <a:noFill/>
          </a:ln>
        </p:spPr>
        <p:txBody>
          <a:bodyPr lIns="43200" rIns="43200" tIns="43200" bIns="43200" anchor="t">
            <a:noAutofit/>
          </a:bodyPr>
          <a:p>
            <a:r>
              <a:rPr b="0" lang="en-US" sz="900" spc="-1" strike="noStrike">
                <a:solidFill>
                  <a:srgbClr val="5d6b75"/>
                </a:solidFill>
                <a:latin typeface="Lato"/>
              </a:rPr>
              <a:t>Master’s thesis · Uppsala University</a:t>
            </a:r>
            <a:endParaRPr b="0" lang="en-US" sz="900" spc="-1" strike="noStrike">
              <a:solidFill>
                <a:srgbClr val="5d6b75"/>
              </a:solidFill>
              <a:latin typeface="Lato"/>
            </a:endParaRPr>
          </a:p>
        </p:txBody>
      </p:sp>
      <p:sp>
        <p:nvSpPr>
          <p:cNvPr id="385" name=""/>
          <p:cNvSpPr txBox="1"/>
          <p:nvPr/>
        </p:nvSpPr>
        <p:spPr>
          <a:xfrm>
            <a:off x="9612000" y="6415200"/>
            <a:ext cx="2016000" cy="189000"/>
          </a:xfrm>
          <a:prstGeom prst="rect">
            <a:avLst/>
          </a:prstGeom>
          <a:noFill/>
          <a:ln w="0">
            <a:noFill/>
          </a:ln>
        </p:spPr>
        <p:txBody>
          <a:bodyPr lIns="43200" rIns="43200" tIns="43200" bIns="43200" anchor="t">
            <a:noAutofit/>
          </a:bodyPr>
          <a:p>
            <a:pPr algn="r">
              <a:buNone/>
            </a:pPr>
            <a:r>
              <a:rPr b="1" lang="en-US" sz="800" spc="-1" strike="noStrike">
                <a:solidFill>
                  <a:srgbClr val="1f7188"/>
                </a:solidFill>
                <a:latin typeface="Lato"/>
              </a:rPr>
              <a:t>RESULTS</a:t>
            </a:r>
            <a:endParaRPr b="1" lang="en-US" sz="800" spc="-1" strike="noStrike">
              <a:solidFill>
                <a:srgbClr val="1f7188"/>
              </a:solidFill>
              <a:latin typeface="Lato"/>
            </a:endParaRPr>
          </a:p>
        </p:txBody>
      </p:sp>
      <p:pic>
        <p:nvPicPr>
          <p:cNvPr id="386" name="" descr=""/>
          <p:cNvPicPr/>
          <p:nvPr/>
        </p:nvPicPr>
        <p:blipFill>
          <a:blip r:embed="rId1"/>
          <a:stretch/>
        </p:blipFill>
        <p:spPr>
          <a:xfrm>
            <a:off x="540000" y="1116000"/>
            <a:ext cx="6840000" cy="4032000"/>
          </a:xfrm>
          <a:prstGeom prst="rect">
            <a:avLst/>
          </a:prstGeom>
          <a:ln w="0">
            <a:noFill/>
          </a:ln>
        </p:spPr>
      </p:pic>
      <p:sp>
        <p:nvSpPr>
          <p:cNvPr id="387" name=""/>
          <p:cNvSpPr/>
          <p:nvPr/>
        </p:nvSpPr>
        <p:spPr>
          <a:xfrm>
            <a:off x="7848000" y="1548000"/>
            <a:ext cx="3528000" cy="1188000"/>
          </a:xfrm>
          <a:prstGeom prst="roundRect">
            <a:avLst/>
          </a:prstGeom>
          <a:solidFill>
            <a:srgbClr val="ffffff"/>
          </a:solidFill>
          <a:ln w="12600">
            <a:solidFill>
              <a:srgbClr val="d8e0e5"/>
            </a:solidFill>
            <a:round/>
          </a:ln>
        </p:spPr>
      </p:sp>
      <p:sp>
        <p:nvSpPr>
          <p:cNvPr id="388" name=""/>
          <p:cNvSpPr/>
          <p:nvPr/>
        </p:nvSpPr>
        <p:spPr>
          <a:xfrm>
            <a:off x="7848000" y="1548000"/>
            <a:ext cx="64800" cy="1188000"/>
          </a:xfrm>
          <a:prstGeom prst="rect">
            <a:avLst/>
          </a:prstGeom>
          <a:solidFill>
            <a:srgbClr val="f28c28"/>
          </a:solidFill>
          <a:ln w="0">
            <a:noFill/>
          </a:ln>
        </p:spPr>
      </p:sp>
      <p:sp>
        <p:nvSpPr>
          <p:cNvPr id="389" name=""/>
          <p:cNvSpPr txBox="1"/>
          <p:nvPr/>
        </p:nvSpPr>
        <p:spPr>
          <a:xfrm>
            <a:off x="8010000" y="1674000"/>
            <a:ext cx="3276000" cy="240840"/>
          </a:xfrm>
          <a:prstGeom prst="rect">
            <a:avLst/>
          </a:prstGeom>
          <a:noFill/>
          <a:ln w="0">
            <a:noFill/>
          </a:ln>
        </p:spPr>
        <p:txBody>
          <a:bodyPr lIns="43200" rIns="43200" tIns="43200" bIns="43200" anchor="t">
            <a:noAutofit/>
          </a:bodyPr>
          <a:p>
            <a:r>
              <a:rPr b="1" lang="en-US" sz="1200" spc="-1" strike="noStrike">
                <a:solidFill>
                  <a:srgbClr val="f28c28"/>
                </a:solidFill>
                <a:latin typeface="Lato"/>
              </a:rPr>
              <a:t>CALL OBJECTIVE</a:t>
            </a:r>
            <a:endParaRPr b="1" lang="en-US" sz="1200" spc="-1" strike="noStrike">
              <a:solidFill>
                <a:srgbClr val="f28c28"/>
              </a:solidFill>
              <a:latin typeface="Lato"/>
            </a:endParaRPr>
          </a:p>
        </p:txBody>
      </p:sp>
      <p:sp>
        <p:nvSpPr>
          <p:cNvPr id="390" name=""/>
          <p:cNvSpPr txBox="1"/>
          <p:nvPr/>
        </p:nvSpPr>
        <p:spPr>
          <a:xfrm>
            <a:off x="8010000" y="1926000"/>
            <a:ext cx="3276000" cy="482400"/>
          </a:xfrm>
          <a:prstGeom prst="rect">
            <a:avLst/>
          </a:prstGeom>
          <a:noFill/>
          <a:ln w="0">
            <a:noFill/>
          </a:ln>
        </p:spPr>
        <p:txBody>
          <a:bodyPr lIns="43200" rIns="43200" tIns="43200" bIns="43200" anchor="t">
            <a:noAutofit/>
          </a:bodyPr>
          <a:p>
            <a:r>
              <a:rPr b="1" lang="en-US" sz="2200" spc="-1" strike="noStrike">
                <a:solidFill>
                  <a:srgbClr val="102b3f"/>
                </a:solidFill>
                <a:latin typeface="Lato"/>
              </a:rPr>
              <a:t>Mixed response</a:t>
            </a:r>
            <a:endParaRPr b="1" lang="en-US" sz="2200" spc="-1" strike="noStrike">
              <a:solidFill>
                <a:srgbClr val="102b3f"/>
              </a:solidFill>
              <a:latin typeface="Lato"/>
            </a:endParaRPr>
          </a:p>
        </p:txBody>
      </p:sp>
      <p:sp>
        <p:nvSpPr>
          <p:cNvPr id="391" name=""/>
          <p:cNvSpPr txBox="1"/>
          <p:nvPr/>
        </p:nvSpPr>
        <p:spPr>
          <a:xfrm>
            <a:off x="8010000" y="2538000"/>
            <a:ext cx="3258000" cy="492120"/>
          </a:xfrm>
          <a:prstGeom prst="rect">
            <a:avLst/>
          </a:prstGeom>
          <a:noFill/>
          <a:ln w="0">
            <a:noFill/>
          </a:ln>
        </p:spPr>
        <p:txBody>
          <a:bodyPr lIns="43200" rIns="43200" tIns="43200" bIns="43200" anchor="t">
            <a:noAutofit/>
          </a:bodyPr>
          <a:p>
            <a:r>
              <a:rPr b="0" lang="en-US" sz="1600" spc="-1" strike="noStrike">
                <a:solidFill>
                  <a:srgbClr val="23313b"/>
                </a:solidFill>
                <a:latin typeface="Lato"/>
              </a:rPr>
              <a:t>4 models reduced calls; 2 increased them.</a:t>
            </a:r>
            <a:endParaRPr b="0" lang="en-US" sz="1600" spc="-1" strike="noStrike">
              <a:solidFill>
                <a:srgbClr val="23313b"/>
              </a:solidFill>
              <a:latin typeface="Lato"/>
            </a:endParaRPr>
          </a:p>
        </p:txBody>
      </p:sp>
      <p:sp>
        <p:nvSpPr>
          <p:cNvPr id="392" name=""/>
          <p:cNvSpPr/>
          <p:nvPr/>
        </p:nvSpPr>
        <p:spPr>
          <a:xfrm>
            <a:off x="7848000" y="3060000"/>
            <a:ext cx="3528000" cy="1404000"/>
          </a:xfrm>
          <a:prstGeom prst="roundRect">
            <a:avLst/>
          </a:prstGeom>
          <a:solidFill>
            <a:srgbClr val="ffffff"/>
          </a:solidFill>
          <a:ln w="12600">
            <a:solidFill>
              <a:srgbClr val="d8e0e5"/>
            </a:solidFill>
            <a:round/>
          </a:ln>
        </p:spPr>
      </p:sp>
      <p:sp>
        <p:nvSpPr>
          <p:cNvPr id="393" name=""/>
          <p:cNvSpPr/>
          <p:nvPr/>
        </p:nvSpPr>
        <p:spPr>
          <a:xfrm>
            <a:off x="7848000" y="3060000"/>
            <a:ext cx="64800" cy="1404000"/>
          </a:xfrm>
          <a:prstGeom prst="rect">
            <a:avLst/>
          </a:prstGeom>
          <a:solidFill>
            <a:srgbClr val="1f7188"/>
          </a:solidFill>
          <a:ln w="0">
            <a:noFill/>
          </a:ln>
        </p:spPr>
      </p:sp>
      <p:sp>
        <p:nvSpPr>
          <p:cNvPr id="394" name=""/>
          <p:cNvSpPr txBox="1"/>
          <p:nvPr/>
        </p:nvSpPr>
        <p:spPr>
          <a:xfrm>
            <a:off x="8010000" y="3186000"/>
            <a:ext cx="3276000" cy="240840"/>
          </a:xfrm>
          <a:prstGeom prst="rect">
            <a:avLst/>
          </a:prstGeom>
          <a:noFill/>
          <a:ln w="0">
            <a:noFill/>
          </a:ln>
        </p:spPr>
        <p:txBody>
          <a:bodyPr lIns="43200" rIns="43200" tIns="43200" bIns="43200" anchor="t">
            <a:noAutofit/>
          </a:bodyPr>
          <a:p>
            <a:r>
              <a:rPr b="1" lang="en-US" sz="1200" spc="-1" strike="noStrike">
                <a:solidFill>
                  <a:srgbClr val="1f7188"/>
                </a:solidFill>
                <a:latin typeface="Lato"/>
              </a:rPr>
              <a:t>BATTERY OBJECTIVE</a:t>
            </a:r>
            <a:endParaRPr b="1" lang="en-US" sz="1200" spc="-1" strike="noStrike">
              <a:solidFill>
                <a:srgbClr val="1f7188"/>
              </a:solidFill>
              <a:latin typeface="Lato"/>
            </a:endParaRPr>
          </a:p>
        </p:txBody>
      </p:sp>
      <p:sp>
        <p:nvSpPr>
          <p:cNvPr id="395" name=""/>
          <p:cNvSpPr txBox="1"/>
          <p:nvPr/>
        </p:nvSpPr>
        <p:spPr>
          <a:xfrm>
            <a:off x="8010000" y="3438000"/>
            <a:ext cx="3276000" cy="482400"/>
          </a:xfrm>
          <a:prstGeom prst="rect">
            <a:avLst/>
          </a:prstGeom>
          <a:noFill/>
          <a:ln w="0">
            <a:noFill/>
          </a:ln>
        </p:spPr>
        <p:txBody>
          <a:bodyPr lIns="43200" rIns="43200" tIns="43200" bIns="43200" anchor="t">
            <a:noAutofit/>
          </a:bodyPr>
          <a:p>
            <a:r>
              <a:rPr b="1" lang="en-US" sz="2200" spc="-1" strike="noStrike">
                <a:solidFill>
                  <a:srgbClr val="102b3f"/>
                </a:solidFill>
                <a:latin typeface="Lato"/>
              </a:rPr>
              <a:t>Small, mixed changes</a:t>
            </a:r>
            <a:endParaRPr b="1" lang="en-US" sz="2200" spc="-1" strike="noStrike">
              <a:solidFill>
                <a:srgbClr val="102b3f"/>
              </a:solidFill>
              <a:latin typeface="Lato"/>
            </a:endParaRPr>
          </a:p>
        </p:txBody>
      </p:sp>
      <p:sp>
        <p:nvSpPr>
          <p:cNvPr id="396" name=""/>
          <p:cNvSpPr txBox="1"/>
          <p:nvPr/>
        </p:nvSpPr>
        <p:spPr>
          <a:xfrm>
            <a:off x="8010000" y="4050000"/>
            <a:ext cx="3258000" cy="492120"/>
          </a:xfrm>
          <a:prstGeom prst="rect">
            <a:avLst/>
          </a:prstGeom>
          <a:noFill/>
          <a:ln w="0">
            <a:noFill/>
          </a:ln>
        </p:spPr>
        <p:txBody>
          <a:bodyPr lIns="43200" rIns="43200" tIns="43200" bIns="43200" anchor="t">
            <a:noAutofit/>
          </a:bodyPr>
          <a:p>
            <a:r>
              <a:rPr b="0" lang="en-US" sz="1600" spc="-1" strike="noStrike">
                <a:solidFill>
                  <a:srgbClr val="23313b"/>
                </a:solidFill>
                <a:latin typeface="Lato"/>
              </a:rPr>
              <a:t>No consistent improvement across direct battery outcomes.</a:t>
            </a:r>
            <a:endParaRPr b="0" lang="en-US" sz="1600" spc="-1" strike="noStrike">
              <a:solidFill>
                <a:srgbClr val="23313b"/>
              </a:solidFill>
              <a:latin typeface="Lato"/>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7" name=""/>
          <p:cNvSpPr txBox="1"/>
          <p:nvPr/>
        </p:nvSpPr>
        <p:spPr>
          <a:xfrm>
            <a:off x="540000" y="252000"/>
            <a:ext cx="10800000" cy="464400"/>
          </a:xfrm>
          <a:prstGeom prst="rect">
            <a:avLst/>
          </a:prstGeom>
          <a:noFill/>
          <a:ln w="0">
            <a:noFill/>
          </a:ln>
        </p:spPr>
        <p:txBody>
          <a:bodyPr lIns="43200" rIns="43200" tIns="43200" bIns="43200" anchor="t">
            <a:noAutofit/>
          </a:bodyPr>
          <a:p>
            <a:r>
              <a:rPr b="1" lang="en-US" sz="2900" spc="-1" strike="noStrike">
                <a:solidFill>
                  <a:srgbClr val="102b3f"/>
                </a:solidFill>
                <a:latin typeface="Lato"/>
              </a:rPr>
              <a:t>Answer to the main question</a:t>
            </a:r>
            <a:endParaRPr b="1" lang="en-US" sz="2900" spc="-1" strike="noStrike">
              <a:solidFill>
                <a:srgbClr val="102b3f"/>
              </a:solidFill>
              <a:latin typeface="Lato"/>
            </a:endParaRPr>
          </a:p>
        </p:txBody>
      </p:sp>
      <p:sp>
        <p:nvSpPr>
          <p:cNvPr id="398" name=""/>
          <p:cNvSpPr/>
          <p:nvPr/>
        </p:nvSpPr>
        <p:spPr>
          <a:xfrm>
            <a:off x="540000" y="6354000"/>
            <a:ext cx="11088000" cy="7200"/>
          </a:xfrm>
          <a:prstGeom prst="rect">
            <a:avLst/>
          </a:prstGeom>
          <a:solidFill>
            <a:srgbClr val="1f7188"/>
          </a:solidFill>
          <a:ln w="0">
            <a:noFill/>
          </a:ln>
        </p:spPr>
      </p:sp>
      <p:sp>
        <p:nvSpPr>
          <p:cNvPr id="399" name=""/>
          <p:cNvSpPr txBox="1"/>
          <p:nvPr/>
        </p:nvSpPr>
        <p:spPr>
          <a:xfrm>
            <a:off x="540000" y="6415200"/>
            <a:ext cx="7200000" cy="201240"/>
          </a:xfrm>
          <a:prstGeom prst="rect">
            <a:avLst/>
          </a:prstGeom>
          <a:noFill/>
          <a:ln w="0">
            <a:noFill/>
          </a:ln>
        </p:spPr>
        <p:txBody>
          <a:bodyPr lIns="43200" rIns="43200" tIns="43200" bIns="43200" anchor="t">
            <a:noAutofit/>
          </a:bodyPr>
          <a:p>
            <a:r>
              <a:rPr b="0" lang="en-US" sz="900" spc="-1" strike="noStrike">
                <a:solidFill>
                  <a:srgbClr val="5d6b75"/>
                </a:solidFill>
                <a:latin typeface="Lato"/>
              </a:rPr>
              <a:t>Master’s thesis · Uppsala University</a:t>
            </a:r>
            <a:endParaRPr b="0" lang="en-US" sz="900" spc="-1" strike="noStrike">
              <a:solidFill>
                <a:srgbClr val="5d6b75"/>
              </a:solidFill>
              <a:latin typeface="Lato"/>
            </a:endParaRPr>
          </a:p>
        </p:txBody>
      </p:sp>
      <p:sp>
        <p:nvSpPr>
          <p:cNvPr id="400" name=""/>
          <p:cNvSpPr txBox="1"/>
          <p:nvPr/>
        </p:nvSpPr>
        <p:spPr>
          <a:xfrm>
            <a:off x="9612000" y="6415200"/>
            <a:ext cx="2016000" cy="189000"/>
          </a:xfrm>
          <a:prstGeom prst="rect">
            <a:avLst/>
          </a:prstGeom>
          <a:noFill/>
          <a:ln w="0">
            <a:noFill/>
          </a:ln>
        </p:spPr>
        <p:txBody>
          <a:bodyPr lIns="43200" rIns="43200" tIns="43200" bIns="43200" anchor="t">
            <a:noAutofit/>
          </a:bodyPr>
          <a:p>
            <a:pPr algn="r">
              <a:buNone/>
            </a:pPr>
            <a:r>
              <a:rPr b="1" lang="en-US" sz="800" spc="-1" strike="noStrike">
                <a:solidFill>
                  <a:srgbClr val="1f7188"/>
                </a:solidFill>
                <a:latin typeface="Lato"/>
              </a:rPr>
              <a:t>SYNTHESIS</a:t>
            </a:r>
            <a:endParaRPr b="1" lang="en-US" sz="800" spc="-1" strike="noStrike">
              <a:solidFill>
                <a:srgbClr val="1f7188"/>
              </a:solidFill>
              <a:latin typeface="Lato"/>
            </a:endParaRPr>
          </a:p>
        </p:txBody>
      </p:sp>
      <p:sp>
        <p:nvSpPr>
          <p:cNvPr id="401" name=""/>
          <p:cNvSpPr/>
          <p:nvPr/>
        </p:nvSpPr>
        <p:spPr>
          <a:xfrm>
            <a:off x="900000" y="1296000"/>
            <a:ext cx="10368000" cy="1116000"/>
          </a:xfrm>
          <a:prstGeom prst="roundRect">
            <a:avLst/>
          </a:prstGeom>
          <a:solidFill>
            <a:srgbClr val="102b3f"/>
          </a:solidFill>
          <a:ln w="12600">
            <a:solidFill>
              <a:srgbClr val="102b3f"/>
            </a:solidFill>
            <a:round/>
          </a:ln>
        </p:spPr>
        <p:txBody>
          <a:bodyPr lIns="64800" rIns="64800" tIns="43200" bIns="43200" anchor="b" anchorCtr="1">
            <a:noAutofit/>
          </a:bodyPr>
          <a:p>
            <a:pPr algn="ctr">
              <a:buNone/>
            </a:pPr>
            <a:r>
              <a:rPr b="1" lang="en-US" sz="2600" spc="-1" strike="noStrike">
                <a:solidFill>
                  <a:srgbClr val="ffffff"/>
                </a:solidFill>
                <a:latin typeface="Lato"/>
              </a:rPr>
              <a:t>YES—prompted LLMs produced executable decisions that completed</a:t>
            </a:r>
            <a:endParaRPr b="1" lang="en-US" sz="2600" spc="-1" strike="noStrike">
              <a:solidFill>
                <a:srgbClr val="ffffff"/>
              </a:solidFill>
              <a:latin typeface="Lato"/>
            </a:endParaRPr>
          </a:p>
          <a:p>
            <a:pPr algn="ctr">
              <a:buNone/>
            </a:pPr>
            <a:r>
              <a:rPr b="1" lang="en-US" sz="2600" spc="-1" strike="noStrike">
                <a:solidFill>
                  <a:srgbClr val="ffffff"/>
                </a:solidFill>
                <a:latin typeface="Lato"/>
              </a:rPr>
              <a:t>collaborative shelf-delivery cycles in the tested simulator.</a:t>
            </a:r>
            <a:endParaRPr b="1" lang="en-US" sz="2600" spc="-1" strike="noStrike">
              <a:solidFill>
                <a:srgbClr val="ffffff"/>
              </a:solidFill>
              <a:latin typeface="Lato"/>
            </a:endParaRPr>
          </a:p>
        </p:txBody>
      </p:sp>
      <p:sp>
        <p:nvSpPr>
          <p:cNvPr id="402" name=""/>
          <p:cNvSpPr/>
          <p:nvPr/>
        </p:nvSpPr>
        <p:spPr>
          <a:xfrm>
            <a:off x="6084000" y="2520000"/>
            <a:ext cx="0" cy="792000"/>
          </a:xfrm>
          <a:prstGeom prst="line">
            <a:avLst/>
          </a:prstGeom>
          <a:ln w="39600">
            <a:solidFill>
              <a:srgbClr val="f28c28"/>
            </a:solidFill>
            <a:round/>
          </a:ln>
        </p:spPr>
        <p:style>
          <a:lnRef idx="0"/>
          <a:fillRef idx="0"/>
          <a:effectRef idx="0"/>
          <a:fontRef idx="minor"/>
        </p:style>
      </p:sp>
      <p:sp>
        <p:nvSpPr>
          <p:cNvPr id="403" name=""/>
          <p:cNvSpPr/>
          <p:nvPr/>
        </p:nvSpPr>
        <p:spPr>
          <a:xfrm>
            <a:off x="1080000" y="3492000"/>
            <a:ext cx="4536000" cy="1512000"/>
          </a:xfrm>
          <a:prstGeom prst="roundRect">
            <a:avLst/>
          </a:prstGeom>
          <a:solidFill>
            <a:srgbClr val="ffffff"/>
          </a:solidFill>
          <a:ln w="12600">
            <a:solidFill>
              <a:srgbClr val="d8e0e5"/>
            </a:solidFill>
            <a:round/>
          </a:ln>
        </p:spPr>
      </p:sp>
      <p:sp>
        <p:nvSpPr>
          <p:cNvPr id="404" name=""/>
          <p:cNvSpPr/>
          <p:nvPr/>
        </p:nvSpPr>
        <p:spPr>
          <a:xfrm>
            <a:off x="1080000" y="3492000"/>
            <a:ext cx="64800" cy="1512000"/>
          </a:xfrm>
          <a:prstGeom prst="rect">
            <a:avLst/>
          </a:prstGeom>
          <a:solidFill>
            <a:srgbClr val="1f8a70"/>
          </a:solidFill>
          <a:ln w="0">
            <a:noFill/>
          </a:ln>
        </p:spPr>
      </p:sp>
      <p:sp>
        <p:nvSpPr>
          <p:cNvPr id="405" name=""/>
          <p:cNvSpPr txBox="1"/>
          <p:nvPr/>
        </p:nvSpPr>
        <p:spPr>
          <a:xfrm>
            <a:off x="1242000" y="3618000"/>
            <a:ext cx="4284000" cy="240840"/>
          </a:xfrm>
          <a:prstGeom prst="rect">
            <a:avLst/>
          </a:prstGeom>
          <a:noFill/>
          <a:ln w="0">
            <a:noFill/>
          </a:ln>
        </p:spPr>
        <p:txBody>
          <a:bodyPr lIns="43200" rIns="43200" tIns="43200" bIns="43200" anchor="t">
            <a:noAutofit/>
          </a:bodyPr>
          <a:p>
            <a:r>
              <a:rPr b="1" lang="en-US" sz="1200" spc="-1" strike="noStrike">
                <a:solidFill>
                  <a:srgbClr val="1f8a70"/>
                </a:solidFill>
                <a:latin typeface="Lato"/>
              </a:rPr>
              <a:t>SUPPORTED</a:t>
            </a:r>
            <a:endParaRPr b="1" lang="en-US" sz="1200" spc="-1" strike="noStrike">
              <a:solidFill>
                <a:srgbClr val="1f8a70"/>
              </a:solidFill>
              <a:latin typeface="Lato"/>
            </a:endParaRPr>
          </a:p>
        </p:txBody>
      </p:sp>
      <p:sp>
        <p:nvSpPr>
          <p:cNvPr id="406" name=""/>
          <p:cNvSpPr txBox="1"/>
          <p:nvPr/>
        </p:nvSpPr>
        <p:spPr>
          <a:xfrm>
            <a:off x="1242000" y="3870000"/>
            <a:ext cx="4284000" cy="482400"/>
          </a:xfrm>
          <a:prstGeom prst="rect">
            <a:avLst/>
          </a:prstGeom>
          <a:noFill/>
          <a:ln w="0">
            <a:noFill/>
          </a:ln>
        </p:spPr>
        <p:txBody>
          <a:bodyPr lIns="43200" rIns="43200" tIns="43200" bIns="43200" anchor="t">
            <a:noAutofit/>
          </a:bodyPr>
          <a:p>
            <a:r>
              <a:rPr b="1" lang="en-US" sz="2200" spc="-1" strike="noStrike">
                <a:solidFill>
                  <a:srgbClr val="102b3f"/>
                </a:solidFill>
                <a:latin typeface="Lato"/>
              </a:rPr>
              <a:t>Feasibility</a:t>
            </a:r>
            <a:endParaRPr b="1" lang="en-US" sz="2200" spc="-1" strike="noStrike">
              <a:solidFill>
                <a:srgbClr val="102b3f"/>
              </a:solidFill>
              <a:latin typeface="Lato"/>
            </a:endParaRPr>
          </a:p>
        </p:txBody>
      </p:sp>
      <p:sp>
        <p:nvSpPr>
          <p:cNvPr id="407" name=""/>
          <p:cNvSpPr txBox="1"/>
          <p:nvPr/>
        </p:nvSpPr>
        <p:spPr>
          <a:xfrm>
            <a:off x="1242000" y="4482000"/>
            <a:ext cx="4266000" cy="492120"/>
          </a:xfrm>
          <a:prstGeom prst="rect">
            <a:avLst/>
          </a:prstGeom>
          <a:noFill/>
          <a:ln w="0">
            <a:noFill/>
          </a:ln>
        </p:spPr>
        <p:txBody>
          <a:bodyPr lIns="43200" rIns="43200" tIns="43200" bIns="43200" anchor="t">
            <a:noAutofit/>
          </a:bodyPr>
          <a:p>
            <a:r>
              <a:rPr b="0" lang="en-US" sz="1600" spc="-1" strike="noStrike">
                <a:solidFill>
                  <a:srgbClr val="23313b"/>
                </a:solidFill>
                <a:latin typeface="Lato"/>
              </a:rPr>
              <a:t>Observed across models, architectures, prompts, and scenarios.</a:t>
            </a:r>
            <a:endParaRPr b="0" lang="en-US" sz="1600" spc="-1" strike="noStrike">
              <a:solidFill>
                <a:srgbClr val="23313b"/>
              </a:solidFill>
              <a:latin typeface="Lato"/>
            </a:endParaRPr>
          </a:p>
        </p:txBody>
      </p:sp>
      <p:sp>
        <p:nvSpPr>
          <p:cNvPr id="408" name=""/>
          <p:cNvSpPr/>
          <p:nvPr/>
        </p:nvSpPr>
        <p:spPr>
          <a:xfrm>
            <a:off x="6552000" y="3492000"/>
            <a:ext cx="4536000" cy="1512000"/>
          </a:xfrm>
          <a:prstGeom prst="roundRect">
            <a:avLst/>
          </a:prstGeom>
          <a:solidFill>
            <a:srgbClr val="ffffff"/>
          </a:solidFill>
          <a:ln w="12600">
            <a:solidFill>
              <a:srgbClr val="d8e0e5"/>
            </a:solidFill>
            <a:round/>
          </a:ln>
        </p:spPr>
      </p:sp>
      <p:sp>
        <p:nvSpPr>
          <p:cNvPr id="409" name=""/>
          <p:cNvSpPr/>
          <p:nvPr/>
        </p:nvSpPr>
        <p:spPr>
          <a:xfrm>
            <a:off x="6552000" y="3492000"/>
            <a:ext cx="64800" cy="1512000"/>
          </a:xfrm>
          <a:prstGeom prst="rect">
            <a:avLst/>
          </a:prstGeom>
          <a:solidFill>
            <a:srgbClr val="d9534f"/>
          </a:solidFill>
          <a:ln w="0">
            <a:noFill/>
          </a:ln>
        </p:spPr>
      </p:sp>
      <p:sp>
        <p:nvSpPr>
          <p:cNvPr id="410" name=""/>
          <p:cNvSpPr txBox="1"/>
          <p:nvPr/>
        </p:nvSpPr>
        <p:spPr>
          <a:xfrm>
            <a:off x="6714000" y="3618000"/>
            <a:ext cx="4284000" cy="240840"/>
          </a:xfrm>
          <a:prstGeom prst="rect">
            <a:avLst/>
          </a:prstGeom>
          <a:noFill/>
          <a:ln w="0">
            <a:noFill/>
          </a:ln>
        </p:spPr>
        <p:txBody>
          <a:bodyPr lIns="43200" rIns="43200" tIns="43200" bIns="43200" anchor="t">
            <a:noAutofit/>
          </a:bodyPr>
          <a:p>
            <a:r>
              <a:rPr b="1" lang="en-US" sz="1200" spc="-1" strike="noStrike">
                <a:solidFill>
                  <a:srgbClr val="d9534f"/>
                </a:solidFill>
                <a:latin typeface="Lato"/>
              </a:rPr>
              <a:t>NOT ESTABLISHED</a:t>
            </a:r>
            <a:endParaRPr b="1" lang="en-US" sz="1200" spc="-1" strike="noStrike">
              <a:solidFill>
                <a:srgbClr val="d9534f"/>
              </a:solidFill>
              <a:latin typeface="Lato"/>
            </a:endParaRPr>
          </a:p>
        </p:txBody>
      </p:sp>
      <p:sp>
        <p:nvSpPr>
          <p:cNvPr id="411" name=""/>
          <p:cNvSpPr txBox="1"/>
          <p:nvPr/>
        </p:nvSpPr>
        <p:spPr>
          <a:xfrm>
            <a:off x="6714000" y="3870000"/>
            <a:ext cx="4284000" cy="482400"/>
          </a:xfrm>
          <a:prstGeom prst="rect">
            <a:avLst/>
          </a:prstGeom>
          <a:noFill/>
          <a:ln w="0">
            <a:noFill/>
          </a:ln>
        </p:spPr>
        <p:txBody>
          <a:bodyPr lIns="43200" rIns="43200" tIns="43200" bIns="43200" anchor="t">
            <a:noAutofit/>
          </a:bodyPr>
          <a:p>
            <a:r>
              <a:rPr b="1" lang="en-US" sz="2200" spc="-1" strike="noStrike">
                <a:solidFill>
                  <a:srgbClr val="102b3f"/>
                </a:solidFill>
                <a:latin typeface="Lato"/>
              </a:rPr>
              <a:t>Superiority</a:t>
            </a:r>
            <a:endParaRPr b="1" lang="en-US" sz="2200" spc="-1" strike="noStrike">
              <a:solidFill>
                <a:srgbClr val="102b3f"/>
              </a:solidFill>
              <a:latin typeface="Lato"/>
            </a:endParaRPr>
          </a:p>
        </p:txBody>
      </p:sp>
      <p:sp>
        <p:nvSpPr>
          <p:cNvPr id="412" name=""/>
          <p:cNvSpPr txBox="1"/>
          <p:nvPr/>
        </p:nvSpPr>
        <p:spPr>
          <a:xfrm>
            <a:off x="6714000" y="4482000"/>
            <a:ext cx="4266000" cy="492120"/>
          </a:xfrm>
          <a:prstGeom prst="rect">
            <a:avLst/>
          </a:prstGeom>
          <a:noFill/>
          <a:ln w="0">
            <a:noFill/>
          </a:ln>
        </p:spPr>
        <p:txBody>
          <a:bodyPr lIns="43200" rIns="43200" tIns="43200" bIns="43200" anchor="t">
            <a:noAutofit/>
          </a:bodyPr>
          <a:p>
            <a:r>
              <a:rPr b="0" lang="en-US" sz="1600" spc="-1" strike="noStrike">
                <a:solidFill>
                  <a:srgbClr val="23313b"/>
                </a:solidFill>
                <a:latin typeface="Lato"/>
              </a:rPr>
              <a:t>No conventional-planner or reinforcement-learning baseline.</a:t>
            </a:r>
            <a:endParaRPr b="0" lang="en-US" sz="1600" spc="-1" strike="noStrike">
              <a:solidFill>
                <a:srgbClr val="23313b"/>
              </a:solidFill>
              <a:latin typeface="Lato"/>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3" name=""/>
          <p:cNvSpPr txBox="1"/>
          <p:nvPr/>
        </p:nvSpPr>
        <p:spPr>
          <a:xfrm>
            <a:off x="540000" y="252000"/>
            <a:ext cx="10800000" cy="464400"/>
          </a:xfrm>
          <a:prstGeom prst="rect">
            <a:avLst/>
          </a:prstGeom>
          <a:noFill/>
          <a:ln w="0">
            <a:noFill/>
          </a:ln>
        </p:spPr>
        <p:txBody>
          <a:bodyPr lIns="43200" rIns="43200" tIns="43200" bIns="43200" anchor="t">
            <a:noAutofit/>
          </a:bodyPr>
          <a:p>
            <a:r>
              <a:rPr b="1" lang="en-US" sz="2900" spc="-1" strike="noStrike">
                <a:solidFill>
                  <a:srgbClr val="102b3f"/>
                </a:solidFill>
                <a:latin typeface="Lato"/>
              </a:rPr>
              <a:t>The contribution is a complete decision system</a:t>
            </a:r>
            <a:endParaRPr b="1" lang="en-US" sz="2900" spc="-1" strike="noStrike">
              <a:solidFill>
                <a:srgbClr val="102b3f"/>
              </a:solidFill>
              <a:latin typeface="Lato"/>
            </a:endParaRPr>
          </a:p>
        </p:txBody>
      </p:sp>
      <p:sp>
        <p:nvSpPr>
          <p:cNvPr id="414" name=""/>
          <p:cNvSpPr/>
          <p:nvPr/>
        </p:nvSpPr>
        <p:spPr>
          <a:xfrm>
            <a:off x="540000" y="6354000"/>
            <a:ext cx="11088000" cy="7200"/>
          </a:xfrm>
          <a:prstGeom prst="rect">
            <a:avLst/>
          </a:prstGeom>
          <a:solidFill>
            <a:srgbClr val="1f7188"/>
          </a:solidFill>
          <a:ln w="0">
            <a:noFill/>
          </a:ln>
        </p:spPr>
      </p:sp>
      <p:sp>
        <p:nvSpPr>
          <p:cNvPr id="415" name=""/>
          <p:cNvSpPr txBox="1"/>
          <p:nvPr/>
        </p:nvSpPr>
        <p:spPr>
          <a:xfrm>
            <a:off x="540000" y="6415200"/>
            <a:ext cx="7200000" cy="201240"/>
          </a:xfrm>
          <a:prstGeom prst="rect">
            <a:avLst/>
          </a:prstGeom>
          <a:noFill/>
          <a:ln w="0">
            <a:noFill/>
          </a:ln>
        </p:spPr>
        <p:txBody>
          <a:bodyPr lIns="43200" rIns="43200" tIns="43200" bIns="43200" anchor="t">
            <a:noAutofit/>
          </a:bodyPr>
          <a:p>
            <a:r>
              <a:rPr b="0" lang="en-US" sz="900" spc="-1" strike="noStrike">
                <a:solidFill>
                  <a:srgbClr val="5d6b75"/>
                </a:solidFill>
                <a:latin typeface="Lato"/>
              </a:rPr>
              <a:t>Master’s thesis · Uppsala University</a:t>
            </a:r>
            <a:endParaRPr b="0" lang="en-US" sz="900" spc="-1" strike="noStrike">
              <a:solidFill>
                <a:srgbClr val="5d6b75"/>
              </a:solidFill>
              <a:latin typeface="Lato"/>
            </a:endParaRPr>
          </a:p>
        </p:txBody>
      </p:sp>
      <p:sp>
        <p:nvSpPr>
          <p:cNvPr id="416" name=""/>
          <p:cNvSpPr txBox="1"/>
          <p:nvPr/>
        </p:nvSpPr>
        <p:spPr>
          <a:xfrm>
            <a:off x="9612000" y="6415200"/>
            <a:ext cx="2016000" cy="189000"/>
          </a:xfrm>
          <a:prstGeom prst="rect">
            <a:avLst/>
          </a:prstGeom>
          <a:noFill/>
          <a:ln w="0">
            <a:noFill/>
          </a:ln>
        </p:spPr>
        <p:txBody>
          <a:bodyPr lIns="43200" rIns="43200" tIns="43200" bIns="43200" anchor="t">
            <a:noAutofit/>
          </a:bodyPr>
          <a:p>
            <a:pPr algn="r">
              <a:buNone/>
            </a:pPr>
            <a:r>
              <a:rPr b="1" lang="en-US" sz="800" spc="-1" strike="noStrike">
                <a:solidFill>
                  <a:srgbClr val="1f7188"/>
                </a:solidFill>
                <a:latin typeface="Lato"/>
              </a:rPr>
              <a:t>SYNTHESIS</a:t>
            </a:r>
            <a:endParaRPr b="1" lang="en-US" sz="800" spc="-1" strike="noStrike">
              <a:solidFill>
                <a:srgbClr val="1f7188"/>
              </a:solidFill>
              <a:latin typeface="Lato"/>
            </a:endParaRPr>
          </a:p>
        </p:txBody>
      </p:sp>
      <p:sp>
        <p:nvSpPr>
          <p:cNvPr id="417" name=""/>
          <p:cNvSpPr/>
          <p:nvPr/>
        </p:nvSpPr>
        <p:spPr>
          <a:xfrm>
            <a:off x="432000" y="1908000"/>
            <a:ext cx="1620000" cy="1080000"/>
          </a:xfrm>
          <a:prstGeom prst="roundRect">
            <a:avLst/>
          </a:prstGeom>
          <a:solidFill>
            <a:srgbClr val="ffffff"/>
          </a:solidFill>
          <a:ln w="12600">
            <a:solidFill>
              <a:srgbClr val="3e78b2"/>
            </a:solidFill>
            <a:round/>
          </a:ln>
        </p:spPr>
        <p:txBody>
          <a:bodyPr lIns="64800" rIns="64800" tIns="43200" bIns="43200" anchor="b" anchorCtr="1">
            <a:noAutofit/>
          </a:bodyPr>
          <a:p>
            <a:pPr algn="ctr">
              <a:buNone/>
            </a:pPr>
            <a:r>
              <a:rPr b="1" lang="en-US" sz="1800" spc="-1" strike="noStrike">
                <a:solidFill>
                  <a:srgbClr val="102b3f"/>
                </a:solidFill>
                <a:latin typeface="Lato"/>
              </a:rPr>
              <a:t>State abstraction</a:t>
            </a:r>
            <a:endParaRPr b="1" lang="en-US" sz="1800" spc="-1" strike="noStrike">
              <a:solidFill>
                <a:srgbClr val="102b3f"/>
              </a:solidFill>
              <a:latin typeface="Lato"/>
            </a:endParaRPr>
          </a:p>
        </p:txBody>
      </p:sp>
      <p:sp>
        <p:nvSpPr>
          <p:cNvPr id="418" name=""/>
          <p:cNvSpPr/>
          <p:nvPr/>
        </p:nvSpPr>
        <p:spPr>
          <a:xfrm>
            <a:off x="2070000" y="2448000"/>
            <a:ext cx="252000" cy="0"/>
          </a:xfrm>
          <a:prstGeom prst="line">
            <a:avLst/>
          </a:prstGeom>
          <a:ln w="19800">
            <a:solidFill>
              <a:srgbClr val="5d6b75"/>
            </a:solidFill>
            <a:round/>
          </a:ln>
        </p:spPr>
        <p:style>
          <a:lnRef idx="0"/>
          <a:fillRef idx="0"/>
          <a:effectRef idx="0"/>
          <a:fontRef idx="minor"/>
        </p:style>
      </p:sp>
      <p:sp>
        <p:nvSpPr>
          <p:cNvPr id="419" name=""/>
          <p:cNvSpPr/>
          <p:nvPr/>
        </p:nvSpPr>
        <p:spPr>
          <a:xfrm>
            <a:off x="2358000" y="1908000"/>
            <a:ext cx="1620000" cy="1080000"/>
          </a:xfrm>
          <a:prstGeom prst="roundRect">
            <a:avLst/>
          </a:prstGeom>
          <a:solidFill>
            <a:srgbClr val="ffffff"/>
          </a:solidFill>
          <a:ln w="12600">
            <a:solidFill>
              <a:srgbClr val="1f7188"/>
            </a:solidFill>
            <a:round/>
          </a:ln>
        </p:spPr>
        <p:txBody>
          <a:bodyPr lIns="64800" rIns="64800" tIns="43200" bIns="43200" anchor="b" anchorCtr="1">
            <a:noAutofit/>
          </a:bodyPr>
          <a:p>
            <a:pPr algn="ctr">
              <a:buNone/>
            </a:pPr>
            <a:r>
              <a:rPr b="1" lang="en-US" sz="1800" spc="-1" strike="noStrike">
                <a:solidFill>
                  <a:srgbClr val="102b3f"/>
                </a:solidFill>
                <a:latin typeface="Lato"/>
              </a:rPr>
              <a:t>Candidate design</a:t>
            </a:r>
            <a:endParaRPr b="1" lang="en-US" sz="1800" spc="-1" strike="noStrike">
              <a:solidFill>
                <a:srgbClr val="102b3f"/>
              </a:solidFill>
              <a:latin typeface="Lato"/>
            </a:endParaRPr>
          </a:p>
        </p:txBody>
      </p:sp>
      <p:sp>
        <p:nvSpPr>
          <p:cNvPr id="420" name=""/>
          <p:cNvSpPr/>
          <p:nvPr/>
        </p:nvSpPr>
        <p:spPr>
          <a:xfrm>
            <a:off x="3996000" y="2448000"/>
            <a:ext cx="252000" cy="0"/>
          </a:xfrm>
          <a:prstGeom prst="line">
            <a:avLst/>
          </a:prstGeom>
          <a:ln w="19800">
            <a:solidFill>
              <a:srgbClr val="5d6b75"/>
            </a:solidFill>
            <a:round/>
          </a:ln>
        </p:spPr>
        <p:style>
          <a:lnRef idx="0"/>
          <a:fillRef idx="0"/>
          <a:effectRef idx="0"/>
          <a:fontRef idx="minor"/>
        </p:style>
      </p:sp>
      <p:sp>
        <p:nvSpPr>
          <p:cNvPr id="421" name=""/>
          <p:cNvSpPr/>
          <p:nvPr/>
        </p:nvSpPr>
        <p:spPr>
          <a:xfrm>
            <a:off x="4284000" y="1908000"/>
            <a:ext cx="1620000" cy="1080000"/>
          </a:xfrm>
          <a:prstGeom prst="roundRect">
            <a:avLst/>
          </a:prstGeom>
          <a:solidFill>
            <a:srgbClr val="ffffff"/>
          </a:solidFill>
          <a:ln w="12600">
            <a:solidFill>
              <a:srgbClr val="4f4593"/>
            </a:solidFill>
            <a:round/>
          </a:ln>
        </p:spPr>
        <p:txBody>
          <a:bodyPr lIns="64800" rIns="64800" tIns="43200" bIns="43200" anchor="b" anchorCtr="1">
            <a:noAutofit/>
          </a:bodyPr>
          <a:p>
            <a:pPr algn="ctr">
              <a:buNone/>
            </a:pPr>
            <a:r>
              <a:rPr b="1" lang="en-US" sz="1800" spc="-1" strike="noStrike">
                <a:solidFill>
                  <a:srgbClr val="102b3f"/>
                </a:solidFill>
                <a:latin typeface="Lato"/>
              </a:rPr>
              <a:t>Prompt interface</a:t>
            </a:r>
            <a:endParaRPr b="1" lang="en-US" sz="1800" spc="-1" strike="noStrike">
              <a:solidFill>
                <a:srgbClr val="102b3f"/>
              </a:solidFill>
              <a:latin typeface="Lato"/>
            </a:endParaRPr>
          </a:p>
        </p:txBody>
      </p:sp>
      <p:sp>
        <p:nvSpPr>
          <p:cNvPr id="422" name=""/>
          <p:cNvSpPr/>
          <p:nvPr/>
        </p:nvSpPr>
        <p:spPr>
          <a:xfrm>
            <a:off x="5922000" y="2448000"/>
            <a:ext cx="252000" cy="0"/>
          </a:xfrm>
          <a:prstGeom prst="line">
            <a:avLst/>
          </a:prstGeom>
          <a:ln w="19800">
            <a:solidFill>
              <a:srgbClr val="5d6b75"/>
            </a:solidFill>
            <a:round/>
          </a:ln>
        </p:spPr>
        <p:style>
          <a:lnRef idx="0"/>
          <a:fillRef idx="0"/>
          <a:effectRef idx="0"/>
          <a:fontRef idx="minor"/>
        </p:style>
      </p:sp>
      <p:sp>
        <p:nvSpPr>
          <p:cNvPr id="423" name=""/>
          <p:cNvSpPr/>
          <p:nvPr/>
        </p:nvSpPr>
        <p:spPr>
          <a:xfrm>
            <a:off x="6210000" y="1908000"/>
            <a:ext cx="1620000" cy="1080000"/>
          </a:xfrm>
          <a:prstGeom prst="roundRect">
            <a:avLst/>
          </a:prstGeom>
          <a:solidFill>
            <a:srgbClr val="ffffff"/>
          </a:solidFill>
          <a:ln w="12600">
            <a:solidFill>
              <a:srgbClr val="f28c28"/>
            </a:solidFill>
            <a:round/>
          </a:ln>
        </p:spPr>
        <p:txBody>
          <a:bodyPr lIns="64800" rIns="64800" tIns="43200" bIns="43200" anchor="b" anchorCtr="1">
            <a:noAutofit/>
          </a:bodyPr>
          <a:p>
            <a:pPr algn="ctr">
              <a:buNone/>
            </a:pPr>
            <a:r>
              <a:rPr b="1" lang="en-US" sz="1800" spc="-1" strike="noStrike">
                <a:solidFill>
                  <a:srgbClr val="102b3f"/>
                </a:solidFill>
                <a:latin typeface="Lato"/>
              </a:rPr>
              <a:t>LLM selection</a:t>
            </a:r>
            <a:endParaRPr b="1" lang="en-US" sz="1800" spc="-1" strike="noStrike">
              <a:solidFill>
                <a:srgbClr val="102b3f"/>
              </a:solidFill>
              <a:latin typeface="Lato"/>
            </a:endParaRPr>
          </a:p>
        </p:txBody>
      </p:sp>
      <p:sp>
        <p:nvSpPr>
          <p:cNvPr id="424" name=""/>
          <p:cNvSpPr/>
          <p:nvPr/>
        </p:nvSpPr>
        <p:spPr>
          <a:xfrm>
            <a:off x="7848000" y="2448000"/>
            <a:ext cx="252000" cy="0"/>
          </a:xfrm>
          <a:prstGeom prst="line">
            <a:avLst/>
          </a:prstGeom>
          <a:ln w="19800">
            <a:solidFill>
              <a:srgbClr val="5d6b75"/>
            </a:solidFill>
            <a:round/>
          </a:ln>
        </p:spPr>
        <p:style>
          <a:lnRef idx="0"/>
          <a:fillRef idx="0"/>
          <a:effectRef idx="0"/>
          <a:fontRef idx="minor"/>
        </p:style>
      </p:sp>
      <p:sp>
        <p:nvSpPr>
          <p:cNvPr id="425" name=""/>
          <p:cNvSpPr/>
          <p:nvPr/>
        </p:nvSpPr>
        <p:spPr>
          <a:xfrm>
            <a:off x="8136000" y="1908000"/>
            <a:ext cx="1620000" cy="1080000"/>
          </a:xfrm>
          <a:prstGeom prst="roundRect">
            <a:avLst/>
          </a:prstGeom>
          <a:solidFill>
            <a:srgbClr val="ffffff"/>
          </a:solidFill>
          <a:ln w="12600">
            <a:solidFill>
              <a:srgbClr val="d9534f"/>
            </a:solidFill>
            <a:round/>
          </a:ln>
        </p:spPr>
        <p:txBody>
          <a:bodyPr lIns="64800" rIns="64800" tIns="43200" bIns="43200" anchor="b" anchorCtr="1">
            <a:noAutofit/>
          </a:bodyPr>
          <a:p>
            <a:pPr algn="ctr">
              <a:buNone/>
            </a:pPr>
            <a:r>
              <a:rPr b="1" lang="en-US" sz="1800" spc="-1" strike="noStrike">
                <a:solidFill>
                  <a:srgbClr val="102b3f"/>
                </a:solidFill>
                <a:latin typeface="Lato"/>
              </a:rPr>
              <a:t>Checks + fallback</a:t>
            </a:r>
            <a:endParaRPr b="1" lang="en-US" sz="1800" spc="-1" strike="noStrike">
              <a:solidFill>
                <a:srgbClr val="102b3f"/>
              </a:solidFill>
              <a:latin typeface="Lato"/>
            </a:endParaRPr>
          </a:p>
        </p:txBody>
      </p:sp>
      <p:sp>
        <p:nvSpPr>
          <p:cNvPr id="426" name=""/>
          <p:cNvSpPr/>
          <p:nvPr/>
        </p:nvSpPr>
        <p:spPr>
          <a:xfrm>
            <a:off x="9774000" y="2448000"/>
            <a:ext cx="252000" cy="0"/>
          </a:xfrm>
          <a:prstGeom prst="line">
            <a:avLst/>
          </a:prstGeom>
          <a:ln w="19800">
            <a:solidFill>
              <a:srgbClr val="5d6b75"/>
            </a:solidFill>
            <a:round/>
          </a:ln>
        </p:spPr>
        <p:style>
          <a:lnRef idx="0"/>
          <a:fillRef idx="0"/>
          <a:effectRef idx="0"/>
          <a:fontRef idx="minor"/>
        </p:style>
      </p:sp>
      <p:sp>
        <p:nvSpPr>
          <p:cNvPr id="427" name=""/>
          <p:cNvSpPr/>
          <p:nvPr/>
        </p:nvSpPr>
        <p:spPr>
          <a:xfrm>
            <a:off x="10062000" y="1908000"/>
            <a:ext cx="1620000" cy="1080000"/>
          </a:xfrm>
          <a:prstGeom prst="roundRect">
            <a:avLst/>
          </a:prstGeom>
          <a:solidFill>
            <a:srgbClr val="ffffff"/>
          </a:solidFill>
          <a:ln w="12600">
            <a:solidFill>
              <a:srgbClr val="1f8a70"/>
            </a:solidFill>
            <a:round/>
          </a:ln>
        </p:spPr>
        <p:txBody>
          <a:bodyPr lIns="64800" rIns="64800" tIns="43200" bIns="43200" anchor="b" anchorCtr="1">
            <a:noAutofit/>
          </a:bodyPr>
          <a:p>
            <a:pPr algn="ctr">
              <a:buNone/>
            </a:pPr>
            <a:r>
              <a:rPr b="1" lang="en-US" sz="1800" spc="-1" strike="noStrike">
                <a:solidFill>
                  <a:srgbClr val="102b3f"/>
                </a:solidFill>
                <a:latin typeface="Lato"/>
              </a:rPr>
              <a:t>Replanning</a:t>
            </a:r>
            <a:endParaRPr b="1" lang="en-US" sz="1800" spc="-1" strike="noStrike">
              <a:solidFill>
                <a:srgbClr val="102b3f"/>
              </a:solidFill>
              <a:latin typeface="Lato"/>
            </a:endParaRPr>
          </a:p>
        </p:txBody>
      </p:sp>
      <p:sp>
        <p:nvSpPr>
          <p:cNvPr id="428" name=""/>
          <p:cNvSpPr/>
          <p:nvPr/>
        </p:nvSpPr>
        <p:spPr>
          <a:xfrm>
            <a:off x="1800000" y="3636000"/>
            <a:ext cx="8568000" cy="900000"/>
          </a:xfrm>
          <a:prstGeom prst="roundRect">
            <a:avLst/>
          </a:prstGeom>
          <a:solidFill>
            <a:srgbClr val="eaf2f5"/>
          </a:solidFill>
          <a:ln w="12600">
            <a:solidFill>
              <a:srgbClr val="1f7188"/>
            </a:solidFill>
            <a:round/>
          </a:ln>
        </p:spPr>
        <p:txBody>
          <a:bodyPr lIns="64800" rIns="64800" tIns="43200" bIns="43200" anchor="b" anchorCtr="1">
            <a:noAutofit/>
          </a:bodyPr>
          <a:p>
            <a:pPr algn="ctr">
              <a:buNone/>
            </a:pPr>
            <a:r>
              <a:rPr b="1" lang="en-US" sz="2300" spc="-1" strike="noStrike">
                <a:solidFill>
                  <a:srgbClr val="102b3f"/>
                </a:solidFill>
                <a:latin typeface="Lato"/>
              </a:rPr>
              <a:t>Observed collaboration = model behaviour × interface × controller × environment</a:t>
            </a:r>
            <a:endParaRPr b="1" lang="en-US" sz="2300" spc="-1" strike="noStrike">
              <a:solidFill>
                <a:srgbClr val="102b3f"/>
              </a:solidFill>
              <a:latin typeface="Lato"/>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9" name=""/>
          <p:cNvSpPr txBox="1"/>
          <p:nvPr/>
        </p:nvSpPr>
        <p:spPr>
          <a:xfrm>
            <a:off x="540000" y="252000"/>
            <a:ext cx="10800000" cy="464400"/>
          </a:xfrm>
          <a:prstGeom prst="rect">
            <a:avLst/>
          </a:prstGeom>
          <a:noFill/>
          <a:ln w="0">
            <a:noFill/>
          </a:ln>
        </p:spPr>
        <p:txBody>
          <a:bodyPr lIns="43200" rIns="43200" tIns="43200" bIns="43200" anchor="t">
            <a:noAutofit/>
          </a:bodyPr>
          <a:p>
            <a:r>
              <a:rPr b="1" lang="en-US" sz="2900" spc="-1" strike="noStrike">
                <a:solidFill>
                  <a:srgbClr val="102b3f"/>
                </a:solidFill>
                <a:latin typeface="Lato"/>
              </a:rPr>
              <a:t>What this study does not establish</a:t>
            </a:r>
            <a:endParaRPr b="1" lang="en-US" sz="2900" spc="-1" strike="noStrike">
              <a:solidFill>
                <a:srgbClr val="102b3f"/>
              </a:solidFill>
              <a:latin typeface="Lato"/>
            </a:endParaRPr>
          </a:p>
        </p:txBody>
      </p:sp>
      <p:sp>
        <p:nvSpPr>
          <p:cNvPr id="430" name=""/>
          <p:cNvSpPr/>
          <p:nvPr/>
        </p:nvSpPr>
        <p:spPr>
          <a:xfrm>
            <a:off x="540000" y="6354000"/>
            <a:ext cx="11088000" cy="7200"/>
          </a:xfrm>
          <a:prstGeom prst="rect">
            <a:avLst/>
          </a:prstGeom>
          <a:solidFill>
            <a:srgbClr val="1f7188"/>
          </a:solidFill>
          <a:ln w="0">
            <a:noFill/>
          </a:ln>
        </p:spPr>
      </p:sp>
      <p:sp>
        <p:nvSpPr>
          <p:cNvPr id="431" name=""/>
          <p:cNvSpPr txBox="1"/>
          <p:nvPr/>
        </p:nvSpPr>
        <p:spPr>
          <a:xfrm>
            <a:off x="540000" y="6415200"/>
            <a:ext cx="7200000" cy="201240"/>
          </a:xfrm>
          <a:prstGeom prst="rect">
            <a:avLst/>
          </a:prstGeom>
          <a:noFill/>
          <a:ln w="0">
            <a:noFill/>
          </a:ln>
        </p:spPr>
        <p:txBody>
          <a:bodyPr lIns="43200" rIns="43200" tIns="43200" bIns="43200" anchor="t">
            <a:noAutofit/>
          </a:bodyPr>
          <a:p>
            <a:r>
              <a:rPr b="0" lang="en-US" sz="900" spc="-1" strike="noStrike">
                <a:solidFill>
                  <a:srgbClr val="5d6b75"/>
                </a:solidFill>
                <a:latin typeface="Lato"/>
              </a:rPr>
              <a:t>Master’s thesis · Uppsala University</a:t>
            </a:r>
            <a:endParaRPr b="0" lang="en-US" sz="900" spc="-1" strike="noStrike">
              <a:solidFill>
                <a:srgbClr val="5d6b75"/>
              </a:solidFill>
              <a:latin typeface="Lato"/>
            </a:endParaRPr>
          </a:p>
        </p:txBody>
      </p:sp>
      <p:sp>
        <p:nvSpPr>
          <p:cNvPr id="432" name=""/>
          <p:cNvSpPr txBox="1"/>
          <p:nvPr/>
        </p:nvSpPr>
        <p:spPr>
          <a:xfrm>
            <a:off x="9612000" y="6415200"/>
            <a:ext cx="2016000" cy="189000"/>
          </a:xfrm>
          <a:prstGeom prst="rect">
            <a:avLst/>
          </a:prstGeom>
          <a:noFill/>
          <a:ln w="0">
            <a:noFill/>
          </a:ln>
        </p:spPr>
        <p:txBody>
          <a:bodyPr lIns="43200" rIns="43200" tIns="43200" bIns="43200" anchor="t">
            <a:noAutofit/>
          </a:bodyPr>
          <a:p>
            <a:pPr algn="r">
              <a:buNone/>
            </a:pPr>
            <a:r>
              <a:rPr b="1" lang="en-US" sz="800" spc="-1" strike="noStrike">
                <a:solidFill>
                  <a:srgbClr val="1f7188"/>
                </a:solidFill>
                <a:latin typeface="Lato"/>
              </a:rPr>
              <a:t>LIMITATIONS</a:t>
            </a:r>
            <a:endParaRPr b="1" lang="en-US" sz="800" spc="-1" strike="noStrike">
              <a:solidFill>
                <a:srgbClr val="1f7188"/>
              </a:solidFill>
              <a:latin typeface="Lato"/>
            </a:endParaRPr>
          </a:p>
        </p:txBody>
      </p:sp>
      <p:sp>
        <p:nvSpPr>
          <p:cNvPr id="433" name=""/>
          <p:cNvSpPr/>
          <p:nvPr/>
        </p:nvSpPr>
        <p:spPr>
          <a:xfrm>
            <a:off x="540000" y="1152000"/>
            <a:ext cx="5328000" cy="1152000"/>
          </a:xfrm>
          <a:prstGeom prst="roundRect">
            <a:avLst/>
          </a:prstGeom>
          <a:solidFill>
            <a:srgbClr val="ffffff"/>
          </a:solidFill>
          <a:ln w="12600">
            <a:solidFill>
              <a:srgbClr val="3e78b2"/>
            </a:solidFill>
            <a:round/>
          </a:ln>
        </p:spPr>
      </p:sp>
      <p:sp>
        <p:nvSpPr>
          <p:cNvPr id="434" name=""/>
          <p:cNvSpPr txBox="1"/>
          <p:nvPr/>
        </p:nvSpPr>
        <p:spPr>
          <a:xfrm>
            <a:off x="720000" y="1314000"/>
            <a:ext cx="4968000" cy="240840"/>
          </a:xfrm>
          <a:prstGeom prst="rect">
            <a:avLst/>
          </a:prstGeom>
          <a:noFill/>
          <a:ln w="0">
            <a:noFill/>
          </a:ln>
        </p:spPr>
        <p:txBody>
          <a:bodyPr lIns="43200" rIns="43200" tIns="43200" bIns="43200" anchor="t">
            <a:noAutofit/>
          </a:bodyPr>
          <a:p>
            <a:r>
              <a:rPr b="1" lang="en-US" sz="1200" spc="-1" strike="noStrike">
                <a:solidFill>
                  <a:srgbClr val="3e78b2"/>
                </a:solidFill>
                <a:latin typeface="Lato"/>
              </a:rPr>
              <a:t>SIMULATION</a:t>
            </a:r>
            <a:endParaRPr b="1" lang="en-US" sz="1200" spc="-1" strike="noStrike">
              <a:solidFill>
                <a:srgbClr val="3e78b2"/>
              </a:solidFill>
              <a:latin typeface="Lato"/>
            </a:endParaRPr>
          </a:p>
        </p:txBody>
      </p:sp>
      <p:sp>
        <p:nvSpPr>
          <p:cNvPr id="435" name=""/>
          <p:cNvSpPr txBox="1"/>
          <p:nvPr/>
        </p:nvSpPr>
        <p:spPr>
          <a:xfrm>
            <a:off x="720000" y="1638000"/>
            <a:ext cx="4968000" cy="520200"/>
          </a:xfrm>
          <a:prstGeom prst="rect">
            <a:avLst/>
          </a:prstGeom>
          <a:noFill/>
          <a:ln w="0">
            <a:noFill/>
          </a:ln>
        </p:spPr>
        <p:txBody>
          <a:bodyPr lIns="43200" rIns="43200" tIns="43200" bIns="43200" anchor="t">
            <a:noAutofit/>
          </a:bodyPr>
          <a:p>
            <a:r>
              <a:rPr b="0" lang="en-US" sz="1700" spc="-1" strike="noStrike">
                <a:solidFill>
                  <a:srgbClr val="23313b"/>
                </a:solidFill>
                <a:latin typeface="Lato"/>
              </a:rPr>
              <a:t>No physical sensing, hardware uncertainty, or communication delays.</a:t>
            </a:r>
            <a:endParaRPr b="0" lang="en-US" sz="1700" spc="-1" strike="noStrike">
              <a:solidFill>
                <a:srgbClr val="23313b"/>
              </a:solidFill>
              <a:latin typeface="Lato"/>
            </a:endParaRPr>
          </a:p>
        </p:txBody>
      </p:sp>
      <p:sp>
        <p:nvSpPr>
          <p:cNvPr id="436" name=""/>
          <p:cNvSpPr/>
          <p:nvPr/>
        </p:nvSpPr>
        <p:spPr>
          <a:xfrm>
            <a:off x="6300000" y="1152000"/>
            <a:ext cx="5328000" cy="1152000"/>
          </a:xfrm>
          <a:prstGeom prst="roundRect">
            <a:avLst/>
          </a:prstGeom>
          <a:solidFill>
            <a:srgbClr val="ffffff"/>
          </a:solidFill>
          <a:ln w="12600">
            <a:solidFill>
              <a:srgbClr val="1f7188"/>
            </a:solidFill>
            <a:round/>
          </a:ln>
        </p:spPr>
      </p:sp>
      <p:sp>
        <p:nvSpPr>
          <p:cNvPr id="437" name=""/>
          <p:cNvSpPr txBox="1"/>
          <p:nvPr/>
        </p:nvSpPr>
        <p:spPr>
          <a:xfrm>
            <a:off x="6480000" y="1314000"/>
            <a:ext cx="4968000" cy="240840"/>
          </a:xfrm>
          <a:prstGeom prst="rect">
            <a:avLst/>
          </a:prstGeom>
          <a:noFill/>
          <a:ln w="0">
            <a:noFill/>
          </a:ln>
        </p:spPr>
        <p:txBody>
          <a:bodyPr lIns="43200" rIns="43200" tIns="43200" bIns="43200" anchor="t">
            <a:noAutofit/>
          </a:bodyPr>
          <a:p>
            <a:r>
              <a:rPr b="1" lang="en-US" sz="1200" spc="-1" strike="noStrike">
                <a:solidFill>
                  <a:srgbClr val="1f7188"/>
                </a:solidFill>
                <a:latin typeface="Lato"/>
              </a:rPr>
              <a:t>SYMBOLIC STATE</a:t>
            </a:r>
            <a:endParaRPr b="1" lang="en-US" sz="1200" spc="-1" strike="noStrike">
              <a:solidFill>
                <a:srgbClr val="1f7188"/>
              </a:solidFill>
              <a:latin typeface="Lato"/>
            </a:endParaRPr>
          </a:p>
        </p:txBody>
      </p:sp>
      <p:sp>
        <p:nvSpPr>
          <p:cNvPr id="438" name=""/>
          <p:cNvSpPr txBox="1"/>
          <p:nvPr/>
        </p:nvSpPr>
        <p:spPr>
          <a:xfrm>
            <a:off x="6480000" y="1638000"/>
            <a:ext cx="4968000" cy="520200"/>
          </a:xfrm>
          <a:prstGeom prst="rect">
            <a:avLst/>
          </a:prstGeom>
          <a:noFill/>
          <a:ln w="0">
            <a:noFill/>
          </a:ln>
        </p:spPr>
        <p:txBody>
          <a:bodyPr lIns="43200" rIns="43200" tIns="43200" bIns="43200" anchor="t">
            <a:noAutofit/>
          </a:bodyPr>
          <a:p>
            <a:r>
              <a:rPr b="0" lang="en-US" sz="1700" spc="-1" strike="noStrike">
                <a:solidFill>
                  <a:srgbClr val="23313b"/>
                </a:solidFill>
                <a:latin typeface="Lato"/>
              </a:rPr>
              <a:t>The LLM does not interpret raw camera or sensor observations.</a:t>
            </a:r>
            <a:endParaRPr b="0" lang="en-US" sz="1700" spc="-1" strike="noStrike">
              <a:solidFill>
                <a:srgbClr val="23313b"/>
              </a:solidFill>
              <a:latin typeface="Lato"/>
            </a:endParaRPr>
          </a:p>
        </p:txBody>
      </p:sp>
      <p:sp>
        <p:nvSpPr>
          <p:cNvPr id="439" name=""/>
          <p:cNvSpPr/>
          <p:nvPr/>
        </p:nvSpPr>
        <p:spPr>
          <a:xfrm>
            <a:off x="540000" y="2592000"/>
            <a:ext cx="5328000" cy="1152000"/>
          </a:xfrm>
          <a:prstGeom prst="roundRect">
            <a:avLst/>
          </a:prstGeom>
          <a:solidFill>
            <a:srgbClr val="ffffff"/>
          </a:solidFill>
          <a:ln w="12600">
            <a:solidFill>
              <a:srgbClr val="d9534f"/>
            </a:solidFill>
            <a:round/>
          </a:ln>
        </p:spPr>
      </p:sp>
      <p:sp>
        <p:nvSpPr>
          <p:cNvPr id="440" name=""/>
          <p:cNvSpPr txBox="1"/>
          <p:nvPr/>
        </p:nvSpPr>
        <p:spPr>
          <a:xfrm>
            <a:off x="720000" y="2754000"/>
            <a:ext cx="4968000" cy="240840"/>
          </a:xfrm>
          <a:prstGeom prst="rect">
            <a:avLst/>
          </a:prstGeom>
          <a:noFill/>
          <a:ln w="0">
            <a:noFill/>
          </a:ln>
        </p:spPr>
        <p:txBody>
          <a:bodyPr lIns="43200" rIns="43200" tIns="43200" bIns="43200" anchor="t">
            <a:noAutofit/>
          </a:bodyPr>
          <a:p>
            <a:r>
              <a:rPr b="1" lang="en-US" sz="1200" spc="-1" strike="noStrike">
                <a:solidFill>
                  <a:srgbClr val="d9534f"/>
                </a:solidFill>
                <a:latin typeface="Lato"/>
              </a:rPr>
              <a:t>NO BASELINE</a:t>
            </a:r>
            <a:endParaRPr b="1" lang="en-US" sz="1200" spc="-1" strike="noStrike">
              <a:solidFill>
                <a:srgbClr val="d9534f"/>
              </a:solidFill>
              <a:latin typeface="Lato"/>
            </a:endParaRPr>
          </a:p>
        </p:txBody>
      </p:sp>
      <p:sp>
        <p:nvSpPr>
          <p:cNvPr id="441" name=""/>
          <p:cNvSpPr txBox="1"/>
          <p:nvPr/>
        </p:nvSpPr>
        <p:spPr>
          <a:xfrm>
            <a:off x="720000" y="3078000"/>
            <a:ext cx="4968000" cy="410400"/>
          </a:xfrm>
          <a:prstGeom prst="rect">
            <a:avLst/>
          </a:prstGeom>
          <a:noFill/>
          <a:ln w="0">
            <a:noFill/>
          </a:ln>
        </p:spPr>
        <p:txBody>
          <a:bodyPr lIns="43200" rIns="43200" tIns="43200" bIns="43200" anchor="t">
            <a:noAutofit/>
          </a:bodyPr>
          <a:p>
            <a:r>
              <a:rPr b="0" lang="en-US" sz="1700" spc="-1" strike="noStrike">
                <a:solidFill>
                  <a:srgbClr val="23313b"/>
                </a:solidFill>
                <a:latin typeface="Lato"/>
              </a:rPr>
              <a:t>Feasibility is shown; comparative advantage is not.</a:t>
            </a:r>
            <a:endParaRPr b="0" lang="en-US" sz="1700" spc="-1" strike="noStrike">
              <a:solidFill>
                <a:srgbClr val="23313b"/>
              </a:solidFill>
              <a:latin typeface="Lato"/>
            </a:endParaRPr>
          </a:p>
        </p:txBody>
      </p:sp>
      <p:sp>
        <p:nvSpPr>
          <p:cNvPr id="442" name=""/>
          <p:cNvSpPr/>
          <p:nvPr/>
        </p:nvSpPr>
        <p:spPr>
          <a:xfrm>
            <a:off x="6300000" y="2592000"/>
            <a:ext cx="5328000" cy="1152000"/>
          </a:xfrm>
          <a:prstGeom prst="roundRect">
            <a:avLst/>
          </a:prstGeom>
          <a:solidFill>
            <a:srgbClr val="ffffff"/>
          </a:solidFill>
          <a:ln w="12600">
            <a:solidFill>
              <a:srgbClr val="f28c28"/>
            </a:solidFill>
            <a:round/>
          </a:ln>
        </p:spPr>
      </p:sp>
      <p:sp>
        <p:nvSpPr>
          <p:cNvPr id="443" name=""/>
          <p:cNvSpPr txBox="1"/>
          <p:nvPr/>
        </p:nvSpPr>
        <p:spPr>
          <a:xfrm>
            <a:off x="6480000" y="2754000"/>
            <a:ext cx="4968000" cy="240840"/>
          </a:xfrm>
          <a:prstGeom prst="rect">
            <a:avLst/>
          </a:prstGeom>
          <a:noFill/>
          <a:ln w="0">
            <a:noFill/>
          </a:ln>
        </p:spPr>
        <p:txBody>
          <a:bodyPr lIns="43200" rIns="43200" tIns="43200" bIns="43200" anchor="t">
            <a:noAutofit/>
          </a:bodyPr>
          <a:p>
            <a:r>
              <a:rPr b="1" lang="en-US" sz="1200" spc="-1" strike="noStrike">
                <a:solidFill>
                  <a:srgbClr val="f28c28"/>
                </a:solidFill>
                <a:latin typeface="Lato"/>
              </a:rPr>
              <a:t>EVIDENCE</a:t>
            </a:r>
            <a:endParaRPr b="1" lang="en-US" sz="1200" spc="-1" strike="noStrike">
              <a:solidFill>
                <a:srgbClr val="f28c28"/>
              </a:solidFill>
              <a:latin typeface="Lato"/>
            </a:endParaRPr>
          </a:p>
        </p:txBody>
      </p:sp>
      <p:sp>
        <p:nvSpPr>
          <p:cNvPr id="444" name=""/>
          <p:cNvSpPr txBox="1"/>
          <p:nvPr/>
        </p:nvSpPr>
        <p:spPr>
          <a:xfrm>
            <a:off x="6480000" y="3078000"/>
            <a:ext cx="4968000" cy="410400"/>
          </a:xfrm>
          <a:prstGeom prst="rect">
            <a:avLst/>
          </a:prstGeom>
          <a:noFill/>
          <a:ln w="0">
            <a:noFill/>
          </a:ln>
        </p:spPr>
        <p:txBody>
          <a:bodyPr lIns="43200" rIns="43200" tIns="43200" bIns="43200" anchor="t">
            <a:noAutofit/>
          </a:bodyPr>
          <a:p>
            <a:r>
              <a:rPr b="0" lang="en-US" sz="1700" spc="-1" strike="noStrike">
                <a:solidFill>
                  <a:srgbClr val="23313b"/>
                </a:solidFill>
                <a:latin typeface="Lato"/>
              </a:rPr>
              <a:t>Limited runs and initialisations constrain inference.</a:t>
            </a:r>
            <a:endParaRPr b="0" lang="en-US" sz="1700" spc="-1" strike="noStrike">
              <a:solidFill>
                <a:srgbClr val="23313b"/>
              </a:solidFill>
              <a:latin typeface="Lato"/>
            </a:endParaRPr>
          </a:p>
        </p:txBody>
      </p:sp>
      <p:sp>
        <p:nvSpPr>
          <p:cNvPr id="445" name=""/>
          <p:cNvSpPr/>
          <p:nvPr/>
        </p:nvSpPr>
        <p:spPr>
          <a:xfrm>
            <a:off x="540000" y="4032000"/>
            <a:ext cx="5328000" cy="1152000"/>
          </a:xfrm>
          <a:prstGeom prst="roundRect">
            <a:avLst/>
          </a:prstGeom>
          <a:solidFill>
            <a:srgbClr val="ffffff"/>
          </a:solidFill>
          <a:ln w="12600">
            <a:solidFill>
              <a:srgbClr val="4f4593"/>
            </a:solidFill>
            <a:round/>
          </a:ln>
        </p:spPr>
      </p:sp>
      <p:sp>
        <p:nvSpPr>
          <p:cNvPr id="446" name=""/>
          <p:cNvSpPr txBox="1"/>
          <p:nvPr/>
        </p:nvSpPr>
        <p:spPr>
          <a:xfrm>
            <a:off x="720000" y="4194000"/>
            <a:ext cx="4968000" cy="240840"/>
          </a:xfrm>
          <a:prstGeom prst="rect">
            <a:avLst/>
          </a:prstGeom>
          <a:noFill/>
          <a:ln w="0">
            <a:noFill/>
          </a:ln>
        </p:spPr>
        <p:txBody>
          <a:bodyPr lIns="43200" rIns="43200" tIns="43200" bIns="43200" anchor="t">
            <a:noAutofit/>
          </a:bodyPr>
          <a:p>
            <a:r>
              <a:rPr b="1" lang="en-US" sz="1200" spc="-1" strike="noStrike">
                <a:solidFill>
                  <a:srgbClr val="4f4593"/>
                </a:solidFill>
                <a:latin typeface="Lato"/>
              </a:rPr>
              <a:t>COUPLED PROMPTS</a:t>
            </a:r>
            <a:endParaRPr b="1" lang="en-US" sz="1200" spc="-1" strike="noStrike">
              <a:solidFill>
                <a:srgbClr val="4f4593"/>
              </a:solidFill>
              <a:latin typeface="Lato"/>
            </a:endParaRPr>
          </a:p>
        </p:txBody>
      </p:sp>
      <p:sp>
        <p:nvSpPr>
          <p:cNvPr id="447" name=""/>
          <p:cNvSpPr txBox="1"/>
          <p:nvPr/>
        </p:nvSpPr>
        <p:spPr>
          <a:xfrm>
            <a:off x="720000" y="4518000"/>
            <a:ext cx="4968000" cy="520200"/>
          </a:xfrm>
          <a:prstGeom prst="rect">
            <a:avLst/>
          </a:prstGeom>
          <a:noFill/>
          <a:ln w="0">
            <a:noFill/>
          </a:ln>
        </p:spPr>
        <p:txBody>
          <a:bodyPr lIns="43200" rIns="43200" tIns="43200" bIns="43200" anchor="t">
            <a:noAutofit/>
          </a:bodyPr>
          <a:p>
            <a:r>
              <a:rPr b="0" lang="en-US" sz="1700" spc="-1" strike="noStrike">
                <a:solidFill>
                  <a:srgbClr val="23313b"/>
                </a:solidFill>
                <a:latin typeface="Lato"/>
              </a:rPr>
              <a:t>Input representation and response format are not isolated.</a:t>
            </a:r>
            <a:endParaRPr b="0" lang="en-US" sz="1700" spc="-1" strike="noStrike">
              <a:solidFill>
                <a:srgbClr val="23313b"/>
              </a:solidFill>
              <a:latin typeface="Lato"/>
            </a:endParaRPr>
          </a:p>
        </p:txBody>
      </p:sp>
      <p:sp>
        <p:nvSpPr>
          <p:cNvPr id="448" name=""/>
          <p:cNvSpPr/>
          <p:nvPr/>
        </p:nvSpPr>
        <p:spPr>
          <a:xfrm>
            <a:off x="6300000" y="4032000"/>
            <a:ext cx="5328000" cy="1152000"/>
          </a:xfrm>
          <a:prstGeom prst="roundRect">
            <a:avLst/>
          </a:prstGeom>
          <a:solidFill>
            <a:srgbClr val="ffffff"/>
          </a:solidFill>
          <a:ln w="12600">
            <a:solidFill>
              <a:srgbClr val="1f8a70"/>
            </a:solidFill>
            <a:round/>
          </a:ln>
        </p:spPr>
      </p:sp>
      <p:sp>
        <p:nvSpPr>
          <p:cNvPr id="449" name=""/>
          <p:cNvSpPr txBox="1"/>
          <p:nvPr/>
        </p:nvSpPr>
        <p:spPr>
          <a:xfrm>
            <a:off x="6480000" y="4194000"/>
            <a:ext cx="4968000" cy="240840"/>
          </a:xfrm>
          <a:prstGeom prst="rect">
            <a:avLst/>
          </a:prstGeom>
          <a:noFill/>
          <a:ln w="0">
            <a:noFill/>
          </a:ln>
        </p:spPr>
        <p:txBody>
          <a:bodyPr lIns="43200" rIns="43200" tIns="43200" bIns="43200" anchor="t">
            <a:noAutofit/>
          </a:bodyPr>
          <a:p>
            <a:r>
              <a:rPr b="1" lang="en-US" sz="1200" spc="-1" strike="noStrike">
                <a:solidFill>
                  <a:srgbClr val="1f8a70"/>
                </a:solidFill>
                <a:latin typeface="Lato"/>
              </a:rPr>
              <a:t>SYSTEM VERSION</a:t>
            </a:r>
            <a:endParaRPr b="1" lang="en-US" sz="1200" spc="-1" strike="noStrike">
              <a:solidFill>
                <a:srgbClr val="1f8a70"/>
              </a:solidFill>
              <a:latin typeface="Lato"/>
            </a:endParaRPr>
          </a:p>
        </p:txBody>
      </p:sp>
      <p:sp>
        <p:nvSpPr>
          <p:cNvPr id="450" name=""/>
          <p:cNvSpPr txBox="1"/>
          <p:nvPr/>
        </p:nvSpPr>
        <p:spPr>
          <a:xfrm>
            <a:off x="6480000" y="4518000"/>
            <a:ext cx="4968000" cy="520200"/>
          </a:xfrm>
          <a:prstGeom prst="rect">
            <a:avLst/>
          </a:prstGeom>
          <a:noFill/>
          <a:ln w="0">
            <a:noFill/>
          </a:ln>
        </p:spPr>
        <p:txBody>
          <a:bodyPr lIns="43200" rIns="43200" tIns="43200" bIns="43200" anchor="t">
            <a:noAutofit/>
          </a:bodyPr>
          <a:p>
            <a:r>
              <a:rPr b="0" lang="en-US" sz="1700" spc="-1" strike="noStrike">
                <a:solidFill>
                  <a:srgbClr val="23313b"/>
                </a:solidFill>
                <a:latin typeface="Lato"/>
              </a:rPr>
              <a:t>Results apply to the modified simulator and controller.</a:t>
            </a:r>
            <a:endParaRPr b="0" lang="en-US" sz="1700" spc="-1" strike="noStrike">
              <a:solidFill>
                <a:srgbClr val="23313b"/>
              </a:solidFill>
              <a:latin typeface="Lato"/>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1" name=""/>
          <p:cNvSpPr txBox="1"/>
          <p:nvPr/>
        </p:nvSpPr>
        <p:spPr>
          <a:xfrm>
            <a:off x="540000" y="252000"/>
            <a:ext cx="10800000" cy="464400"/>
          </a:xfrm>
          <a:prstGeom prst="rect">
            <a:avLst/>
          </a:prstGeom>
          <a:noFill/>
          <a:ln w="0">
            <a:noFill/>
          </a:ln>
        </p:spPr>
        <p:txBody>
          <a:bodyPr lIns="43200" rIns="43200" tIns="43200" bIns="43200" anchor="t">
            <a:noAutofit/>
          </a:bodyPr>
          <a:p>
            <a:r>
              <a:rPr b="1" lang="en-US" sz="2900" spc="-1" strike="noStrike">
                <a:solidFill>
                  <a:srgbClr val="102b3f"/>
                </a:solidFill>
                <a:latin typeface="Lato"/>
              </a:rPr>
              <a:t>Future work</a:t>
            </a:r>
            <a:endParaRPr b="1" lang="en-US" sz="2900" spc="-1" strike="noStrike">
              <a:solidFill>
                <a:srgbClr val="102b3f"/>
              </a:solidFill>
              <a:latin typeface="Lato"/>
            </a:endParaRPr>
          </a:p>
        </p:txBody>
      </p:sp>
      <p:sp>
        <p:nvSpPr>
          <p:cNvPr id="452" name=""/>
          <p:cNvSpPr/>
          <p:nvPr/>
        </p:nvSpPr>
        <p:spPr>
          <a:xfrm>
            <a:off x="540000" y="6354000"/>
            <a:ext cx="11088000" cy="7200"/>
          </a:xfrm>
          <a:prstGeom prst="rect">
            <a:avLst/>
          </a:prstGeom>
          <a:solidFill>
            <a:srgbClr val="1f7188"/>
          </a:solidFill>
          <a:ln w="0">
            <a:noFill/>
          </a:ln>
        </p:spPr>
      </p:sp>
      <p:sp>
        <p:nvSpPr>
          <p:cNvPr id="453" name=""/>
          <p:cNvSpPr txBox="1"/>
          <p:nvPr/>
        </p:nvSpPr>
        <p:spPr>
          <a:xfrm>
            <a:off x="540000" y="6415200"/>
            <a:ext cx="7200000" cy="201240"/>
          </a:xfrm>
          <a:prstGeom prst="rect">
            <a:avLst/>
          </a:prstGeom>
          <a:noFill/>
          <a:ln w="0">
            <a:noFill/>
          </a:ln>
        </p:spPr>
        <p:txBody>
          <a:bodyPr lIns="43200" rIns="43200" tIns="43200" bIns="43200" anchor="t">
            <a:noAutofit/>
          </a:bodyPr>
          <a:p>
            <a:r>
              <a:rPr b="0" lang="en-US" sz="900" spc="-1" strike="noStrike">
                <a:solidFill>
                  <a:srgbClr val="5d6b75"/>
                </a:solidFill>
                <a:latin typeface="Lato"/>
              </a:rPr>
              <a:t>Master’s thesis · Uppsala University</a:t>
            </a:r>
            <a:endParaRPr b="0" lang="en-US" sz="900" spc="-1" strike="noStrike">
              <a:solidFill>
                <a:srgbClr val="5d6b75"/>
              </a:solidFill>
              <a:latin typeface="Lato"/>
            </a:endParaRPr>
          </a:p>
        </p:txBody>
      </p:sp>
      <p:sp>
        <p:nvSpPr>
          <p:cNvPr id="454" name=""/>
          <p:cNvSpPr txBox="1"/>
          <p:nvPr/>
        </p:nvSpPr>
        <p:spPr>
          <a:xfrm>
            <a:off x="9612000" y="6415200"/>
            <a:ext cx="2016000" cy="189000"/>
          </a:xfrm>
          <a:prstGeom prst="rect">
            <a:avLst/>
          </a:prstGeom>
          <a:noFill/>
          <a:ln w="0">
            <a:noFill/>
          </a:ln>
        </p:spPr>
        <p:txBody>
          <a:bodyPr lIns="43200" rIns="43200" tIns="43200" bIns="43200" anchor="t">
            <a:noAutofit/>
          </a:bodyPr>
          <a:p>
            <a:pPr algn="r">
              <a:buNone/>
            </a:pPr>
            <a:r>
              <a:rPr b="1" lang="en-US" sz="800" spc="-1" strike="noStrike">
                <a:solidFill>
                  <a:srgbClr val="1f7188"/>
                </a:solidFill>
                <a:latin typeface="Lato"/>
              </a:rPr>
              <a:t>OUTLOOK</a:t>
            </a:r>
            <a:endParaRPr b="1" lang="en-US" sz="800" spc="-1" strike="noStrike">
              <a:solidFill>
                <a:srgbClr val="1f7188"/>
              </a:solidFill>
              <a:latin typeface="Lato"/>
            </a:endParaRPr>
          </a:p>
        </p:txBody>
      </p:sp>
      <p:sp>
        <p:nvSpPr>
          <p:cNvPr id="455" name=""/>
          <p:cNvSpPr/>
          <p:nvPr/>
        </p:nvSpPr>
        <p:spPr>
          <a:xfrm>
            <a:off x="468000" y="1188000"/>
            <a:ext cx="3456000" cy="1656000"/>
          </a:xfrm>
          <a:prstGeom prst="roundRect">
            <a:avLst/>
          </a:prstGeom>
          <a:solidFill>
            <a:srgbClr val="ffffff"/>
          </a:solidFill>
          <a:ln w="12600">
            <a:solidFill>
              <a:srgbClr val="3e78b2"/>
            </a:solidFill>
            <a:round/>
          </a:ln>
        </p:spPr>
      </p:sp>
      <p:sp>
        <p:nvSpPr>
          <p:cNvPr id="456" name=""/>
          <p:cNvSpPr/>
          <p:nvPr/>
        </p:nvSpPr>
        <p:spPr>
          <a:xfrm>
            <a:off x="576000" y="1296000"/>
            <a:ext cx="324000" cy="324000"/>
          </a:xfrm>
          <a:prstGeom prst="roundRect">
            <a:avLst/>
          </a:prstGeom>
          <a:solidFill>
            <a:srgbClr val="3e78b2"/>
          </a:solidFill>
          <a:ln w="12600">
            <a:solidFill>
              <a:srgbClr val="3e78b2"/>
            </a:solidFill>
            <a:round/>
          </a:ln>
        </p:spPr>
        <p:txBody>
          <a:bodyPr lIns="64800" rIns="64800" tIns="43200" bIns="43200" anchor="b" anchorCtr="1">
            <a:noAutofit/>
          </a:bodyPr>
          <a:p>
            <a:pPr algn="ctr">
              <a:buNone/>
            </a:pPr>
            <a:r>
              <a:rPr b="1" lang="en-US" sz="1600" spc="-1" strike="noStrike">
                <a:solidFill>
                  <a:srgbClr val="ffffff"/>
                </a:solidFill>
                <a:latin typeface="Lato"/>
              </a:rPr>
              <a:t>1</a:t>
            </a:r>
            <a:endParaRPr b="1" lang="en-US" sz="1600" spc="-1" strike="noStrike">
              <a:solidFill>
                <a:srgbClr val="ffffff"/>
              </a:solidFill>
              <a:latin typeface="Lato"/>
            </a:endParaRPr>
          </a:p>
        </p:txBody>
      </p:sp>
      <p:sp>
        <p:nvSpPr>
          <p:cNvPr id="457" name=""/>
          <p:cNvSpPr txBox="1"/>
          <p:nvPr/>
        </p:nvSpPr>
        <p:spPr>
          <a:xfrm>
            <a:off x="1008000" y="1368000"/>
            <a:ext cx="2628000" cy="327600"/>
          </a:xfrm>
          <a:prstGeom prst="rect">
            <a:avLst/>
          </a:prstGeom>
          <a:noFill/>
          <a:ln w="0">
            <a:noFill/>
          </a:ln>
        </p:spPr>
        <p:txBody>
          <a:bodyPr lIns="43200" rIns="43200" tIns="43200" bIns="43200" anchor="t">
            <a:noAutofit/>
          </a:bodyPr>
          <a:p>
            <a:r>
              <a:rPr b="1" lang="en-US" sz="1900" spc="-1" strike="noStrike">
                <a:solidFill>
                  <a:srgbClr val="102b3f"/>
                </a:solidFill>
                <a:latin typeface="Lato"/>
              </a:rPr>
              <a:t>Stronger evaluation</a:t>
            </a:r>
            <a:endParaRPr b="1" lang="en-US" sz="1900" spc="-1" strike="noStrike">
              <a:solidFill>
                <a:srgbClr val="102b3f"/>
              </a:solidFill>
              <a:latin typeface="Lato"/>
            </a:endParaRPr>
          </a:p>
        </p:txBody>
      </p:sp>
      <p:sp>
        <p:nvSpPr>
          <p:cNvPr id="458" name=""/>
          <p:cNvSpPr txBox="1"/>
          <p:nvPr/>
        </p:nvSpPr>
        <p:spPr>
          <a:xfrm>
            <a:off x="648000" y="1872000"/>
            <a:ext cx="3060000" cy="492120"/>
          </a:xfrm>
          <a:prstGeom prst="rect">
            <a:avLst/>
          </a:prstGeom>
          <a:noFill/>
          <a:ln w="0">
            <a:noFill/>
          </a:ln>
        </p:spPr>
        <p:txBody>
          <a:bodyPr lIns="43200" rIns="43200" tIns="43200" bIns="43200" anchor="t">
            <a:noAutofit/>
          </a:bodyPr>
          <a:p>
            <a:r>
              <a:rPr b="0" lang="en-US" sz="1600" spc="-1" strike="noStrike">
                <a:solidFill>
                  <a:srgbClr val="23313b"/>
                </a:solidFill>
                <a:latin typeface="Lato"/>
              </a:rPr>
              <a:t>More runs, seeds, and scenario coverage</a:t>
            </a:r>
            <a:endParaRPr b="0" lang="en-US" sz="1600" spc="-1" strike="noStrike">
              <a:solidFill>
                <a:srgbClr val="23313b"/>
              </a:solidFill>
              <a:latin typeface="Lato"/>
            </a:endParaRPr>
          </a:p>
        </p:txBody>
      </p:sp>
      <p:sp>
        <p:nvSpPr>
          <p:cNvPr id="459" name=""/>
          <p:cNvSpPr/>
          <p:nvPr/>
        </p:nvSpPr>
        <p:spPr>
          <a:xfrm>
            <a:off x="4320000" y="1188000"/>
            <a:ext cx="3456000" cy="1656000"/>
          </a:xfrm>
          <a:prstGeom prst="roundRect">
            <a:avLst/>
          </a:prstGeom>
          <a:solidFill>
            <a:srgbClr val="ffffff"/>
          </a:solidFill>
          <a:ln w="12600">
            <a:solidFill>
              <a:srgbClr val="d9534f"/>
            </a:solidFill>
            <a:round/>
          </a:ln>
        </p:spPr>
      </p:sp>
      <p:sp>
        <p:nvSpPr>
          <p:cNvPr id="460" name=""/>
          <p:cNvSpPr/>
          <p:nvPr/>
        </p:nvSpPr>
        <p:spPr>
          <a:xfrm>
            <a:off x="4428000" y="1296000"/>
            <a:ext cx="324000" cy="324000"/>
          </a:xfrm>
          <a:prstGeom prst="roundRect">
            <a:avLst/>
          </a:prstGeom>
          <a:solidFill>
            <a:srgbClr val="d9534f"/>
          </a:solidFill>
          <a:ln w="12600">
            <a:solidFill>
              <a:srgbClr val="d9534f"/>
            </a:solidFill>
            <a:round/>
          </a:ln>
        </p:spPr>
        <p:txBody>
          <a:bodyPr lIns="64800" rIns="64800" tIns="43200" bIns="43200" anchor="b" anchorCtr="1">
            <a:noAutofit/>
          </a:bodyPr>
          <a:p>
            <a:pPr algn="ctr">
              <a:buNone/>
            </a:pPr>
            <a:r>
              <a:rPr b="1" lang="en-US" sz="1600" spc="-1" strike="noStrike">
                <a:solidFill>
                  <a:srgbClr val="ffffff"/>
                </a:solidFill>
                <a:latin typeface="Lato"/>
              </a:rPr>
              <a:t>2</a:t>
            </a:r>
            <a:endParaRPr b="1" lang="en-US" sz="1600" spc="-1" strike="noStrike">
              <a:solidFill>
                <a:srgbClr val="ffffff"/>
              </a:solidFill>
              <a:latin typeface="Lato"/>
            </a:endParaRPr>
          </a:p>
        </p:txBody>
      </p:sp>
      <p:sp>
        <p:nvSpPr>
          <p:cNvPr id="461" name=""/>
          <p:cNvSpPr txBox="1"/>
          <p:nvPr/>
        </p:nvSpPr>
        <p:spPr>
          <a:xfrm>
            <a:off x="4860000" y="1368000"/>
            <a:ext cx="2628000" cy="327600"/>
          </a:xfrm>
          <a:prstGeom prst="rect">
            <a:avLst/>
          </a:prstGeom>
          <a:noFill/>
          <a:ln w="0">
            <a:noFill/>
          </a:ln>
        </p:spPr>
        <p:txBody>
          <a:bodyPr lIns="43200" rIns="43200" tIns="43200" bIns="43200" anchor="t">
            <a:noAutofit/>
          </a:bodyPr>
          <a:p>
            <a:r>
              <a:rPr b="1" lang="en-US" sz="1900" spc="-1" strike="noStrike">
                <a:solidFill>
                  <a:srgbClr val="102b3f"/>
                </a:solidFill>
                <a:latin typeface="Lato"/>
              </a:rPr>
              <a:t>Baselines</a:t>
            </a:r>
            <a:endParaRPr b="1" lang="en-US" sz="1900" spc="-1" strike="noStrike">
              <a:solidFill>
                <a:srgbClr val="102b3f"/>
              </a:solidFill>
              <a:latin typeface="Lato"/>
            </a:endParaRPr>
          </a:p>
        </p:txBody>
      </p:sp>
      <p:sp>
        <p:nvSpPr>
          <p:cNvPr id="462" name=""/>
          <p:cNvSpPr txBox="1"/>
          <p:nvPr/>
        </p:nvSpPr>
        <p:spPr>
          <a:xfrm>
            <a:off x="4500000" y="1872000"/>
            <a:ext cx="3060000" cy="492120"/>
          </a:xfrm>
          <a:prstGeom prst="rect">
            <a:avLst/>
          </a:prstGeom>
          <a:noFill/>
          <a:ln w="0">
            <a:noFill/>
          </a:ln>
        </p:spPr>
        <p:txBody>
          <a:bodyPr lIns="43200" rIns="43200" tIns="43200" bIns="43200" anchor="t">
            <a:noAutofit/>
          </a:bodyPr>
          <a:p>
            <a:r>
              <a:rPr b="0" lang="en-US" sz="1600" spc="-1" strike="noStrike">
                <a:solidFill>
                  <a:srgbClr val="23313b"/>
                </a:solidFill>
                <a:latin typeface="Lato"/>
              </a:rPr>
              <a:t>Conventional planning and reinforcement learning</a:t>
            </a:r>
            <a:endParaRPr b="0" lang="en-US" sz="1600" spc="-1" strike="noStrike">
              <a:solidFill>
                <a:srgbClr val="23313b"/>
              </a:solidFill>
              <a:latin typeface="Lato"/>
            </a:endParaRPr>
          </a:p>
        </p:txBody>
      </p:sp>
      <p:sp>
        <p:nvSpPr>
          <p:cNvPr id="463" name=""/>
          <p:cNvSpPr/>
          <p:nvPr/>
        </p:nvSpPr>
        <p:spPr>
          <a:xfrm>
            <a:off x="8172000" y="1188000"/>
            <a:ext cx="3456000" cy="1656000"/>
          </a:xfrm>
          <a:prstGeom prst="roundRect">
            <a:avLst/>
          </a:prstGeom>
          <a:solidFill>
            <a:srgbClr val="ffffff"/>
          </a:solidFill>
          <a:ln w="12600">
            <a:solidFill>
              <a:srgbClr val="4f4593"/>
            </a:solidFill>
            <a:round/>
          </a:ln>
        </p:spPr>
      </p:sp>
      <p:sp>
        <p:nvSpPr>
          <p:cNvPr id="464" name=""/>
          <p:cNvSpPr/>
          <p:nvPr/>
        </p:nvSpPr>
        <p:spPr>
          <a:xfrm>
            <a:off x="8280000" y="1296000"/>
            <a:ext cx="324000" cy="324000"/>
          </a:xfrm>
          <a:prstGeom prst="roundRect">
            <a:avLst/>
          </a:prstGeom>
          <a:solidFill>
            <a:srgbClr val="4f4593"/>
          </a:solidFill>
          <a:ln w="12600">
            <a:solidFill>
              <a:srgbClr val="4f4593"/>
            </a:solidFill>
            <a:round/>
          </a:ln>
        </p:spPr>
        <p:txBody>
          <a:bodyPr lIns="64800" rIns="64800" tIns="43200" bIns="43200" anchor="b" anchorCtr="1">
            <a:noAutofit/>
          </a:bodyPr>
          <a:p>
            <a:pPr algn="ctr">
              <a:buNone/>
            </a:pPr>
            <a:r>
              <a:rPr b="1" lang="en-US" sz="1600" spc="-1" strike="noStrike">
                <a:solidFill>
                  <a:srgbClr val="ffffff"/>
                </a:solidFill>
                <a:latin typeface="Lato"/>
              </a:rPr>
              <a:t>3</a:t>
            </a:r>
            <a:endParaRPr b="1" lang="en-US" sz="1600" spc="-1" strike="noStrike">
              <a:solidFill>
                <a:srgbClr val="ffffff"/>
              </a:solidFill>
              <a:latin typeface="Lato"/>
            </a:endParaRPr>
          </a:p>
        </p:txBody>
      </p:sp>
      <p:sp>
        <p:nvSpPr>
          <p:cNvPr id="465" name=""/>
          <p:cNvSpPr txBox="1"/>
          <p:nvPr/>
        </p:nvSpPr>
        <p:spPr>
          <a:xfrm>
            <a:off x="8712000" y="1368000"/>
            <a:ext cx="2628000" cy="327600"/>
          </a:xfrm>
          <a:prstGeom prst="rect">
            <a:avLst/>
          </a:prstGeom>
          <a:noFill/>
          <a:ln w="0">
            <a:noFill/>
          </a:ln>
        </p:spPr>
        <p:txBody>
          <a:bodyPr lIns="43200" rIns="43200" tIns="43200" bIns="43200" anchor="t">
            <a:noAutofit/>
          </a:bodyPr>
          <a:p>
            <a:r>
              <a:rPr b="1" lang="en-US" sz="1900" spc="-1" strike="noStrike">
                <a:solidFill>
                  <a:srgbClr val="102b3f"/>
                </a:solidFill>
                <a:latin typeface="Lato"/>
              </a:rPr>
              <a:t>Prompt ablation</a:t>
            </a:r>
            <a:endParaRPr b="1" lang="en-US" sz="1900" spc="-1" strike="noStrike">
              <a:solidFill>
                <a:srgbClr val="102b3f"/>
              </a:solidFill>
              <a:latin typeface="Lato"/>
            </a:endParaRPr>
          </a:p>
        </p:txBody>
      </p:sp>
      <p:sp>
        <p:nvSpPr>
          <p:cNvPr id="466" name=""/>
          <p:cNvSpPr txBox="1"/>
          <p:nvPr/>
        </p:nvSpPr>
        <p:spPr>
          <a:xfrm>
            <a:off x="8352000" y="1872000"/>
            <a:ext cx="3060000" cy="492120"/>
          </a:xfrm>
          <a:prstGeom prst="rect">
            <a:avLst/>
          </a:prstGeom>
          <a:noFill/>
          <a:ln w="0">
            <a:noFill/>
          </a:ln>
        </p:spPr>
        <p:txBody>
          <a:bodyPr lIns="43200" rIns="43200" tIns="43200" bIns="43200" anchor="t">
            <a:noAutofit/>
          </a:bodyPr>
          <a:p>
            <a:r>
              <a:rPr b="0" lang="en-US" sz="1600" spc="-1" strike="noStrike">
                <a:solidFill>
                  <a:srgbClr val="23313b"/>
                </a:solidFill>
                <a:latin typeface="Lato"/>
              </a:rPr>
              <a:t>Separate input representation from output format</a:t>
            </a:r>
            <a:endParaRPr b="0" lang="en-US" sz="1600" spc="-1" strike="noStrike">
              <a:solidFill>
                <a:srgbClr val="23313b"/>
              </a:solidFill>
              <a:latin typeface="Lato"/>
            </a:endParaRPr>
          </a:p>
        </p:txBody>
      </p:sp>
      <p:sp>
        <p:nvSpPr>
          <p:cNvPr id="467" name=""/>
          <p:cNvSpPr/>
          <p:nvPr/>
        </p:nvSpPr>
        <p:spPr>
          <a:xfrm>
            <a:off x="468000" y="3204000"/>
            <a:ext cx="3456000" cy="1656000"/>
          </a:xfrm>
          <a:prstGeom prst="roundRect">
            <a:avLst/>
          </a:prstGeom>
          <a:solidFill>
            <a:srgbClr val="ffffff"/>
          </a:solidFill>
          <a:ln w="12600">
            <a:solidFill>
              <a:srgbClr val="f28c28"/>
            </a:solidFill>
            <a:round/>
          </a:ln>
        </p:spPr>
      </p:sp>
      <p:sp>
        <p:nvSpPr>
          <p:cNvPr id="468" name=""/>
          <p:cNvSpPr/>
          <p:nvPr/>
        </p:nvSpPr>
        <p:spPr>
          <a:xfrm>
            <a:off x="576000" y="3312000"/>
            <a:ext cx="324000" cy="324000"/>
          </a:xfrm>
          <a:prstGeom prst="roundRect">
            <a:avLst/>
          </a:prstGeom>
          <a:solidFill>
            <a:srgbClr val="f28c28"/>
          </a:solidFill>
          <a:ln w="12600">
            <a:solidFill>
              <a:srgbClr val="f28c28"/>
            </a:solidFill>
            <a:round/>
          </a:ln>
        </p:spPr>
        <p:txBody>
          <a:bodyPr lIns="64800" rIns="64800" tIns="43200" bIns="43200" anchor="b" anchorCtr="1">
            <a:noAutofit/>
          </a:bodyPr>
          <a:p>
            <a:pPr algn="ctr">
              <a:buNone/>
            </a:pPr>
            <a:r>
              <a:rPr b="1" lang="en-US" sz="1600" spc="-1" strike="noStrike">
                <a:solidFill>
                  <a:srgbClr val="ffffff"/>
                </a:solidFill>
                <a:latin typeface="Lato"/>
              </a:rPr>
              <a:t>4</a:t>
            </a:r>
            <a:endParaRPr b="1" lang="en-US" sz="1600" spc="-1" strike="noStrike">
              <a:solidFill>
                <a:srgbClr val="ffffff"/>
              </a:solidFill>
              <a:latin typeface="Lato"/>
            </a:endParaRPr>
          </a:p>
        </p:txBody>
      </p:sp>
      <p:sp>
        <p:nvSpPr>
          <p:cNvPr id="469" name=""/>
          <p:cNvSpPr txBox="1"/>
          <p:nvPr/>
        </p:nvSpPr>
        <p:spPr>
          <a:xfrm>
            <a:off x="1008000" y="3384000"/>
            <a:ext cx="2628000" cy="327600"/>
          </a:xfrm>
          <a:prstGeom prst="rect">
            <a:avLst/>
          </a:prstGeom>
          <a:noFill/>
          <a:ln w="0">
            <a:noFill/>
          </a:ln>
        </p:spPr>
        <p:txBody>
          <a:bodyPr lIns="43200" rIns="43200" tIns="43200" bIns="43200" anchor="t">
            <a:noAutofit/>
          </a:bodyPr>
          <a:p>
            <a:r>
              <a:rPr b="1" lang="en-US" sz="1900" spc="-1" strike="noStrike">
                <a:solidFill>
                  <a:srgbClr val="102b3f"/>
                </a:solidFill>
                <a:latin typeface="Lato"/>
              </a:rPr>
              <a:t>Communication</a:t>
            </a:r>
            <a:endParaRPr b="1" lang="en-US" sz="1900" spc="-1" strike="noStrike">
              <a:solidFill>
                <a:srgbClr val="102b3f"/>
              </a:solidFill>
              <a:latin typeface="Lato"/>
            </a:endParaRPr>
          </a:p>
        </p:txBody>
      </p:sp>
      <p:sp>
        <p:nvSpPr>
          <p:cNvPr id="470" name=""/>
          <p:cNvSpPr txBox="1"/>
          <p:nvPr/>
        </p:nvSpPr>
        <p:spPr>
          <a:xfrm>
            <a:off x="648000" y="3888000"/>
            <a:ext cx="3060000" cy="492120"/>
          </a:xfrm>
          <a:prstGeom prst="rect">
            <a:avLst/>
          </a:prstGeom>
          <a:noFill/>
          <a:ln w="0">
            <a:noFill/>
          </a:ln>
        </p:spPr>
        <p:txBody>
          <a:bodyPr lIns="43200" rIns="43200" tIns="43200" bIns="43200" anchor="t">
            <a:noAutofit/>
          </a:bodyPr>
          <a:p>
            <a:r>
              <a:rPr b="0" lang="en-US" sz="1600" spc="-1" strike="noStrike">
                <a:solidFill>
                  <a:srgbClr val="23313b"/>
                </a:solidFill>
                <a:latin typeface="Lato"/>
              </a:rPr>
              <a:t>What, when, and with whom agents should communicate</a:t>
            </a:r>
            <a:endParaRPr b="0" lang="en-US" sz="1600" spc="-1" strike="noStrike">
              <a:solidFill>
                <a:srgbClr val="23313b"/>
              </a:solidFill>
              <a:latin typeface="Lato"/>
            </a:endParaRPr>
          </a:p>
        </p:txBody>
      </p:sp>
      <p:sp>
        <p:nvSpPr>
          <p:cNvPr id="471" name=""/>
          <p:cNvSpPr/>
          <p:nvPr/>
        </p:nvSpPr>
        <p:spPr>
          <a:xfrm>
            <a:off x="4320000" y="3204000"/>
            <a:ext cx="3456000" cy="1656000"/>
          </a:xfrm>
          <a:prstGeom prst="roundRect">
            <a:avLst/>
          </a:prstGeom>
          <a:solidFill>
            <a:srgbClr val="ffffff"/>
          </a:solidFill>
          <a:ln w="12600">
            <a:solidFill>
              <a:srgbClr val="1f7188"/>
            </a:solidFill>
            <a:round/>
          </a:ln>
        </p:spPr>
      </p:sp>
      <p:sp>
        <p:nvSpPr>
          <p:cNvPr id="472" name=""/>
          <p:cNvSpPr/>
          <p:nvPr/>
        </p:nvSpPr>
        <p:spPr>
          <a:xfrm>
            <a:off x="4428000" y="3312000"/>
            <a:ext cx="324000" cy="324000"/>
          </a:xfrm>
          <a:prstGeom prst="roundRect">
            <a:avLst/>
          </a:prstGeom>
          <a:solidFill>
            <a:srgbClr val="1f7188"/>
          </a:solidFill>
          <a:ln w="12600">
            <a:solidFill>
              <a:srgbClr val="1f7188"/>
            </a:solidFill>
            <a:round/>
          </a:ln>
        </p:spPr>
        <p:txBody>
          <a:bodyPr lIns="64800" rIns="64800" tIns="43200" bIns="43200" anchor="b" anchorCtr="1">
            <a:noAutofit/>
          </a:bodyPr>
          <a:p>
            <a:pPr algn="ctr">
              <a:buNone/>
            </a:pPr>
            <a:r>
              <a:rPr b="1" lang="en-US" sz="1600" spc="-1" strike="noStrike">
                <a:solidFill>
                  <a:srgbClr val="ffffff"/>
                </a:solidFill>
                <a:latin typeface="Lato"/>
              </a:rPr>
              <a:t>5</a:t>
            </a:r>
            <a:endParaRPr b="1" lang="en-US" sz="1600" spc="-1" strike="noStrike">
              <a:solidFill>
                <a:srgbClr val="ffffff"/>
              </a:solidFill>
              <a:latin typeface="Lato"/>
            </a:endParaRPr>
          </a:p>
        </p:txBody>
      </p:sp>
      <p:sp>
        <p:nvSpPr>
          <p:cNvPr id="473" name=""/>
          <p:cNvSpPr txBox="1"/>
          <p:nvPr/>
        </p:nvSpPr>
        <p:spPr>
          <a:xfrm>
            <a:off x="4860000" y="3384000"/>
            <a:ext cx="2628000" cy="327600"/>
          </a:xfrm>
          <a:prstGeom prst="rect">
            <a:avLst/>
          </a:prstGeom>
          <a:noFill/>
          <a:ln w="0">
            <a:noFill/>
          </a:ln>
        </p:spPr>
        <p:txBody>
          <a:bodyPr lIns="43200" rIns="43200" tIns="43200" bIns="43200" anchor="t">
            <a:noAutofit/>
          </a:bodyPr>
          <a:p>
            <a:r>
              <a:rPr b="1" lang="en-US" sz="1900" spc="-1" strike="noStrike">
                <a:solidFill>
                  <a:srgbClr val="102b3f"/>
                </a:solidFill>
                <a:latin typeface="Lato"/>
              </a:rPr>
              <a:t>Tools and retrieval</a:t>
            </a:r>
            <a:endParaRPr b="1" lang="en-US" sz="1900" spc="-1" strike="noStrike">
              <a:solidFill>
                <a:srgbClr val="102b3f"/>
              </a:solidFill>
              <a:latin typeface="Lato"/>
            </a:endParaRPr>
          </a:p>
        </p:txBody>
      </p:sp>
      <p:sp>
        <p:nvSpPr>
          <p:cNvPr id="474" name=""/>
          <p:cNvSpPr txBox="1"/>
          <p:nvPr/>
        </p:nvSpPr>
        <p:spPr>
          <a:xfrm>
            <a:off x="4500000" y="3888000"/>
            <a:ext cx="3060000" cy="492120"/>
          </a:xfrm>
          <a:prstGeom prst="rect">
            <a:avLst/>
          </a:prstGeom>
          <a:noFill/>
          <a:ln w="0">
            <a:noFill/>
          </a:ln>
        </p:spPr>
        <p:txBody>
          <a:bodyPr lIns="43200" rIns="43200" tIns="43200" bIns="43200" anchor="t">
            <a:noAutofit/>
          </a:bodyPr>
          <a:p>
            <a:r>
              <a:rPr b="0" lang="en-US" sz="1600" spc="-1" strike="noStrike">
                <a:solidFill>
                  <a:srgbClr val="23313b"/>
                </a:solidFill>
                <a:latin typeface="Lato"/>
              </a:rPr>
              <a:t>Provide external information only when needed</a:t>
            </a:r>
            <a:endParaRPr b="0" lang="en-US" sz="1600" spc="-1" strike="noStrike">
              <a:solidFill>
                <a:srgbClr val="23313b"/>
              </a:solidFill>
              <a:latin typeface="Lato"/>
            </a:endParaRPr>
          </a:p>
        </p:txBody>
      </p:sp>
      <p:sp>
        <p:nvSpPr>
          <p:cNvPr id="475" name=""/>
          <p:cNvSpPr/>
          <p:nvPr/>
        </p:nvSpPr>
        <p:spPr>
          <a:xfrm>
            <a:off x="8172000" y="3204000"/>
            <a:ext cx="3456000" cy="1656000"/>
          </a:xfrm>
          <a:prstGeom prst="roundRect">
            <a:avLst/>
          </a:prstGeom>
          <a:solidFill>
            <a:srgbClr val="ffffff"/>
          </a:solidFill>
          <a:ln w="12600">
            <a:solidFill>
              <a:srgbClr val="1f8a70"/>
            </a:solidFill>
            <a:round/>
          </a:ln>
        </p:spPr>
      </p:sp>
      <p:sp>
        <p:nvSpPr>
          <p:cNvPr id="476" name=""/>
          <p:cNvSpPr/>
          <p:nvPr/>
        </p:nvSpPr>
        <p:spPr>
          <a:xfrm>
            <a:off x="8280000" y="3312000"/>
            <a:ext cx="324000" cy="324000"/>
          </a:xfrm>
          <a:prstGeom prst="roundRect">
            <a:avLst/>
          </a:prstGeom>
          <a:solidFill>
            <a:srgbClr val="1f8a70"/>
          </a:solidFill>
          <a:ln w="12600">
            <a:solidFill>
              <a:srgbClr val="1f8a70"/>
            </a:solidFill>
            <a:round/>
          </a:ln>
        </p:spPr>
        <p:txBody>
          <a:bodyPr lIns="64800" rIns="64800" tIns="43200" bIns="43200" anchor="b" anchorCtr="1">
            <a:noAutofit/>
          </a:bodyPr>
          <a:p>
            <a:pPr algn="ctr">
              <a:buNone/>
            </a:pPr>
            <a:r>
              <a:rPr b="1" lang="en-US" sz="1600" spc="-1" strike="noStrike">
                <a:solidFill>
                  <a:srgbClr val="ffffff"/>
                </a:solidFill>
                <a:latin typeface="Lato"/>
              </a:rPr>
              <a:t>6</a:t>
            </a:r>
            <a:endParaRPr b="1" lang="en-US" sz="1600" spc="-1" strike="noStrike">
              <a:solidFill>
                <a:srgbClr val="ffffff"/>
              </a:solidFill>
              <a:latin typeface="Lato"/>
            </a:endParaRPr>
          </a:p>
        </p:txBody>
      </p:sp>
      <p:sp>
        <p:nvSpPr>
          <p:cNvPr id="477" name=""/>
          <p:cNvSpPr txBox="1"/>
          <p:nvPr/>
        </p:nvSpPr>
        <p:spPr>
          <a:xfrm>
            <a:off x="8712000" y="3384000"/>
            <a:ext cx="2628000" cy="327600"/>
          </a:xfrm>
          <a:prstGeom prst="rect">
            <a:avLst/>
          </a:prstGeom>
          <a:noFill/>
          <a:ln w="0">
            <a:noFill/>
          </a:ln>
        </p:spPr>
        <p:txBody>
          <a:bodyPr lIns="43200" rIns="43200" tIns="43200" bIns="43200" anchor="t">
            <a:noAutofit/>
          </a:bodyPr>
          <a:p>
            <a:r>
              <a:rPr b="1" lang="en-US" sz="1900" spc="-1" strike="noStrike">
                <a:solidFill>
                  <a:srgbClr val="102b3f"/>
                </a:solidFill>
                <a:latin typeface="Lato"/>
              </a:rPr>
              <a:t>Physical validation</a:t>
            </a:r>
            <a:endParaRPr b="1" lang="en-US" sz="1900" spc="-1" strike="noStrike">
              <a:solidFill>
                <a:srgbClr val="102b3f"/>
              </a:solidFill>
              <a:latin typeface="Lato"/>
            </a:endParaRPr>
          </a:p>
        </p:txBody>
      </p:sp>
      <p:sp>
        <p:nvSpPr>
          <p:cNvPr id="478" name=""/>
          <p:cNvSpPr txBox="1"/>
          <p:nvPr/>
        </p:nvSpPr>
        <p:spPr>
          <a:xfrm>
            <a:off x="8352000" y="3888000"/>
            <a:ext cx="3060000" cy="492120"/>
          </a:xfrm>
          <a:prstGeom prst="rect">
            <a:avLst/>
          </a:prstGeom>
          <a:noFill/>
          <a:ln w="0">
            <a:noFill/>
          </a:ln>
        </p:spPr>
        <p:txBody>
          <a:bodyPr lIns="43200" rIns="43200" tIns="43200" bIns="43200" anchor="t">
            <a:noAutofit/>
          </a:bodyPr>
          <a:p>
            <a:r>
              <a:rPr b="0" lang="en-US" sz="1600" spc="-1" strike="noStrike">
                <a:solidFill>
                  <a:srgbClr val="23313b"/>
                </a:solidFill>
                <a:latin typeface="Lato"/>
              </a:rPr>
              <a:t>Sensor uncertainty, latency, and hardware constraints</a:t>
            </a:r>
            <a:endParaRPr b="0" lang="en-US" sz="1600" spc="-1" strike="noStrike">
              <a:solidFill>
                <a:srgbClr val="23313b"/>
              </a:solidFill>
              <a:latin typeface="Lato"/>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9" name=""/>
          <p:cNvSpPr txBox="1"/>
          <p:nvPr/>
        </p:nvSpPr>
        <p:spPr>
          <a:xfrm>
            <a:off x="540000" y="252000"/>
            <a:ext cx="10800000" cy="464400"/>
          </a:xfrm>
          <a:prstGeom prst="rect">
            <a:avLst/>
          </a:prstGeom>
          <a:noFill/>
          <a:ln w="0">
            <a:noFill/>
          </a:ln>
        </p:spPr>
        <p:txBody>
          <a:bodyPr lIns="43200" rIns="43200" tIns="43200" bIns="43200" anchor="t">
            <a:noAutofit/>
          </a:bodyPr>
          <a:p>
            <a:r>
              <a:rPr b="1" lang="en-US" sz="2900" spc="-1" strike="noStrike">
                <a:solidFill>
                  <a:srgbClr val="102b3f"/>
                </a:solidFill>
                <a:latin typeface="Lato"/>
              </a:rPr>
              <a:t>Conclusions</a:t>
            </a:r>
            <a:endParaRPr b="1" lang="en-US" sz="2900" spc="-1" strike="noStrike">
              <a:solidFill>
                <a:srgbClr val="102b3f"/>
              </a:solidFill>
              <a:latin typeface="Lato"/>
            </a:endParaRPr>
          </a:p>
        </p:txBody>
      </p:sp>
      <p:sp>
        <p:nvSpPr>
          <p:cNvPr id="480" name=""/>
          <p:cNvSpPr/>
          <p:nvPr/>
        </p:nvSpPr>
        <p:spPr>
          <a:xfrm>
            <a:off x="540000" y="6354000"/>
            <a:ext cx="11088000" cy="7200"/>
          </a:xfrm>
          <a:prstGeom prst="rect">
            <a:avLst/>
          </a:prstGeom>
          <a:solidFill>
            <a:srgbClr val="1f7188"/>
          </a:solidFill>
          <a:ln w="0">
            <a:noFill/>
          </a:ln>
        </p:spPr>
      </p:sp>
      <p:sp>
        <p:nvSpPr>
          <p:cNvPr id="481" name=""/>
          <p:cNvSpPr txBox="1"/>
          <p:nvPr/>
        </p:nvSpPr>
        <p:spPr>
          <a:xfrm>
            <a:off x="540000" y="6415200"/>
            <a:ext cx="7200000" cy="201240"/>
          </a:xfrm>
          <a:prstGeom prst="rect">
            <a:avLst/>
          </a:prstGeom>
          <a:noFill/>
          <a:ln w="0">
            <a:noFill/>
          </a:ln>
        </p:spPr>
        <p:txBody>
          <a:bodyPr lIns="43200" rIns="43200" tIns="43200" bIns="43200" anchor="t">
            <a:noAutofit/>
          </a:bodyPr>
          <a:p>
            <a:r>
              <a:rPr b="0" lang="en-US" sz="900" spc="-1" strike="noStrike">
                <a:solidFill>
                  <a:srgbClr val="5d6b75"/>
                </a:solidFill>
                <a:latin typeface="Lato"/>
              </a:rPr>
              <a:t>Master’s thesis · Uppsala University</a:t>
            </a:r>
            <a:endParaRPr b="0" lang="en-US" sz="900" spc="-1" strike="noStrike">
              <a:solidFill>
                <a:srgbClr val="5d6b75"/>
              </a:solidFill>
              <a:latin typeface="Lato"/>
            </a:endParaRPr>
          </a:p>
        </p:txBody>
      </p:sp>
      <p:sp>
        <p:nvSpPr>
          <p:cNvPr id="482" name=""/>
          <p:cNvSpPr txBox="1"/>
          <p:nvPr/>
        </p:nvSpPr>
        <p:spPr>
          <a:xfrm>
            <a:off x="9612000" y="6415200"/>
            <a:ext cx="2016000" cy="189000"/>
          </a:xfrm>
          <a:prstGeom prst="rect">
            <a:avLst/>
          </a:prstGeom>
          <a:noFill/>
          <a:ln w="0">
            <a:noFill/>
          </a:ln>
        </p:spPr>
        <p:txBody>
          <a:bodyPr lIns="43200" rIns="43200" tIns="43200" bIns="43200" anchor="t">
            <a:noAutofit/>
          </a:bodyPr>
          <a:p>
            <a:pPr algn="r">
              <a:buNone/>
            </a:pPr>
            <a:r>
              <a:rPr b="1" lang="en-US" sz="800" spc="-1" strike="noStrike">
                <a:solidFill>
                  <a:srgbClr val="1f7188"/>
                </a:solidFill>
                <a:latin typeface="Lato"/>
              </a:rPr>
              <a:t>CONCLUSION</a:t>
            </a:r>
            <a:endParaRPr b="1" lang="en-US" sz="800" spc="-1" strike="noStrike">
              <a:solidFill>
                <a:srgbClr val="1f7188"/>
              </a:solidFill>
              <a:latin typeface="Lato"/>
            </a:endParaRPr>
          </a:p>
        </p:txBody>
      </p:sp>
      <p:sp>
        <p:nvSpPr>
          <p:cNvPr id="483" name=""/>
          <p:cNvSpPr/>
          <p:nvPr/>
        </p:nvSpPr>
        <p:spPr>
          <a:xfrm>
            <a:off x="720000" y="1152000"/>
            <a:ext cx="10728000" cy="828000"/>
          </a:xfrm>
          <a:prstGeom prst="roundRect">
            <a:avLst/>
          </a:prstGeom>
          <a:solidFill>
            <a:srgbClr val="102b3f"/>
          </a:solidFill>
          <a:ln w="12600">
            <a:solidFill>
              <a:srgbClr val="102b3f"/>
            </a:solidFill>
            <a:round/>
          </a:ln>
        </p:spPr>
        <p:txBody>
          <a:bodyPr lIns="64800" rIns="64800" tIns="43200" bIns="43200" anchor="b" anchorCtr="1">
            <a:noAutofit/>
          </a:bodyPr>
          <a:p>
            <a:pPr algn="ctr">
              <a:buNone/>
            </a:pPr>
            <a:r>
              <a:rPr b="1" lang="en-US" sz="2700" spc="-1" strike="noStrike">
                <a:solidFill>
                  <a:srgbClr val="ffffff"/>
                </a:solidFill>
                <a:latin typeface="Lato"/>
              </a:rPr>
              <a:t>Prompted LLMs can support collaborative high-level decisions—</a:t>
            </a:r>
            <a:endParaRPr b="1" lang="en-US" sz="2700" spc="-1" strike="noStrike">
              <a:solidFill>
                <a:srgbClr val="ffffff"/>
              </a:solidFill>
              <a:latin typeface="Lato"/>
            </a:endParaRPr>
          </a:p>
          <a:p>
            <a:pPr algn="ctr">
              <a:buNone/>
            </a:pPr>
            <a:r>
              <a:rPr b="1" lang="en-US" sz="2700" spc="-1" strike="noStrike">
                <a:solidFill>
                  <a:srgbClr val="ffffff"/>
                </a:solidFill>
                <a:latin typeface="Lato"/>
              </a:rPr>
              <a:t>within a carefully designed supervisory system.</a:t>
            </a:r>
            <a:endParaRPr b="1" lang="en-US" sz="2700" spc="-1" strike="noStrike">
              <a:solidFill>
                <a:srgbClr val="ffffff"/>
              </a:solidFill>
              <a:latin typeface="Lato"/>
            </a:endParaRPr>
          </a:p>
        </p:txBody>
      </p:sp>
      <p:sp>
        <p:nvSpPr>
          <p:cNvPr id="484" name=""/>
          <p:cNvSpPr/>
          <p:nvPr/>
        </p:nvSpPr>
        <p:spPr>
          <a:xfrm>
            <a:off x="828000" y="2520000"/>
            <a:ext cx="5004000" cy="1008000"/>
          </a:xfrm>
          <a:prstGeom prst="roundRect">
            <a:avLst/>
          </a:prstGeom>
          <a:solidFill>
            <a:srgbClr val="ffffff"/>
          </a:solidFill>
          <a:ln w="12600">
            <a:solidFill>
              <a:srgbClr val="3e78b2"/>
            </a:solidFill>
            <a:round/>
          </a:ln>
        </p:spPr>
      </p:sp>
      <p:sp>
        <p:nvSpPr>
          <p:cNvPr id="485" name=""/>
          <p:cNvSpPr txBox="1"/>
          <p:nvPr/>
        </p:nvSpPr>
        <p:spPr>
          <a:xfrm>
            <a:off x="1008000" y="2646000"/>
            <a:ext cx="4644000" cy="240840"/>
          </a:xfrm>
          <a:prstGeom prst="rect">
            <a:avLst/>
          </a:prstGeom>
          <a:noFill/>
          <a:ln w="0">
            <a:noFill/>
          </a:ln>
        </p:spPr>
        <p:txBody>
          <a:bodyPr lIns="43200" rIns="43200" tIns="43200" bIns="43200" anchor="t">
            <a:noAutofit/>
          </a:bodyPr>
          <a:p>
            <a:r>
              <a:rPr b="1" lang="en-US" sz="1200" spc="-1" strike="noStrike">
                <a:solidFill>
                  <a:srgbClr val="3e78b2"/>
                </a:solidFill>
                <a:latin typeface="Lato"/>
              </a:rPr>
              <a:t>MODEL</a:t>
            </a:r>
            <a:endParaRPr b="1" lang="en-US" sz="1200" spc="-1" strike="noStrike">
              <a:solidFill>
                <a:srgbClr val="3e78b2"/>
              </a:solidFill>
              <a:latin typeface="Lato"/>
            </a:endParaRPr>
          </a:p>
        </p:txBody>
      </p:sp>
      <p:sp>
        <p:nvSpPr>
          <p:cNvPr id="486" name=""/>
          <p:cNvSpPr txBox="1"/>
          <p:nvPr/>
        </p:nvSpPr>
        <p:spPr>
          <a:xfrm>
            <a:off x="1008000" y="2970000"/>
            <a:ext cx="4644000" cy="320400"/>
          </a:xfrm>
          <a:prstGeom prst="rect">
            <a:avLst/>
          </a:prstGeom>
          <a:noFill/>
          <a:ln w="0">
            <a:noFill/>
          </a:ln>
        </p:spPr>
        <p:txBody>
          <a:bodyPr lIns="43200" rIns="43200" tIns="43200" bIns="43200" anchor="t">
            <a:noAutofit/>
          </a:bodyPr>
          <a:p>
            <a:r>
              <a:rPr b="1" lang="en-US" sz="1700" spc="-1" strike="noStrike">
                <a:solidFill>
                  <a:srgbClr val="102b3f"/>
                </a:solidFill>
                <a:latin typeface="Lato"/>
              </a:rPr>
              <a:t>Nominal size alone did not predict performance</a:t>
            </a:r>
            <a:endParaRPr b="1" lang="en-US" sz="1700" spc="-1" strike="noStrike">
              <a:solidFill>
                <a:srgbClr val="102b3f"/>
              </a:solidFill>
              <a:latin typeface="Lato"/>
            </a:endParaRPr>
          </a:p>
        </p:txBody>
      </p:sp>
      <p:sp>
        <p:nvSpPr>
          <p:cNvPr id="487" name=""/>
          <p:cNvSpPr/>
          <p:nvPr/>
        </p:nvSpPr>
        <p:spPr>
          <a:xfrm>
            <a:off x="6264000" y="2520000"/>
            <a:ext cx="5004000" cy="1008000"/>
          </a:xfrm>
          <a:prstGeom prst="roundRect">
            <a:avLst/>
          </a:prstGeom>
          <a:solidFill>
            <a:srgbClr val="ffffff"/>
          </a:solidFill>
          <a:ln w="12600">
            <a:solidFill>
              <a:srgbClr val="f28c28"/>
            </a:solidFill>
            <a:round/>
          </a:ln>
        </p:spPr>
      </p:sp>
      <p:sp>
        <p:nvSpPr>
          <p:cNvPr id="488" name=""/>
          <p:cNvSpPr txBox="1"/>
          <p:nvPr/>
        </p:nvSpPr>
        <p:spPr>
          <a:xfrm>
            <a:off x="6444000" y="2646000"/>
            <a:ext cx="4644000" cy="240840"/>
          </a:xfrm>
          <a:prstGeom prst="rect">
            <a:avLst/>
          </a:prstGeom>
          <a:noFill/>
          <a:ln w="0">
            <a:noFill/>
          </a:ln>
        </p:spPr>
        <p:txBody>
          <a:bodyPr lIns="43200" rIns="43200" tIns="43200" bIns="43200" anchor="t">
            <a:noAutofit/>
          </a:bodyPr>
          <a:p>
            <a:r>
              <a:rPr b="1" lang="en-US" sz="1200" spc="-1" strike="noStrike">
                <a:solidFill>
                  <a:srgbClr val="f28c28"/>
                </a:solidFill>
                <a:latin typeface="Lato"/>
              </a:rPr>
              <a:t>ARCHITECTURE</a:t>
            </a:r>
            <a:endParaRPr b="1" lang="en-US" sz="1200" spc="-1" strike="noStrike">
              <a:solidFill>
                <a:srgbClr val="f28c28"/>
              </a:solidFill>
              <a:latin typeface="Lato"/>
            </a:endParaRPr>
          </a:p>
        </p:txBody>
      </p:sp>
      <p:sp>
        <p:nvSpPr>
          <p:cNvPr id="489" name=""/>
          <p:cNvSpPr txBox="1"/>
          <p:nvPr/>
        </p:nvSpPr>
        <p:spPr>
          <a:xfrm>
            <a:off x="6444000" y="2970000"/>
            <a:ext cx="4644000" cy="520200"/>
          </a:xfrm>
          <a:prstGeom prst="rect">
            <a:avLst/>
          </a:prstGeom>
          <a:noFill/>
          <a:ln w="0">
            <a:noFill/>
          </a:ln>
        </p:spPr>
        <p:txBody>
          <a:bodyPr lIns="43200" rIns="43200" tIns="43200" bIns="43200" anchor="t">
            <a:noAutofit/>
          </a:bodyPr>
          <a:p>
            <a:r>
              <a:rPr b="1" lang="en-US" sz="1700" spc="-1" strike="noStrike">
                <a:solidFill>
                  <a:srgbClr val="102b3f"/>
                </a:solidFill>
                <a:latin typeface="Lato"/>
              </a:rPr>
              <a:t>Shared context raised deliveries; centralized used fewer calls</a:t>
            </a:r>
            <a:endParaRPr b="1" lang="en-US" sz="1700" spc="-1" strike="noStrike">
              <a:solidFill>
                <a:srgbClr val="102b3f"/>
              </a:solidFill>
              <a:latin typeface="Lato"/>
            </a:endParaRPr>
          </a:p>
        </p:txBody>
      </p:sp>
      <p:sp>
        <p:nvSpPr>
          <p:cNvPr id="490" name=""/>
          <p:cNvSpPr/>
          <p:nvPr/>
        </p:nvSpPr>
        <p:spPr>
          <a:xfrm>
            <a:off x="828000" y="3816000"/>
            <a:ext cx="5004000" cy="1008000"/>
          </a:xfrm>
          <a:prstGeom prst="roundRect">
            <a:avLst/>
          </a:prstGeom>
          <a:solidFill>
            <a:srgbClr val="ffffff"/>
          </a:solidFill>
          <a:ln w="12600">
            <a:solidFill>
              <a:srgbClr val="1f8a70"/>
            </a:solidFill>
            <a:round/>
          </a:ln>
        </p:spPr>
      </p:sp>
      <p:sp>
        <p:nvSpPr>
          <p:cNvPr id="491" name=""/>
          <p:cNvSpPr txBox="1"/>
          <p:nvPr/>
        </p:nvSpPr>
        <p:spPr>
          <a:xfrm>
            <a:off x="1008000" y="3942000"/>
            <a:ext cx="4644000" cy="240840"/>
          </a:xfrm>
          <a:prstGeom prst="rect">
            <a:avLst/>
          </a:prstGeom>
          <a:noFill/>
          <a:ln w="0">
            <a:noFill/>
          </a:ln>
        </p:spPr>
        <p:txBody>
          <a:bodyPr lIns="43200" rIns="43200" tIns="43200" bIns="43200" anchor="t">
            <a:noAutofit/>
          </a:bodyPr>
          <a:p>
            <a:r>
              <a:rPr b="1" lang="en-US" sz="1200" spc="-1" strike="noStrike">
                <a:solidFill>
                  <a:srgbClr val="1f8a70"/>
                </a:solidFill>
                <a:latin typeface="Lato"/>
              </a:rPr>
              <a:t>PROMPT</a:t>
            </a:r>
            <a:endParaRPr b="1" lang="en-US" sz="1200" spc="-1" strike="noStrike">
              <a:solidFill>
                <a:srgbClr val="1f8a70"/>
              </a:solidFill>
              <a:latin typeface="Lato"/>
            </a:endParaRPr>
          </a:p>
        </p:txBody>
      </p:sp>
      <p:sp>
        <p:nvSpPr>
          <p:cNvPr id="492" name=""/>
          <p:cNvSpPr txBox="1"/>
          <p:nvPr/>
        </p:nvSpPr>
        <p:spPr>
          <a:xfrm>
            <a:off x="1008000" y="4266000"/>
            <a:ext cx="4644000" cy="520200"/>
          </a:xfrm>
          <a:prstGeom prst="rect">
            <a:avLst/>
          </a:prstGeom>
          <a:noFill/>
          <a:ln w="0">
            <a:noFill/>
          </a:ln>
        </p:spPr>
        <p:txBody>
          <a:bodyPr lIns="43200" rIns="43200" tIns="43200" bIns="43200" anchor="t">
            <a:noAutofit/>
          </a:bodyPr>
          <a:p>
            <a:r>
              <a:rPr b="1" lang="en-US" sz="1700" spc="-1" strike="noStrike">
                <a:solidFill>
                  <a:srgbClr val="102b3f"/>
                </a:solidFill>
                <a:latin typeface="Lato"/>
              </a:rPr>
              <a:t>Natural language led overall; the effect remained model-dependent</a:t>
            </a:r>
            <a:endParaRPr b="1" lang="en-US" sz="1700" spc="-1" strike="noStrike">
              <a:solidFill>
                <a:srgbClr val="102b3f"/>
              </a:solidFill>
              <a:latin typeface="Lato"/>
            </a:endParaRPr>
          </a:p>
        </p:txBody>
      </p:sp>
      <p:sp>
        <p:nvSpPr>
          <p:cNvPr id="493" name=""/>
          <p:cNvSpPr/>
          <p:nvPr/>
        </p:nvSpPr>
        <p:spPr>
          <a:xfrm>
            <a:off x="6264000" y="3816000"/>
            <a:ext cx="5004000" cy="1008000"/>
          </a:xfrm>
          <a:prstGeom prst="roundRect">
            <a:avLst/>
          </a:prstGeom>
          <a:solidFill>
            <a:srgbClr val="ffffff"/>
          </a:solidFill>
          <a:ln w="12600">
            <a:solidFill>
              <a:srgbClr val="d9534f"/>
            </a:solidFill>
            <a:round/>
          </a:ln>
        </p:spPr>
      </p:sp>
      <p:sp>
        <p:nvSpPr>
          <p:cNvPr id="494" name=""/>
          <p:cNvSpPr txBox="1"/>
          <p:nvPr/>
        </p:nvSpPr>
        <p:spPr>
          <a:xfrm>
            <a:off x="6444000" y="3942000"/>
            <a:ext cx="4644000" cy="240840"/>
          </a:xfrm>
          <a:prstGeom prst="rect">
            <a:avLst/>
          </a:prstGeom>
          <a:noFill/>
          <a:ln w="0">
            <a:noFill/>
          </a:ln>
        </p:spPr>
        <p:txBody>
          <a:bodyPr lIns="43200" rIns="43200" tIns="43200" bIns="43200" anchor="t">
            <a:noAutofit/>
          </a:bodyPr>
          <a:p>
            <a:r>
              <a:rPr b="1" lang="en-US" sz="1200" spc="-1" strike="noStrike">
                <a:solidFill>
                  <a:srgbClr val="d9534f"/>
                </a:solidFill>
                <a:latin typeface="Lato"/>
              </a:rPr>
              <a:t>CLAIM</a:t>
            </a:r>
            <a:endParaRPr b="1" lang="en-US" sz="1200" spc="-1" strike="noStrike">
              <a:solidFill>
                <a:srgbClr val="d9534f"/>
              </a:solidFill>
              <a:latin typeface="Lato"/>
            </a:endParaRPr>
          </a:p>
        </p:txBody>
      </p:sp>
      <p:sp>
        <p:nvSpPr>
          <p:cNvPr id="495" name=""/>
          <p:cNvSpPr txBox="1"/>
          <p:nvPr/>
        </p:nvSpPr>
        <p:spPr>
          <a:xfrm>
            <a:off x="6444000" y="4266000"/>
            <a:ext cx="4644000" cy="520200"/>
          </a:xfrm>
          <a:prstGeom prst="rect">
            <a:avLst/>
          </a:prstGeom>
          <a:noFill/>
          <a:ln w="0">
            <a:noFill/>
          </a:ln>
        </p:spPr>
        <p:txBody>
          <a:bodyPr lIns="43200" rIns="43200" tIns="43200" bIns="43200" anchor="t">
            <a:noAutofit/>
          </a:bodyPr>
          <a:p>
            <a:r>
              <a:rPr b="1" lang="en-US" sz="1700" spc="-1" strike="noStrike">
                <a:solidFill>
                  <a:srgbClr val="102b3f"/>
                </a:solidFill>
                <a:latin typeface="Lato"/>
              </a:rPr>
              <a:t>Feasibility demonstrated; reliability and superiority unresolved</a:t>
            </a:r>
            <a:endParaRPr b="1" lang="en-US" sz="1700" spc="-1" strike="noStrike">
              <a:solidFill>
                <a:srgbClr val="102b3f"/>
              </a:solidFill>
              <a:latin typeface="Lato"/>
            </a:endParaRPr>
          </a:p>
        </p:txBody>
      </p:sp>
      <p:sp>
        <p:nvSpPr>
          <p:cNvPr id="496" name=""/>
          <p:cNvSpPr txBox="1"/>
          <p:nvPr/>
        </p:nvSpPr>
        <p:spPr>
          <a:xfrm>
            <a:off x="3240000" y="5436000"/>
            <a:ext cx="5760000" cy="403920"/>
          </a:xfrm>
          <a:prstGeom prst="rect">
            <a:avLst/>
          </a:prstGeom>
          <a:noFill/>
          <a:ln w="0">
            <a:noFill/>
          </a:ln>
        </p:spPr>
        <p:txBody>
          <a:bodyPr lIns="43200" rIns="43200" tIns="43200" bIns="43200" anchor="t">
            <a:noAutofit/>
          </a:bodyPr>
          <a:p>
            <a:pPr algn="ctr">
              <a:buNone/>
            </a:pPr>
            <a:r>
              <a:rPr b="1" lang="en-US" sz="2500" spc="-1" strike="noStrike">
                <a:solidFill>
                  <a:srgbClr val="1f7188"/>
                </a:solidFill>
                <a:latin typeface="Lato"/>
              </a:rPr>
              <a:t>Thank you · Questions</a:t>
            </a:r>
            <a:endParaRPr b="1" lang="en-US" sz="2500" spc="-1" strike="noStrike">
              <a:solidFill>
                <a:srgbClr val="1f7188"/>
              </a:solidFill>
              <a:latin typeface="Lato"/>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LibreOffice/7.3.7.2$Linux_X86_64 LibreOffice_project/30$Build-2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
  <dcterms:modified xsi:type="dcterms:W3CDTF">2026-08-13T10:40:59Z</dcterms:modified>
  <cp:revision>1</cp:revision>
  <dc:subject/>
  <dc:title/>
</cp:coreProperties>
</file>